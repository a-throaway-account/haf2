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1"/>
  </p:notesMasterIdLst>
  <p:handoutMasterIdLst>
    <p:handoutMasterId r:id="rId102"/>
  </p:handoutMasterIdLst>
  <p:sldIdLst>
    <p:sldId id="256" r:id="rId3"/>
    <p:sldId id="295" r:id="rId4"/>
    <p:sldId id="479" r:id="rId5"/>
    <p:sldId id="480" r:id="rId6"/>
    <p:sldId id="481" r:id="rId7"/>
    <p:sldId id="482" r:id="rId8"/>
    <p:sldId id="508" r:id="rId9"/>
    <p:sldId id="483" r:id="rId10"/>
    <p:sldId id="484" r:id="rId11"/>
    <p:sldId id="485" r:id="rId12"/>
    <p:sldId id="486" r:id="rId13"/>
    <p:sldId id="488" r:id="rId14"/>
    <p:sldId id="489" r:id="rId15"/>
    <p:sldId id="490" r:id="rId16"/>
    <p:sldId id="491" r:id="rId17"/>
    <p:sldId id="492" r:id="rId18"/>
    <p:sldId id="494" r:id="rId19"/>
    <p:sldId id="495" r:id="rId20"/>
    <p:sldId id="496" r:id="rId21"/>
    <p:sldId id="497" r:id="rId22"/>
    <p:sldId id="498" r:id="rId23"/>
    <p:sldId id="499" r:id="rId24"/>
    <p:sldId id="500" r:id="rId25"/>
    <p:sldId id="501" r:id="rId26"/>
    <p:sldId id="502" r:id="rId27"/>
    <p:sldId id="503" r:id="rId28"/>
    <p:sldId id="504" r:id="rId29"/>
    <p:sldId id="505" r:id="rId30"/>
    <p:sldId id="354" r:id="rId31"/>
    <p:sldId id="447" r:id="rId32"/>
    <p:sldId id="562" r:id="rId33"/>
    <p:sldId id="563" r:id="rId34"/>
    <p:sldId id="564" r:id="rId35"/>
    <p:sldId id="560" r:id="rId36"/>
    <p:sldId id="449" r:id="rId37"/>
    <p:sldId id="561" r:id="rId38"/>
    <p:sldId id="565" r:id="rId39"/>
    <p:sldId id="450" r:id="rId40"/>
    <p:sldId id="451" r:id="rId41"/>
    <p:sldId id="452" r:id="rId42"/>
    <p:sldId id="453" r:id="rId43"/>
    <p:sldId id="596" r:id="rId44"/>
    <p:sldId id="454" r:id="rId45"/>
    <p:sldId id="455" r:id="rId46"/>
    <p:sldId id="456" r:id="rId47"/>
    <p:sldId id="457" r:id="rId48"/>
    <p:sldId id="458" r:id="rId49"/>
    <p:sldId id="461" r:id="rId50"/>
    <p:sldId id="462" r:id="rId51"/>
    <p:sldId id="459" r:id="rId52"/>
    <p:sldId id="597" r:id="rId53"/>
    <p:sldId id="598" r:id="rId54"/>
    <p:sldId id="599" r:id="rId55"/>
    <p:sldId id="600" r:id="rId56"/>
    <p:sldId id="601" r:id="rId57"/>
    <p:sldId id="602" r:id="rId58"/>
    <p:sldId id="603" r:id="rId59"/>
    <p:sldId id="604" r:id="rId60"/>
    <p:sldId id="605" r:id="rId61"/>
    <p:sldId id="606" r:id="rId62"/>
    <p:sldId id="607" r:id="rId63"/>
    <p:sldId id="608" r:id="rId64"/>
    <p:sldId id="631" r:id="rId65"/>
    <p:sldId id="428" r:id="rId66"/>
    <p:sldId id="429" r:id="rId67"/>
    <p:sldId id="430" r:id="rId68"/>
    <p:sldId id="431" r:id="rId69"/>
    <p:sldId id="432" r:id="rId70"/>
    <p:sldId id="433" r:id="rId71"/>
    <p:sldId id="436" r:id="rId72"/>
    <p:sldId id="437" r:id="rId73"/>
    <p:sldId id="438" r:id="rId74"/>
    <p:sldId id="439" r:id="rId75"/>
    <p:sldId id="610" r:id="rId76"/>
    <p:sldId id="609" r:id="rId77"/>
    <p:sldId id="611" r:id="rId78"/>
    <p:sldId id="612" r:id="rId79"/>
    <p:sldId id="613" r:id="rId80"/>
    <p:sldId id="614" r:id="rId81"/>
    <p:sldId id="615" r:id="rId82"/>
    <p:sldId id="616" r:id="rId83"/>
    <p:sldId id="617" r:id="rId84"/>
    <p:sldId id="618" r:id="rId85"/>
    <p:sldId id="619" r:id="rId86"/>
    <p:sldId id="620" r:id="rId87"/>
    <p:sldId id="621" r:id="rId88"/>
    <p:sldId id="622" r:id="rId89"/>
    <p:sldId id="623" r:id="rId90"/>
    <p:sldId id="624" r:id="rId91"/>
    <p:sldId id="625" r:id="rId92"/>
    <p:sldId id="626" r:id="rId93"/>
    <p:sldId id="627" r:id="rId94"/>
    <p:sldId id="628" r:id="rId95"/>
    <p:sldId id="629" r:id="rId96"/>
    <p:sldId id="630" r:id="rId97"/>
    <p:sldId id="443" r:id="rId98"/>
    <p:sldId id="444" r:id="rId99"/>
    <p:sldId id="445" r:id="rId100"/>
  </p:sldIdLst>
  <p:sldSz cx="9906000" cy="6858000" type="A4"/>
  <p:notesSz cx="6781800" cy="9918700"/>
  <p:defaultTextStyle>
    <a:defPPr>
      <a:defRPr lang="en-GB"/>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CFE8CC"/>
    <a:srgbClr val="CCFFFF"/>
    <a:srgbClr val="FFFFCC"/>
    <a:srgbClr val="99FF33"/>
    <a:srgbClr val="CCFFCC"/>
    <a:srgbClr val="500050"/>
    <a:srgbClr val="640064"/>
    <a:srgbClr val="320032"/>
    <a:srgbClr val="0054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73"/>
    <p:restoredTop sz="65950" autoAdjust="0"/>
  </p:normalViewPr>
  <p:slideViewPr>
    <p:cSldViewPr showGuides="1">
      <p:cViewPr varScale="1">
        <p:scale>
          <a:sx n="47" d="100"/>
          <a:sy n="47" d="100"/>
        </p:scale>
        <p:origin x="-1926" y="-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992313" y="533400"/>
            <a:ext cx="3730625" cy="396875"/>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2000" b="1" i="0" u="none" strike="noStrike" kern="1200" cap="none" spc="0" normalizeH="0" baseline="0" noProof="0">
                <a:ln>
                  <a:noFill/>
                </a:ln>
                <a:solidFill>
                  <a:schemeClr val="bg2"/>
                </a:solidFill>
                <a:effectLst/>
                <a:uLnTx/>
                <a:uFillTx/>
                <a:latin typeface="Arial" panose="020B0604020202020204" pitchFamily="34" charset="0"/>
                <a:ea typeface="+mn-ea"/>
                <a:cs typeface="+mn-cs"/>
              </a:rPr>
              <a:t>Introduction to JavaScript</a:t>
            </a:r>
          </a:p>
        </p:txBody>
      </p:sp>
      <p:sp>
        <p:nvSpPr>
          <p:cNvPr id="3076" name="Rectangle 4"/>
          <p:cNvSpPr>
            <a:spLocks noGrp="1" noChangeArrowheads="1"/>
          </p:cNvSpPr>
          <p:nvPr>
            <p:ph type="sldNum" sz="quarter" idx="3"/>
          </p:nvPr>
        </p:nvSpPr>
        <p:spPr bwMode="auto">
          <a:xfrm>
            <a:off x="3214688" y="9596438"/>
            <a:ext cx="344488" cy="230188"/>
          </a:xfrm>
          <a:prstGeom prst="rect">
            <a:avLst/>
          </a:prstGeom>
          <a:noFill/>
          <a:ln>
            <a:noFill/>
          </a:ln>
          <a:effectLst/>
        </p:spPr>
        <p:txBody>
          <a:bodyPr vert="horz" wrap="square" lIns="19106" tIns="0" rIns="19106" bIns="0" numCol="1" anchor="b" anchorCtr="0" compatLnSpc="1"/>
          <a:lstStyle/>
          <a:p>
            <a:pPr lvl="0" algn="ctr" defTabSz="916305">
              <a:buNone/>
            </a:pPr>
            <a:fld id="{9A0DB2DC-4C9A-4742-B13C-FB6460FD3503}" type="slidenum">
              <a:rPr lang="en-GB" altLang="en-US" sz="1000" dirty="0"/>
              <a:pPr lvl="0" algn="ctr" defTabSz="916305">
                <a:buNone/>
              </a:pPr>
              <a:t>‹#›</a:t>
            </a:fld>
            <a:endParaRPr lang="en-GB" altLang="en-US" sz="1000" dirty="0"/>
          </a:p>
        </p:txBody>
      </p:sp>
      <p:sp>
        <p:nvSpPr>
          <p:cNvPr id="3079" name="Rectangle 7"/>
          <p:cNvSpPr>
            <a:spLocks noGrp="1" noChangeArrowheads="1"/>
          </p:cNvSpPr>
          <p:nvPr>
            <p:ph type="dt" sz="quarter" idx="1"/>
          </p:nvPr>
        </p:nvSpPr>
        <p:spPr bwMode="auto">
          <a:xfrm>
            <a:off x="3678238" y="279400"/>
            <a:ext cx="2911475" cy="457200"/>
          </a:xfrm>
          <a:prstGeom prst="rect">
            <a:avLst/>
          </a:prstGeom>
          <a:noFill/>
          <a:ln>
            <a:noFill/>
          </a:ln>
          <a:effectLst/>
        </p:spPr>
        <p:txBody>
          <a:bodyPr vert="horz" wrap="square" lIns="19106" tIns="0" rIns="19106" bIns="0" numCol="1" anchor="t" anchorCtr="0" compatLnSpc="1"/>
          <a:lstStyle>
            <a:lvl1pPr algn="r" defTabSz="916305">
              <a:defRPr sz="1600" b="1" i="1">
                <a:solidFill>
                  <a:schemeClr val="bg2"/>
                </a:solidFill>
              </a:defRPr>
            </a:lvl1pPr>
          </a:lstStyle>
          <a:p>
            <a:pPr marL="0" marR="0" lvl="0" indent="0" algn="r" defTabSz="916305" rtl="0" eaLnBrk="0" fontAlgn="base" latinLnBrk="0" hangingPunct="0">
              <a:lnSpc>
                <a:spcPct val="100000"/>
              </a:lnSpc>
              <a:spcBef>
                <a:spcPct val="0"/>
              </a:spcBef>
              <a:spcAft>
                <a:spcPct val="0"/>
              </a:spcAft>
              <a:buClrTx/>
              <a:buSzTx/>
              <a:buFontTx/>
              <a:buNone/>
              <a:defRPr/>
            </a:pPr>
            <a:r>
              <a:rPr kumimoji="0" lang="en-GB" altLang="en-US" sz="1600" b="1" i="1" u="none" strike="noStrike" kern="1200" cap="none" spc="0" normalizeH="0" baseline="0" noProof="0">
                <a:ln>
                  <a:noFill/>
                </a:ln>
                <a:solidFill>
                  <a:schemeClr val="bg2"/>
                </a:solidFill>
                <a:effectLst/>
                <a:uLnTx/>
                <a:uFillTx/>
                <a:latin typeface="Arial" panose="020B0604020202020204" pitchFamily="34" charset="0"/>
                <a:ea typeface="+mn-ea"/>
                <a:cs typeface="+mn-cs"/>
              </a:rPr>
              <a:t>CSC 1020</a:t>
            </a:r>
          </a:p>
        </p:txBody>
      </p:sp>
      <p:sp>
        <p:nvSpPr>
          <p:cNvPr id="3080" name="Rectangle 8"/>
          <p:cNvSpPr>
            <a:spLocks noGrp="1" noChangeArrowheads="1"/>
          </p:cNvSpPr>
          <p:nvPr>
            <p:ph type="hdr" sz="quarter"/>
          </p:nvPr>
        </p:nvSpPr>
        <p:spPr bwMode="auto">
          <a:xfrm>
            <a:off x="19050" y="0"/>
            <a:ext cx="2911475" cy="457200"/>
          </a:xfrm>
          <a:prstGeom prst="rect">
            <a:avLst/>
          </a:prstGeom>
          <a:noFill/>
          <a:ln>
            <a:noFill/>
          </a:ln>
          <a:effectLst/>
        </p:spPr>
        <p:txBody>
          <a:bodyPr vert="horz" wrap="square" lIns="19106" tIns="0" rIns="19106" bIns="0" numCol="1" anchor="t"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01700" y="4713288"/>
            <a:ext cx="4978400" cy="4176713"/>
          </a:xfrm>
          <a:prstGeom prst="rect">
            <a:avLst/>
          </a:prstGeom>
          <a:noFill/>
          <a:ln>
            <a:noFill/>
          </a:ln>
          <a:effectLst/>
        </p:spPr>
        <p:txBody>
          <a:bodyPr vert="horz" wrap="square" lIns="92342" tIns="46171" rIns="92342" bIns="4617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Normal text style (Times New Roman 10pt)</a:t>
            </a:r>
          </a:p>
          <a:p>
            <a:pPr marL="190500" marR="0" lvl="1" indent="0" algn="l" defTabSz="914400" rtl="0" eaLnBrk="0" fontAlgn="base" latinLnBrk="0" hangingPunct="0">
              <a:lnSpc>
                <a:spcPct val="100000"/>
              </a:lnSpc>
              <a:spcBef>
                <a:spcPct val="3000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Courier New" panose="02070309020205020404" pitchFamily="49" charset="0"/>
                <a:ea typeface="+mn-ea"/>
                <a:cs typeface="+mn-cs"/>
              </a:rPr>
              <a:t>URLs (Courier New 10pt)</a:t>
            </a:r>
          </a:p>
          <a:p>
            <a:pPr marL="571500" marR="0" lvl="2" indent="-190500" algn="l" defTabSz="914400" rtl="0" eaLnBrk="0" fontAlgn="base" latinLnBrk="0" hangingPunct="0">
              <a:lnSpc>
                <a:spcPct val="100000"/>
              </a:lnSpc>
              <a:spcBef>
                <a:spcPct val="30000"/>
              </a:spcBef>
              <a:spcAft>
                <a:spcPct val="0"/>
              </a:spcAft>
              <a:buClr>
                <a:srgbClr val="640064"/>
              </a:buClr>
              <a:buSzPct val="75000"/>
              <a:buFont typeface="Wingdings" panose="05000000000000000000" pitchFamily="2" charset="2"/>
              <a:buChar char="l"/>
              <a:defRPr/>
            </a:pPr>
            <a:r>
              <a:rPr kumimoji="0" lang="en-GB" altLang="en-US" sz="1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Bullet - style</a:t>
            </a:r>
          </a:p>
        </p:txBody>
      </p:sp>
      <p:sp>
        <p:nvSpPr>
          <p:cNvPr id="3075" name="Rectangle 3"/>
          <p:cNvSpPr>
            <a:spLocks noGrp="1" noRot="1" noChangeAspect="1" noTextEdit="1"/>
          </p:cNvSpPr>
          <p:nvPr>
            <p:ph type="sldImg" idx="2"/>
          </p:nvPr>
        </p:nvSpPr>
        <p:spPr>
          <a:xfrm>
            <a:off x="882650" y="866775"/>
            <a:ext cx="5016500" cy="3473450"/>
          </a:xfrm>
          <a:prstGeom prst="rect">
            <a:avLst/>
          </a:prstGeom>
          <a:noFill/>
          <a:ln w="12700" cap="flat" cmpd="sng">
            <a:solidFill>
              <a:schemeClr val="tx1"/>
            </a:solidFill>
            <a:prstDash val="solid"/>
            <a:miter/>
            <a:headEnd type="none" w="med" len="med"/>
            <a:tailEnd type="none" w="med" len="med"/>
          </a:ln>
        </p:spPr>
      </p:sp>
      <p:sp>
        <p:nvSpPr>
          <p:cNvPr id="2052" name="Rectangle 4"/>
          <p:cNvSpPr>
            <a:spLocks noChangeArrowheads="1"/>
          </p:cNvSpPr>
          <p:nvPr/>
        </p:nvSpPr>
        <p:spPr bwMode="auto">
          <a:xfrm>
            <a:off x="2276475" y="411163"/>
            <a:ext cx="4006850" cy="457200"/>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2400" b="1" i="0" u="none" strike="noStrike" kern="1200" cap="none" spc="0" normalizeH="0" baseline="0" noProof="0">
                <a:ln>
                  <a:noFill/>
                </a:ln>
                <a:solidFill>
                  <a:schemeClr val="tx1"/>
                </a:solidFill>
                <a:effectLst/>
                <a:uLnTx/>
                <a:uFillTx/>
                <a:latin typeface="Arial" panose="020B0604020202020204" pitchFamily="34" charset="0"/>
                <a:ea typeface="+mn-ea"/>
                <a:cs typeface="+mn-cs"/>
              </a:rPr>
              <a:t>Introduction to JavaScript</a:t>
            </a:r>
          </a:p>
        </p:txBody>
      </p:sp>
      <p:pic>
        <p:nvPicPr>
          <p:cNvPr id="3077" name="Picture 5"/>
          <p:cNvPicPr/>
          <p:nvPr/>
        </p:nvPicPr>
        <p:blipFill>
          <a:blip r:embed="rId2"/>
          <a:stretch>
            <a:fillRect/>
          </a:stretch>
        </p:blipFill>
        <p:spPr>
          <a:xfrm>
            <a:off x="782638" y="268288"/>
            <a:ext cx="1406525" cy="468312"/>
          </a:xfrm>
          <a:prstGeom prst="rect">
            <a:avLst/>
          </a:prstGeom>
          <a:noFill/>
          <a:ln w="9525">
            <a:noFill/>
          </a:ln>
        </p:spPr>
      </p:pic>
      <p:sp>
        <p:nvSpPr>
          <p:cNvPr id="2054" name="Rectangle 6"/>
          <p:cNvSpPr>
            <a:spLocks noChangeArrowheads="1"/>
          </p:cNvSpPr>
          <p:nvPr/>
        </p:nvSpPr>
        <p:spPr bwMode="auto">
          <a:xfrm>
            <a:off x="3314700" y="9417050"/>
            <a:ext cx="227013" cy="230188"/>
          </a:xfrm>
          <a:prstGeom prst="rect">
            <a:avLst/>
          </a:prstGeom>
          <a:noFill/>
          <a:ln>
            <a:noFill/>
          </a:ln>
          <a:effectLst/>
        </p:spPr>
        <p:txBody>
          <a:bodyPr lIns="19106" tIns="0" rIns="19106" bIns="0" anchor="b"/>
          <a:lstStyle/>
          <a:p>
            <a:pPr lvl="0" algn="ctr" defTabSz="916305">
              <a:buNone/>
            </a:pPr>
            <a:fld id="{9A0DB2DC-4C9A-4742-B13C-FB6460FD3503}" type="slidenum">
              <a:rPr lang="en-GB" altLang="en-US" sz="1000" dirty="0"/>
              <a:pPr lvl="0" algn="ctr" defTabSz="916305">
                <a:buNone/>
              </a:pPr>
              <a:t>‹#›</a:t>
            </a:fld>
            <a:endParaRPr lang="en-GB" altLang="en-US" sz="1000" dirty="0"/>
          </a:p>
        </p:txBody>
      </p:sp>
      <p:sp>
        <p:nvSpPr>
          <p:cNvPr id="2055" name="Rectangle 7"/>
          <p:cNvSpPr>
            <a:spLocks noChangeArrowheads="1"/>
          </p:cNvSpPr>
          <p:nvPr/>
        </p:nvSpPr>
        <p:spPr bwMode="auto">
          <a:xfrm>
            <a:off x="4221163" y="9417050"/>
            <a:ext cx="2290763" cy="396875"/>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Netskills is a trademark of Netskills, University of Newcastle</a:t>
            </a:r>
          </a:p>
        </p:txBody>
      </p:sp>
      <p:sp>
        <p:nvSpPr>
          <p:cNvPr id="2056" name="Rectangle 8"/>
          <p:cNvSpPr>
            <a:spLocks noChangeArrowheads="1"/>
          </p:cNvSpPr>
          <p:nvPr/>
        </p:nvSpPr>
        <p:spPr bwMode="auto">
          <a:xfrm>
            <a:off x="666750" y="9375775"/>
            <a:ext cx="2181225" cy="396875"/>
          </a:xfrm>
          <a:prstGeom prst="rect">
            <a:avLst/>
          </a:prstGeom>
          <a:noFill/>
          <a:ln>
            <a:noFill/>
          </a:ln>
          <a:effectLst/>
        </p:spPr>
        <p:txBody>
          <a:bodyPr wrap="none"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©Netskills, Quality Internet Training</a:t>
            </a:r>
          </a:p>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University of Newcastle</a:t>
            </a:r>
          </a:p>
        </p:txBody>
      </p:sp>
      <p:sp>
        <p:nvSpPr>
          <p:cNvPr id="2057" name="Rectangle 9"/>
          <p:cNvSpPr>
            <a:spLocks noGrp="1" noChangeArrowheads="1"/>
          </p:cNvSpPr>
          <p:nvPr>
            <p:ph type="dt" idx="1"/>
          </p:nvPr>
        </p:nvSpPr>
        <p:spPr bwMode="auto">
          <a:xfrm>
            <a:off x="3851275" y="0"/>
            <a:ext cx="2911475" cy="457200"/>
          </a:xfrm>
          <a:prstGeom prst="rect">
            <a:avLst/>
          </a:prstGeom>
          <a:noFill/>
          <a:ln>
            <a:noFill/>
          </a:ln>
          <a:effectLst/>
        </p:spPr>
        <p:txBody>
          <a:bodyPr vert="horz" wrap="square" lIns="19106" tIns="0" rIns="19106" bIns="0" numCol="1" anchor="t" anchorCtr="0" compatLnSpc="1"/>
          <a:lstStyle>
            <a:lvl1pPr algn="r" defTabSz="916305">
              <a:defRPr sz="1000" i="1"/>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8" name="Rectangle 10"/>
          <p:cNvSpPr>
            <a:spLocks noGrp="1" noChangeArrowheads="1"/>
          </p:cNvSpPr>
          <p:nvPr>
            <p:ph type="sldNum" sz="quarter" idx="5"/>
          </p:nvPr>
        </p:nvSpPr>
        <p:spPr bwMode="auto">
          <a:xfrm>
            <a:off x="3851275" y="9385300"/>
            <a:ext cx="2911475" cy="533400"/>
          </a:xfrm>
          <a:prstGeom prst="rect">
            <a:avLst/>
          </a:prstGeom>
          <a:noFill/>
          <a:ln>
            <a:noFill/>
          </a:ln>
          <a:effectLst/>
        </p:spPr>
        <p:txBody>
          <a:bodyPr vert="horz" wrap="square" lIns="19106" tIns="0" rIns="19106" bIns="0" numCol="1" anchor="b" anchorCtr="0" compatLnSpc="1"/>
          <a:lstStyle>
            <a:lvl1pPr algn="r" defTabSz="916305">
              <a:defRPr sz="1000" i="1"/>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9" name="Rectangle 11"/>
          <p:cNvSpPr>
            <a:spLocks noGrp="1" noChangeArrowheads="1"/>
          </p:cNvSpPr>
          <p:nvPr>
            <p:ph type="ftr" sz="quarter" idx="4"/>
          </p:nvPr>
        </p:nvSpPr>
        <p:spPr bwMode="auto">
          <a:xfrm>
            <a:off x="19050" y="9385300"/>
            <a:ext cx="2911475" cy="533400"/>
          </a:xfrm>
          <a:prstGeom prst="rect">
            <a:avLst/>
          </a:prstGeom>
          <a:noFill/>
          <a:ln>
            <a:noFill/>
          </a:ln>
          <a:effectLst/>
        </p:spPr>
        <p:txBody>
          <a:bodyPr vert="horz" wrap="square" lIns="19106" tIns="0" rIns="19106" bIns="0" numCol="1" anchor="b"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60" name="Rectangle 12"/>
          <p:cNvSpPr>
            <a:spLocks noGrp="1" noChangeArrowheads="1"/>
          </p:cNvSpPr>
          <p:nvPr>
            <p:ph type="hdr" sz="quarter"/>
          </p:nvPr>
        </p:nvSpPr>
        <p:spPr bwMode="auto">
          <a:xfrm>
            <a:off x="19050" y="0"/>
            <a:ext cx="2911475" cy="457200"/>
          </a:xfrm>
          <a:prstGeom prst="rect">
            <a:avLst/>
          </a:prstGeom>
          <a:noFill/>
          <a:ln>
            <a:noFill/>
          </a:ln>
          <a:effectLst/>
        </p:spPr>
        <p:txBody>
          <a:bodyPr vert="horz" wrap="square" lIns="19106" tIns="0" rIns="19106" bIns="0" numCol="1" anchor="t"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1pPr>
    <a:lvl2pPr marL="190500" algn="l" rtl="0" eaLnBrk="0" fontAlgn="base" hangingPunct="0">
      <a:spcBef>
        <a:spcPct val="30000"/>
      </a:spcBef>
      <a:spcAft>
        <a:spcPct val="0"/>
      </a:spcAft>
      <a:defRPr sz="1000" kern="1200">
        <a:solidFill>
          <a:schemeClr val="tx1"/>
        </a:solidFill>
        <a:latin typeface="Courier New" panose="02070309020205020404" pitchFamily="49" charset="0"/>
        <a:ea typeface="+mn-ea"/>
        <a:cs typeface="+mn-cs"/>
      </a:defRPr>
    </a:lvl2pPr>
    <a:lvl3pPr marL="571500" indent="-190500" algn="l" rtl="0" eaLnBrk="0" fontAlgn="base" hangingPunct="0">
      <a:spcBef>
        <a:spcPct val="30000"/>
      </a:spcBef>
      <a:spcAft>
        <a:spcPct val="0"/>
      </a:spcAft>
      <a:buClr>
        <a:srgbClr val="640064"/>
      </a:buClr>
      <a:buSzPct val="75000"/>
      <a:buFont typeface="Wingdings" panose="05000000000000000000" pitchFamily="2" charset="2"/>
      <a:buChar char="l"/>
      <a:defRPr sz="10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Rot="1" noChangeAspect="1" noTextEdit="1"/>
          </p:cNvSpPr>
          <p:nvPr>
            <p:ph type="sldImg"/>
          </p:nvPr>
        </p:nvSpPr>
        <p:spPr/>
      </p:sp>
      <p:sp>
        <p:nvSpPr>
          <p:cNvPr id="8195" name="Rectangle 5"/>
          <p:cNvSpPr>
            <a:spLocks noGrp="1"/>
          </p:cNvSpPr>
          <p:nvPr>
            <p:ph type="body" idx="1"/>
          </p:nvPr>
        </p:nvSpPr>
        <p:spPr>
          <a:xfrm>
            <a:off x="901700" y="4713288"/>
            <a:ext cx="4978400" cy="4176712"/>
          </a:xfrm>
        </p:spPr>
        <p:txBody>
          <a:bodyPr wrap="square" lIns="92342" tIns="46171" rIns="92342" bIns="46171" anchor="t" anchorCtr="0"/>
          <a:lstStyle/>
          <a:p>
            <a:pPr lvl="0"/>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6E3764-77C7-4977-A531-2E945497ABCE}"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Rot="1" noChangeAspect="1" noTextEdit="1"/>
          </p:cNvSpPr>
          <p:nvPr>
            <p:ph type="sldImg"/>
          </p:nvPr>
        </p:nvSpPr>
        <p:spPr/>
      </p:sp>
      <p:sp>
        <p:nvSpPr>
          <p:cNvPr id="15363"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Rot="1" noChangeAspect="1" noTextEdit="1"/>
          </p:cNvSpPr>
          <p:nvPr>
            <p:ph type="sldImg"/>
          </p:nvPr>
        </p:nvSpPr>
        <p:spPr/>
      </p:sp>
      <p:sp>
        <p:nvSpPr>
          <p:cNvPr id="17411"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Rot="1" noChangeAspect="1" noTextEdit="1"/>
          </p:cNvSpPr>
          <p:nvPr>
            <p:ph type="sldImg"/>
          </p:nvPr>
        </p:nvSpPr>
        <p:spPr/>
      </p:sp>
      <p:sp>
        <p:nvSpPr>
          <p:cNvPr id="19459"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Rot="1" noChangeAspect="1" noTextEdit="1"/>
          </p:cNvSpPr>
          <p:nvPr>
            <p:ph type="sldImg"/>
          </p:nvPr>
        </p:nvSpPr>
        <p:spPr/>
      </p:sp>
      <p:sp>
        <p:nvSpPr>
          <p:cNvPr id="19459"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Rot="1" noChangeAspect="1" noTextEdit="1"/>
          </p:cNvSpPr>
          <p:nvPr>
            <p:ph type="sldImg"/>
          </p:nvPr>
        </p:nvSpPr>
        <p:spPr/>
      </p:sp>
      <p:sp>
        <p:nvSpPr>
          <p:cNvPr id="19459"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Rot="1" noChangeAspect="1" noTextEdit="1"/>
          </p:cNvSpPr>
          <p:nvPr>
            <p:ph type="sldImg"/>
          </p:nvPr>
        </p:nvSpPr>
        <p:spPr/>
      </p:sp>
      <p:sp>
        <p:nvSpPr>
          <p:cNvPr id="25603"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Rot="1" noChangeAspect="1" noTextEdit="1"/>
          </p:cNvSpPr>
          <p:nvPr>
            <p:ph type="sldImg"/>
          </p:nvPr>
        </p:nvSpPr>
        <p:spPr/>
      </p:sp>
      <p:sp>
        <p:nvSpPr>
          <p:cNvPr id="27651"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Rot="1" noChangeAspect="1" noTextEdit="1"/>
          </p:cNvSpPr>
          <p:nvPr>
            <p:ph type="sldImg"/>
          </p:nvPr>
        </p:nvSpPr>
        <p:spPr/>
      </p:sp>
      <p:sp>
        <p:nvSpPr>
          <p:cNvPr id="29699"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Rot="1" noChangeAspect="1" noTextEdit="1"/>
          </p:cNvSpPr>
          <p:nvPr>
            <p:ph type="sldImg"/>
          </p:nvPr>
        </p:nvSpPr>
        <p:spPr/>
      </p:sp>
      <p:sp>
        <p:nvSpPr>
          <p:cNvPr id="31747"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Rot="1" noChangeAspect="1" noTextEdit="1"/>
          </p:cNvSpPr>
          <p:nvPr>
            <p:ph type="sldImg"/>
          </p:nvPr>
        </p:nvSpPr>
        <p:spPr/>
      </p:sp>
      <p:sp>
        <p:nvSpPr>
          <p:cNvPr id="33795"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Rot="1" noChangeAspect="1" noTextEdit="1"/>
          </p:cNvSpPr>
          <p:nvPr>
            <p:ph type="sldImg"/>
          </p:nvPr>
        </p:nvSpPr>
        <p:spPr/>
      </p:sp>
      <p:sp>
        <p:nvSpPr>
          <p:cNvPr id="35843"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Rot="1" noChangeAspect="1" noTextEdit="1"/>
          </p:cNvSpPr>
          <p:nvPr>
            <p:ph type="sldImg"/>
          </p:nvPr>
        </p:nvSpPr>
        <p:spPr/>
      </p:sp>
      <p:sp>
        <p:nvSpPr>
          <p:cNvPr id="37891"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Rot="1" noChangeAspect="1" noTextEdit="1"/>
          </p:cNvSpPr>
          <p:nvPr>
            <p:ph type="sldImg"/>
          </p:nvPr>
        </p:nvSpPr>
        <p:spPr/>
      </p:sp>
      <p:sp>
        <p:nvSpPr>
          <p:cNvPr id="39939"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Rot="1" noChangeAspect="1" noTextEdit="1"/>
          </p:cNvSpPr>
          <p:nvPr>
            <p:ph type="sldImg"/>
          </p:nvPr>
        </p:nvSpPr>
        <p:spPr/>
      </p:sp>
      <p:sp>
        <p:nvSpPr>
          <p:cNvPr id="41987"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Rot="1" noChangeAspect="1" noTextEdit="1"/>
          </p:cNvSpPr>
          <p:nvPr>
            <p:ph type="sldImg"/>
          </p:nvPr>
        </p:nvSpPr>
        <p:spPr/>
      </p:sp>
      <p:sp>
        <p:nvSpPr>
          <p:cNvPr id="44035"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Rot="1" noChangeAspect="1" noTextEdit="1"/>
          </p:cNvSpPr>
          <p:nvPr>
            <p:ph type="sldImg"/>
          </p:nvPr>
        </p:nvSpPr>
        <p:spPr/>
      </p:sp>
      <p:sp>
        <p:nvSpPr>
          <p:cNvPr id="46083"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Rot="1" noChangeAspect="1" noTextEdit="1"/>
          </p:cNvSpPr>
          <p:nvPr>
            <p:ph type="sldImg"/>
          </p:nvPr>
        </p:nvSpPr>
        <p:spPr/>
      </p:sp>
      <p:sp>
        <p:nvSpPr>
          <p:cNvPr id="48131" name="Rectangle 5"/>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86192BA-BD47-7BBE-12B1-432F12AD6EBE}"/>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23869482-38D9-6DEF-EA21-E78AF2F374AA}"/>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790B7BB7-9CC4-8642-27ED-B9F34E765A91}"/>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3615407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BCA19D-B849-451D-48DB-321D6C9A5242}"/>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41F321D8-30D1-D7AC-12AD-E7E8B6E44CBF}"/>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FE3A764A-1442-CF7D-0AED-CA869D7D02A2}"/>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1362896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BB0F7A2-5123-9E55-39B3-138FBD8A49FD}"/>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4766D8FC-6913-2222-99AF-2213307CEFD7}"/>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F66FF5F6-66E7-169D-DC41-387B143C5B76}"/>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8978298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BB9A27E-A289-7C2A-A3C3-3574BB57B38A}"/>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B8D3967B-1215-0992-0C06-43FD5D37ED45}"/>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C369865A-BE0C-4ADA-BBB6-0FB91C367DD0}"/>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3071001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D2F123D-3AF9-29A3-ADCA-1B404E1EA6A0}"/>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2CACF268-B37B-1AE9-BB42-D412E0467024}"/>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C5AB9107-7B4F-D17B-A274-B83E670780D5}"/>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2765216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1782DFE-6F4E-4927-F9F7-F67BAF005D8E}"/>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7C5EC49A-1FAA-33A0-9DB4-1C5DC10A2B43}"/>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2BF53352-49FF-726B-86A2-12A544330B61}"/>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1340271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FBACE44-F3E2-0CD3-AE9E-1040103492EB}"/>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9162183F-8313-2D28-84D3-3E0CD8423DB9}"/>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D52A78D2-162D-C9A3-4AE5-1F9FC99A0DE3}"/>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3858773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8358A9B-43DE-9D99-D1EA-D5660983D138}"/>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6214F9E5-25EF-6E48-6594-7B631EC01033}"/>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37B8D5D8-C719-243A-3F40-E470B62D24A7}"/>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34283360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BA3AE5-9F28-BB86-4D69-872E1837E61F}"/>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7FA6D669-8BD2-5E98-0C7D-A628091EFC1F}"/>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93F2E936-7F4E-DAD0-88C4-CC6E55E829FB}"/>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4044939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E2E1A17-933D-8860-FBFF-1A1C11990E07}"/>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3C4B759B-CB44-46EC-A23D-B685F73326D6}"/>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AEC50F66-E089-4EB2-8E63-CE600661BE9E}"/>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3759228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BCC5613-757B-792E-2814-175997ABACBF}"/>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B2911738-BC3A-00D9-0A4C-0DA4F178C8C6}"/>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5A1A7922-1B09-86E6-F7CB-4CC8AF6361AD}"/>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491675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D338EF6-8C84-6BCC-3AE5-10B55875ECDB}"/>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0597AB55-7BEF-F85D-F412-E9A927F0414C}"/>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0DB6F701-D181-2933-CFC3-18E52532EB3D}"/>
              </a:ext>
            </a:extLst>
          </p:cNvPr>
          <p:cNvSpPr>
            <a:spLocks noGrp="1"/>
          </p:cNvSpPr>
          <p:nvPr>
            <p:ph type="body" idx="1"/>
          </p:nvPr>
        </p:nvSpPr>
        <p:spPr>
          <a:xfrm>
            <a:off x="901700" y="4713288"/>
            <a:ext cx="4978400" cy="4176712"/>
          </a:xfrm>
        </p:spPr>
        <p:txBody>
          <a:bodyPr wrap="square" lIns="92342" tIns="46171" rIns="92342" bIns="46171" anchor="t" anchorCtr="0"/>
          <a:lstStyle/>
          <a:p>
            <a:pPr lvl="0"/>
            <a:r>
              <a:rPr lang="en-GB" altLang="en-US" dirty="0"/>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p>
          <a:p>
            <a:pPr lvl="0"/>
            <a:r>
              <a:rPr lang="en-GB" altLang="en-US" dirty="0"/>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p>
          <a:p>
            <a:pPr lvl="0"/>
            <a:endParaRPr lang="en-GB" altLang="en-US" dirty="0"/>
          </a:p>
        </p:txBody>
      </p:sp>
    </p:spTree>
    <p:extLst>
      <p:ext uri="{BB962C8B-B14F-4D97-AF65-F5344CB8AC3E}">
        <p14:creationId xmlns="" xmlns:p14="http://schemas.microsoft.com/office/powerpoint/2010/main" val="466822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E892476-DE03-02AB-7F45-B1CEC9637EE8}"/>
            </a:ext>
          </a:extLst>
        </p:cNvPr>
        <p:cNvGrpSpPr/>
        <p:nvPr/>
      </p:nvGrpSpPr>
      <p:grpSpPr>
        <a:xfrm>
          <a:off x="0" y="0"/>
          <a:ext cx="0" cy="0"/>
          <a:chOff x="0" y="0"/>
          <a:chExt cx="0" cy="0"/>
        </a:xfrm>
      </p:grpSpPr>
      <p:sp>
        <p:nvSpPr>
          <p:cNvPr id="48130" name="Rectangle 4">
            <a:extLst>
              <a:ext uri="{FF2B5EF4-FFF2-40B4-BE49-F238E27FC236}">
                <a16:creationId xmlns="" xmlns:a16="http://schemas.microsoft.com/office/drawing/2014/main" id="{C1DA81EE-53BC-9648-4D89-B2B492288AE0}"/>
              </a:ext>
            </a:extLst>
          </p:cNvPr>
          <p:cNvSpPr>
            <a:spLocks noGrp="1" noRot="1" noChangeAspect="1" noTextEdit="1"/>
          </p:cNvSpPr>
          <p:nvPr>
            <p:ph type="sldImg"/>
          </p:nvPr>
        </p:nvSpPr>
        <p:spPr/>
      </p:sp>
      <p:sp>
        <p:nvSpPr>
          <p:cNvPr id="48131" name="Rectangle 5">
            <a:extLst>
              <a:ext uri="{FF2B5EF4-FFF2-40B4-BE49-F238E27FC236}">
                <a16:creationId xmlns="" xmlns:a16="http://schemas.microsoft.com/office/drawing/2014/main" id="{0B5E0C58-8FA9-3EC7-E463-1DB9835DCC9A}"/>
              </a:ext>
            </a:extLst>
          </p:cNvPr>
          <p:cNvSpPr>
            <a:spLocks noGrp="1"/>
          </p:cNvSpPr>
          <p:nvPr>
            <p:ph type="body" idx="1"/>
          </p:nvPr>
        </p:nvSpPr>
        <p:spPr>
          <a:xfrm>
            <a:off x="901700" y="4713288"/>
            <a:ext cx="4978400" cy="4176712"/>
          </a:xfrm>
        </p:spPr>
        <p:txBody>
          <a:bodyPr wrap="square" lIns="92342" tIns="46171" rIns="92342" bIns="46171" anchor="t" anchorCtr="0"/>
          <a:lstStyle/>
          <a:p>
            <a:pPr lvl="0"/>
            <a:endParaRPr lang="en-GB" altLang="en-US" dirty="0"/>
          </a:p>
        </p:txBody>
      </p:sp>
    </p:spTree>
    <p:extLst>
      <p:ext uri="{BB962C8B-B14F-4D97-AF65-F5344CB8AC3E}">
        <p14:creationId xmlns="" xmlns:p14="http://schemas.microsoft.com/office/powerpoint/2010/main" val="1003867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742950" y="2130425"/>
            <a:ext cx="8420100" cy="1470025"/>
          </a:xfrm>
        </p:spPr>
        <p:txBody>
          <a:bodyPr/>
          <a:lstStyle>
            <a:lvl1pPr>
              <a:defRPr/>
            </a:lvl1pPr>
          </a:lstStyle>
          <a:p>
            <a:pPr lvl="0"/>
            <a:r>
              <a:rPr lang="en-GB" altLang="en-US" noProof="0"/>
              <a:t>Click to edit Master title style</a:t>
            </a:r>
          </a:p>
        </p:txBody>
      </p:sp>
      <p:sp>
        <p:nvSpPr>
          <p:cNvPr id="79875" name="Rectangle 3"/>
          <p:cNvSpPr>
            <a:spLocks noGrp="1" noChangeArrowheads="1"/>
          </p:cNvSpPr>
          <p:nvPr>
            <p:ph type="subTitle" idx="1"/>
          </p:nvPr>
        </p:nvSpPr>
        <p:spPr>
          <a:xfrm>
            <a:off x="1485900" y="3886200"/>
            <a:ext cx="6934200" cy="1752600"/>
          </a:xfrm>
        </p:spPr>
        <p:txBody>
          <a:bodyPr/>
          <a:lstStyle>
            <a:lvl1pPr marL="0" indent="0" algn="ctr">
              <a:buFont typeface="Wingdings" panose="05000000000000000000" pitchFamily="2" charset="2"/>
              <a:buNone/>
              <a:defRPr/>
            </a:lvl1pPr>
          </a:lstStyle>
          <a:p>
            <a:pPr lvl="0"/>
            <a:r>
              <a:rPr lang="en-GB" altLang="en-US" noProof="0"/>
              <a:t>Click to edit Master subtitle style</a:t>
            </a:r>
          </a:p>
        </p:txBody>
      </p:sp>
      <p:sp>
        <p:nvSpPr>
          <p:cNvPr id="2" name="Rectangle 5"/>
          <p:cNvSpPr>
            <a:spLocks noGrp="1" noChangeArrowheads="1"/>
          </p:cNvSpPr>
          <p:nvPr>
            <p:ph type="sldNum" sz="quarter" idx="4"/>
          </p:nvPr>
        </p:nvSpPr>
        <p:spPr bwMode="auto">
          <a:xfrm>
            <a:off x="7099300" y="6245225"/>
            <a:ext cx="2311400" cy="476250"/>
          </a:xfrm>
          <a:prstGeom prst="rect">
            <a:avLst/>
          </a:prstGeom>
        </p:spPr>
        <p:txBody>
          <a:bodyPr vert="horz" wrap="none" lIns="92075" tIns="46038" rIns="92075" bIns="46038" numCol="1" anchor="ctr" anchorCtr="0" compatLnSpc="1"/>
          <a:lstStyle/>
          <a:p>
            <a:pPr algn="r">
              <a:buNone/>
            </a:pPr>
            <a:fld id="{9A0DB2DC-4C9A-4742-B13C-FB6460FD3503}" type="slidenum">
              <a:rPr lang="en-GB" altLang="en-US" dirty="0"/>
              <a:pPr algn="r">
                <a:buNone/>
              </a:pPr>
              <a:t>‹#›</a:t>
            </a:fld>
            <a:endParaRPr lang="en-GB"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6275" y="1709738"/>
            <a:ext cx="8543925"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15963"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999038"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625" y="365125"/>
            <a:ext cx="8543925"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625" y="2505075"/>
            <a:ext cx="4191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6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4211638" y="987425"/>
            <a:ext cx="5014912" cy="4873625"/>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6275" y="381000"/>
            <a:ext cx="2103438" cy="56467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15963" y="381000"/>
            <a:ext cx="6157912" cy="56467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742950" y="2130425"/>
            <a:ext cx="8420100" cy="1470025"/>
          </a:xfrm>
        </p:spPr>
        <p:txBody>
          <a:bodyPr/>
          <a:lstStyle>
            <a:lvl1pPr>
              <a:defRPr/>
            </a:lvl1pPr>
          </a:lstStyle>
          <a:p>
            <a:pPr lvl="0"/>
            <a:r>
              <a:rPr lang="en-GB" altLang="en-US" noProof="0"/>
              <a:t>Click to edit Master title style</a:t>
            </a:r>
          </a:p>
        </p:txBody>
      </p:sp>
      <p:sp>
        <p:nvSpPr>
          <p:cNvPr id="79875" name="Rectangle 3"/>
          <p:cNvSpPr>
            <a:spLocks noGrp="1" noChangeArrowheads="1"/>
          </p:cNvSpPr>
          <p:nvPr>
            <p:ph type="subTitle" idx="1"/>
          </p:nvPr>
        </p:nvSpPr>
        <p:spPr>
          <a:xfrm>
            <a:off x="1485900" y="3886200"/>
            <a:ext cx="6934200" cy="1752600"/>
          </a:xfrm>
        </p:spPr>
        <p:txBody>
          <a:bodyPr/>
          <a:lstStyle>
            <a:lvl1pPr marL="0" indent="0" algn="ctr">
              <a:buFont typeface="Wingdings" panose="05000000000000000000" pitchFamily="2" charset="2"/>
              <a:buNone/>
              <a:defRPr/>
            </a:lvl1pPr>
          </a:lstStyle>
          <a:p>
            <a:pPr lvl="0"/>
            <a:r>
              <a:rPr lang="en-GB" altLang="en-US" noProof="0"/>
              <a:t>Click to edit Master subtitle style</a:t>
            </a:r>
          </a:p>
        </p:txBody>
      </p:sp>
      <p:sp>
        <p:nvSpPr>
          <p:cNvPr id="2" name="Rectangle 5"/>
          <p:cNvSpPr>
            <a:spLocks noGrp="1" noChangeArrowheads="1"/>
          </p:cNvSpPr>
          <p:nvPr>
            <p:ph type="sldNum" sz="quarter" idx="4"/>
          </p:nvPr>
        </p:nvSpPr>
        <p:spPr bwMode="auto">
          <a:xfrm>
            <a:off x="7099300" y="6245225"/>
            <a:ext cx="2311400" cy="476250"/>
          </a:xfrm>
          <a:prstGeom prst="rect">
            <a:avLst/>
          </a:prstGeom>
        </p:spPr>
        <p:txBody>
          <a:bodyPr vert="horz" wrap="none" lIns="92075" tIns="46038" rIns="92075" bIns="46038" numCol="1" anchor="ctr" anchorCtr="0" compatLnSpc="1"/>
          <a:lstStyle/>
          <a:p>
            <a:pPr algn="r">
              <a:buNone/>
            </a:pPr>
            <a:fld id="{9A0DB2DC-4C9A-4742-B13C-FB6460FD3503}" type="slidenum">
              <a:rPr lang="en-GB" altLang="en-US" dirty="0"/>
              <a:pPr algn="r">
                <a:buNone/>
              </a:pPr>
              <a:t>‹#›</a:t>
            </a:fld>
            <a:endParaRPr lang="en-GB"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6275" y="1709738"/>
            <a:ext cx="8543925"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15963"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999038"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625" y="365125"/>
            <a:ext cx="8543925"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625" y="2505075"/>
            <a:ext cx="4191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6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4211638" y="987425"/>
            <a:ext cx="5014912" cy="4873625"/>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6275" y="381000"/>
            <a:ext cx="2103438" cy="56467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15963" y="381000"/>
            <a:ext cx="6157912" cy="56467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alpha val="50000"/>
          </a:srgbClr>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27075" y="381000"/>
            <a:ext cx="8391525" cy="746125"/>
          </a:xfrm>
          <a:prstGeom prst="rect">
            <a:avLst/>
          </a:prstGeom>
          <a:noFill/>
          <a:ln w="9525">
            <a:noFill/>
          </a:ln>
        </p:spPr>
        <p:txBody>
          <a:bodyPr lIns="92075" tIns="46038" rIns="92075" bIns="46038"/>
          <a:lstStyle/>
          <a:p>
            <a:pPr lvl="0"/>
            <a:r>
              <a:rPr lang="en-GB" altLang="en-US" dirty="0"/>
              <a:t>Title</a:t>
            </a:r>
          </a:p>
        </p:txBody>
      </p:sp>
      <p:sp>
        <p:nvSpPr>
          <p:cNvPr id="1027" name="Rectangle 3"/>
          <p:cNvSpPr>
            <a:spLocks noGrp="1"/>
          </p:cNvSpPr>
          <p:nvPr>
            <p:ph type="body" idx="1"/>
          </p:nvPr>
        </p:nvSpPr>
        <p:spPr>
          <a:xfrm>
            <a:off x="715963" y="1260475"/>
            <a:ext cx="8413750" cy="4767263"/>
          </a:xfrm>
          <a:prstGeom prst="rect">
            <a:avLst/>
          </a:prstGeom>
          <a:noFill/>
          <a:ln w="9525">
            <a:noFill/>
          </a:ln>
        </p:spPr>
        <p:txBody>
          <a:bodyPr lIns="92075" tIns="46038" rIns="92075" bIns="46038"/>
          <a:lstStyle/>
          <a:p>
            <a:pPr lvl="0"/>
            <a:r>
              <a:rPr lang="en-GB" altLang="en-US" dirty="0"/>
              <a:t>Heading 1</a:t>
            </a:r>
          </a:p>
          <a:p>
            <a:pPr lvl="1"/>
            <a:r>
              <a:rPr lang="en-GB" altLang="en-US" dirty="0"/>
              <a:t>Heading 2</a:t>
            </a:r>
          </a:p>
          <a:p>
            <a:pPr lvl="2"/>
            <a:r>
              <a:rPr lang="en-GB" altLang="en-US" dirty="0"/>
              <a:t>Heading 3</a:t>
            </a:r>
          </a:p>
          <a:p>
            <a:pPr lvl="3"/>
            <a:r>
              <a:rPr lang="en-GB" altLang="en-US" dirty="0"/>
              <a:t>Heading 4</a:t>
            </a:r>
          </a:p>
        </p:txBody>
      </p:sp>
      <p:sp>
        <p:nvSpPr>
          <p:cNvPr id="78852" name="Rectangle 4"/>
          <p:cNvSpPr>
            <a:spLocks noGrp="1" noChangeArrowheads="1"/>
          </p:cNvSpPr>
          <p:nvPr>
            <p:ph type="sldNum" sz="quarter" idx="4"/>
          </p:nvPr>
        </p:nvSpPr>
        <p:spPr bwMode="auto">
          <a:xfrm>
            <a:off x="7086600" y="6248400"/>
            <a:ext cx="20574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sz="4000" b="1" i="1" kern="1200">
          <a:solidFill>
            <a:srgbClr val="640064"/>
          </a:solidFill>
          <a:latin typeface="+mj-lt"/>
          <a:ea typeface="+mj-ea"/>
          <a:cs typeface="+mj-cs"/>
        </a:defRPr>
      </a:lvl1pPr>
      <a:lvl2pPr algn="l" rtl="0" eaLnBrk="0" fontAlgn="base" hangingPunct="0">
        <a:spcBef>
          <a:spcPct val="0"/>
        </a:spcBef>
        <a:spcAft>
          <a:spcPct val="0"/>
        </a:spcAft>
        <a:defRPr sz="4000" b="1" i="1">
          <a:solidFill>
            <a:srgbClr val="640064"/>
          </a:solidFill>
          <a:latin typeface="Arial" panose="020B0604020202020204" pitchFamily="34" charset="0"/>
        </a:defRPr>
      </a:lvl2pPr>
      <a:lvl3pPr algn="l" rtl="0" eaLnBrk="0" fontAlgn="base" hangingPunct="0">
        <a:spcBef>
          <a:spcPct val="0"/>
        </a:spcBef>
        <a:spcAft>
          <a:spcPct val="0"/>
        </a:spcAft>
        <a:defRPr sz="4000" b="1" i="1">
          <a:solidFill>
            <a:srgbClr val="640064"/>
          </a:solidFill>
          <a:latin typeface="Arial" panose="020B0604020202020204" pitchFamily="34" charset="0"/>
        </a:defRPr>
      </a:lvl3pPr>
      <a:lvl4pPr algn="l" rtl="0" eaLnBrk="0" fontAlgn="base" hangingPunct="0">
        <a:spcBef>
          <a:spcPct val="0"/>
        </a:spcBef>
        <a:spcAft>
          <a:spcPct val="0"/>
        </a:spcAft>
        <a:defRPr sz="4000" b="1" i="1">
          <a:solidFill>
            <a:srgbClr val="640064"/>
          </a:solidFill>
          <a:latin typeface="Arial" panose="020B0604020202020204" pitchFamily="34" charset="0"/>
        </a:defRPr>
      </a:lvl4pPr>
      <a:lvl5pPr algn="l" rtl="0" eaLnBrk="0" fontAlgn="base" hangingPunct="0">
        <a:spcBef>
          <a:spcPct val="0"/>
        </a:spcBef>
        <a:spcAft>
          <a:spcPct val="0"/>
        </a:spcAft>
        <a:defRPr sz="4000" b="1" i="1">
          <a:solidFill>
            <a:srgbClr val="640064"/>
          </a:solidFill>
          <a:latin typeface="Arial" panose="020B0604020202020204" pitchFamily="34" charset="0"/>
        </a:defRPr>
      </a:lvl5pPr>
      <a:lvl6pPr marL="457200" algn="l" rtl="0" eaLnBrk="0" fontAlgn="base" hangingPunct="0">
        <a:spcBef>
          <a:spcPct val="0"/>
        </a:spcBef>
        <a:spcAft>
          <a:spcPct val="0"/>
        </a:spcAft>
        <a:defRPr sz="4000" b="1" i="1">
          <a:solidFill>
            <a:srgbClr val="640064"/>
          </a:solidFill>
          <a:latin typeface="Arial" panose="020B0604020202020204" pitchFamily="34" charset="0"/>
        </a:defRPr>
      </a:lvl6pPr>
      <a:lvl7pPr marL="914400" algn="l" rtl="0" eaLnBrk="0" fontAlgn="base" hangingPunct="0">
        <a:spcBef>
          <a:spcPct val="0"/>
        </a:spcBef>
        <a:spcAft>
          <a:spcPct val="0"/>
        </a:spcAft>
        <a:defRPr sz="4000" b="1" i="1">
          <a:solidFill>
            <a:srgbClr val="640064"/>
          </a:solidFill>
          <a:latin typeface="Arial" panose="020B0604020202020204" pitchFamily="34" charset="0"/>
        </a:defRPr>
      </a:lvl7pPr>
      <a:lvl8pPr marL="1371600" algn="l" rtl="0" eaLnBrk="0" fontAlgn="base" hangingPunct="0">
        <a:spcBef>
          <a:spcPct val="0"/>
        </a:spcBef>
        <a:spcAft>
          <a:spcPct val="0"/>
        </a:spcAft>
        <a:defRPr sz="4000" b="1" i="1">
          <a:solidFill>
            <a:srgbClr val="640064"/>
          </a:solidFill>
          <a:latin typeface="Arial" panose="020B0604020202020204" pitchFamily="34" charset="0"/>
        </a:defRPr>
      </a:lvl8pPr>
      <a:lvl9pPr marL="1828800" algn="l" rtl="0" eaLnBrk="0" fontAlgn="base" hangingPunct="0">
        <a:spcBef>
          <a:spcPct val="0"/>
        </a:spcBef>
        <a:spcAft>
          <a:spcPct val="0"/>
        </a:spcAft>
        <a:defRPr sz="4000" b="1" i="1">
          <a:solidFill>
            <a:srgbClr val="640064"/>
          </a:solidFill>
          <a:latin typeface="Arial" panose="020B0604020202020204" pitchFamily="34" charset="0"/>
        </a:defRPr>
      </a:lvl9pPr>
    </p:titleStyle>
    <p:bodyStyle>
      <a:lvl1pPr marL="292100" indent="-292100" algn="l" rtl="0" eaLnBrk="0" fontAlgn="base" hangingPunct="0">
        <a:spcBef>
          <a:spcPct val="20000"/>
        </a:spcBef>
        <a:spcAft>
          <a:spcPct val="0"/>
        </a:spcAft>
        <a:buClr>
          <a:srgbClr val="640064"/>
        </a:buClr>
        <a:buSzPct val="75000"/>
        <a:buFont typeface="Wingdings" panose="05000000000000000000" pitchFamily="2" charset="2"/>
        <a:buChar char="l"/>
        <a:defRPr sz="2800" kern="1200">
          <a:solidFill>
            <a:schemeClr val="tx1"/>
          </a:solidFill>
          <a:latin typeface="+mn-lt"/>
          <a:ea typeface="+mn-ea"/>
          <a:cs typeface="+mn-cs"/>
        </a:defRPr>
      </a:lvl1pPr>
      <a:lvl2pPr marL="863600" indent="-295275" algn="l" rtl="0" eaLnBrk="0" fontAlgn="base" hangingPunct="0">
        <a:spcBef>
          <a:spcPct val="10000"/>
        </a:spcBef>
        <a:spcAft>
          <a:spcPct val="10000"/>
        </a:spcAft>
        <a:buClr>
          <a:srgbClr val="640064"/>
        </a:buClr>
        <a:buSzPct val="75000"/>
        <a:buFont typeface="Wingdings" panose="05000000000000000000" pitchFamily="2" charset="2"/>
        <a:buChar char="l"/>
        <a:defRPr sz="2400" kern="1200">
          <a:solidFill>
            <a:schemeClr val="tx1"/>
          </a:solidFill>
          <a:latin typeface="+mn-lt"/>
          <a:ea typeface="+mn-ea"/>
          <a:cs typeface="+mn-cs"/>
        </a:defRPr>
      </a:lvl2pPr>
      <a:lvl3pPr marL="1435100" indent="-292100" algn="l" rtl="0" eaLnBrk="0" fontAlgn="base" hangingPunct="0">
        <a:spcBef>
          <a:spcPct val="10000"/>
        </a:spcBef>
        <a:spcAft>
          <a:spcPct val="1000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3pPr>
      <a:lvl4pPr marL="2098675" indent="-377825" algn="l" rtl="0" eaLnBrk="0" fontAlgn="base" hangingPunct="0">
        <a:spcBef>
          <a:spcPct val="10000"/>
        </a:spcBef>
        <a:spcAft>
          <a:spcPct val="10000"/>
        </a:spcAft>
        <a:buClr>
          <a:srgbClr val="640064"/>
        </a:buClr>
        <a:buSzPct val="75000"/>
        <a:buFont typeface="Wingdings" panose="05000000000000000000" pitchFamily="2" charset="2"/>
        <a:buChar char="§"/>
        <a:defRPr kern="1200">
          <a:solidFill>
            <a:schemeClr val="tx1"/>
          </a:solidFill>
          <a:latin typeface="+mn-lt"/>
          <a:ea typeface="+mn-ea"/>
          <a:cs typeface="+mn-cs"/>
        </a:defRPr>
      </a:lvl4pPr>
      <a:lvl5pPr marL="2665730" indent="-376555" algn="l" rtl="0" eaLnBrk="0" fontAlgn="base" hangingPunct="0">
        <a:spcBef>
          <a:spcPct val="20000"/>
        </a:spcBef>
        <a:spcAft>
          <a:spcPct val="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FFFF">
            <a:alpha val="50000"/>
          </a:srgbClr>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27075" y="381000"/>
            <a:ext cx="8391525" cy="746125"/>
          </a:xfrm>
          <a:prstGeom prst="rect">
            <a:avLst/>
          </a:prstGeom>
          <a:noFill/>
          <a:ln w="9525">
            <a:noFill/>
          </a:ln>
        </p:spPr>
        <p:txBody>
          <a:bodyPr lIns="92075" tIns="46038" rIns="92075" bIns="46038"/>
          <a:lstStyle/>
          <a:p>
            <a:pPr lvl="0"/>
            <a:r>
              <a:rPr lang="en-GB" altLang="en-US" dirty="0"/>
              <a:t>Title</a:t>
            </a:r>
          </a:p>
        </p:txBody>
      </p:sp>
      <p:sp>
        <p:nvSpPr>
          <p:cNvPr id="1027" name="Rectangle 3"/>
          <p:cNvSpPr>
            <a:spLocks noGrp="1"/>
          </p:cNvSpPr>
          <p:nvPr>
            <p:ph type="body" idx="1"/>
          </p:nvPr>
        </p:nvSpPr>
        <p:spPr>
          <a:xfrm>
            <a:off x="715963" y="1260475"/>
            <a:ext cx="8413750" cy="4767263"/>
          </a:xfrm>
          <a:prstGeom prst="rect">
            <a:avLst/>
          </a:prstGeom>
          <a:noFill/>
          <a:ln w="9525">
            <a:noFill/>
          </a:ln>
        </p:spPr>
        <p:txBody>
          <a:bodyPr lIns="92075" tIns="46038" rIns="92075" bIns="46038"/>
          <a:lstStyle/>
          <a:p>
            <a:pPr lvl="0"/>
            <a:r>
              <a:rPr lang="en-GB" altLang="en-US" dirty="0"/>
              <a:t>Heading 1</a:t>
            </a:r>
          </a:p>
          <a:p>
            <a:pPr lvl="1"/>
            <a:r>
              <a:rPr lang="en-GB" altLang="en-US" dirty="0"/>
              <a:t>Heading 2</a:t>
            </a:r>
          </a:p>
          <a:p>
            <a:pPr lvl="2"/>
            <a:r>
              <a:rPr lang="en-GB" altLang="en-US" dirty="0"/>
              <a:t>Heading 3</a:t>
            </a:r>
          </a:p>
          <a:p>
            <a:pPr lvl="3"/>
            <a:r>
              <a:rPr lang="en-GB" altLang="en-US" dirty="0"/>
              <a:t>Heading 4</a:t>
            </a:r>
          </a:p>
        </p:txBody>
      </p:sp>
      <p:sp>
        <p:nvSpPr>
          <p:cNvPr id="78852" name="Rectangle 4"/>
          <p:cNvSpPr>
            <a:spLocks noGrp="1" noChangeArrowheads="1"/>
          </p:cNvSpPr>
          <p:nvPr>
            <p:ph type="sldNum" sz="quarter" idx="4"/>
          </p:nvPr>
        </p:nvSpPr>
        <p:spPr bwMode="auto">
          <a:xfrm>
            <a:off x="7086600" y="6248400"/>
            <a:ext cx="20574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0" fontAlgn="base" hangingPunct="0">
        <a:spcBef>
          <a:spcPct val="0"/>
        </a:spcBef>
        <a:spcAft>
          <a:spcPct val="0"/>
        </a:spcAft>
        <a:defRPr sz="4000" b="1" i="1" kern="1200">
          <a:solidFill>
            <a:srgbClr val="640064"/>
          </a:solidFill>
          <a:latin typeface="+mj-lt"/>
          <a:ea typeface="+mj-ea"/>
          <a:cs typeface="+mj-cs"/>
        </a:defRPr>
      </a:lvl1pPr>
      <a:lvl2pPr algn="l" rtl="0" eaLnBrk="0" fontAlgn="base" hangingPunct="0">
        <a:spcBef>
          <a:spcPct val="0"/>
        </a:spcBef>
        <a:spcAft>
          <a:spcPct val="0"/>
        </a:spcAft>
        <a:defRPr sz="4000" b="1" i="1">
          <a:solidFill>
            <a:srgbClr val="640064"/>
          </a:solidFill>
          <a:latin typeface="Arial" panose="020B0604020202020204" pitchFamily="34" charset="0"/>
        </a:defRPr>
      </a:lvl2pPr>
      <a:lvl3pPr algn="l" rtl="0" eaLnBrk="0" fontAlgn="base" hangingPunct="0">
        <a:spcBef>
          <a:spcPct val="0"/>
        </a:spcBef>
        <a:spcAft>
          <a:spcPct val="0"/>
        </a:spcAft>
        <a:defRPr sz="4000" b="1" i="1">
          <a:solidFill>
            <a:srgbClr val="640064"/>
          </a:solidFill>
          <a:latin typeface="Arial" panose="020B0604020202020204" pitchFamily="34" charset="0"/>
        </a:defRPr>
      </a:lvl3pPr>
      <a:lvl4pPr algn="l" rtl="0" eaLnBrk="0" fontAlgn="base" hangingPunct="0">
        <a:spcBef>
          <a:spcPct val="0"/>
        </a:spcBef>
        <a:spcAft>
          <a:spcPct val="0"/>
        </a:spcAft>
        <a:defRPr sz="4000" b="1" i="1">
          <a:solidFill>
            <a:srgbClr val="640064"/>
          </a:solidFill>
          <a:latin typeface="Arial" panose="020B0604020202020204" pitchFamily="34" charset="0"/>
        </a:defRPr>
      </a:lvl4pPr>
      <a:lvl5pPr algn="l" rtl="0" eaLnBrk="0" fontAlgn="base" hangingPunct="0">
        <a:spcBef>
          <a:spcPct val="0"/>
        </a:spcBef>
        <a:spcAft>
          <a:spcPct val="0"/>
        </a:spcAft>
        <a:defRPr sz="4000" b="1" i="1">
          <a:solidFill>
            <a:srgbClr val="640064"/>
          </a:solidFill>
          <a:latin typeface="Arial" panose="020B0604020202020204" pitchFamily="34" charset="0"/>
        </a:defRPr>
      </a:lvl5pPr>
      <a:lvl6pPr marL="457200" algn="l" rtl="0" eaLnBrk="0" fontAlgn="base" hangingPunct="0">
        <a:spcBef>
          <a:spcPct val="0"/>
        </a:spcBef>
        <a:spcAft>
          <a:spcPct val="0"/>
        </a:spcAft>
        <a:defRPr sz="4000" b="1" i="1">
          <a:solidFill>
            <a:srgbClr val="640064"/>
          </a:solidFill>
          <a:latin typeface="Arial" panose="020B0604020202020204" pitchFamily="34" charset="0"/>
        </a:defRPr>
      </a:lvl6pPr>
      <a:lvl7pPr marL="914400" algn="l" rtl="0" eaLnBrk="0" fontAlgn="base" hangingPunct="0">
        <a:spcBef>
          <a:spcPct val="0"/>
        </a:spcBef>
        <a:spcAft>
          <a:spcPct val="0"/>
        </a:spcAft>
        <a:defRPr sz="4000" b="1" i="1">
          <a:solidFill>
            <a:srgbClr val="640064"/>
          </a:solidFill>
          <a:latin typeface="Arial" panose="020B0604020202020204" pitchFamily="34" charset="0"/>
        </a:defRPr>
      </a:lvl7pPr>
      <a:lvl8pPr marL="1371600" algn="l" rtl="0" eaLnBrk="0" fontAlgn="base" hangingPunct="0">
        <a:spcBef>
          <a:spcPct val="0"/>
        </a:spcBef>
        <a:spcAft>
          <a:spcPct val="0"/>
        </a:spcAft>
        <a:defRPr sz="4000" b="1" i="1">
          <a:solidFill>
            <a:srgbClr val="640064"/>
          </a:solidFill>
          <a:latin typeface="Arial" panose="020B0604020202020204" pitchFamily="34" charset="0"/>
        </a:defRPr>
      </a:lvl8pPr>
      <a:lvl9pPr marL="1828800" algn="l" rtl="0" eaLnBrk="0" fontAlgn="base" hangingPunct="0">
        <a:spcBef>
          <a:spcPct val="0"/>
        </a:spcBef>
        <a:spcAft>
          <a:spcPct val="0"/>
        </a:spcAft>
        <a:defRPr sz="4000" b="1" i="1">
          <a:solidFill>
            <a:srgbClr val="640064"/>
          </a:solidFill>
          <a:latin typeface="Arial" panose="020B0604020202020204" pitchFamily="34" charset="0"/>
        </a:defRPr>
      </a:lvl9pPr>
    </p:titleStyle>
    <p:bodyStyle>
      <a:lvl1pPr marL="292100" indent="-292100" algn="l" rtl="0" eaLnBrk="0" fontAlgn="base" hangingPunct="0">
        <a:spcBef>
          <a:spcPct val="20000"/>
        </a:spcBef>
        <a:spcAft>
          <a:spcPct val="0"/>
        </a:spcAft>
        <a:buClr>
          <a:srgbClr val="640064"/>
        </a:buClr>
        <a:buSzPct val="75000"/>
        <a:buFont typeface="Wingdings" panose="05000000000000000000" pitchFamily="2" charset="2"/>
        <a:buChar char="l"/>
        <a:defRPr sz="2800" kern="1200">
          <a:solidFill>
            <a:schemeClr val="tx1"/>
          </a:solidFill>
          <a:latin typeface="+mn-lt"/>
          <a:ea typeface="+mn-ea"/>
          <a:cs typeface="+mn-cs"/>
        </a:defRPr>
      </a:lvl1pPr>
      <a:lvl2pPr marL="863600" indent="-295275" algn="l" rtl="0" eaLnBrk="0" fontAlgn="base" hangingPunct="0">
        <a:spcBef>
          <a:spcPct val="10000"/>
        </a:spcBef>
        <a:spcAft>
          <a:spcPct val="10000"/>
        </a:spcAft>
        <a:buClr>
          <a:srgbClr val="640064"/>
        </a:buClr>
        <a:buSzPct val="75000"/>
        <a:buFont typeface="Wingdings" panose="05000000000000000000" pitchFamily="2" charset="2"/>
        <a:buChar char="l"/>
        <a:defRPr sz="2400" kern="1200">
          <a:solidFill>
            <a:schemeClr val="tx1"/>
          </a:solidFill>
          <a:latin typeface="+mn-lt"/>
          <a:ea typeface="+mn-ea"/>
          <a:cs typeface="+mn-cs"/>
        </a:defRPr>
      </a:lvl2pPr>
      <a:lvl3pPr marL="1435100" indent="-292100" algn="l" rtl="0" eaLnBrk="0" fontAlgn="base" hangingPunct="0">
        <a:spcBef>
          <a:spcPct val="10000"/>
        </a:spcBef>
        <a:spcAft>
          <a:spcPct val="1000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3pPr>
      <a:lvl4pPr marL="2098675" indent="-377825" algn="l" rtl="0" eaLnBrk="0" fontAlgn="base" hangingPunct="0">
        <a:spcBef>
          <a:spcPct val="10000"/>
        </a:spcBef>
        <a:spcAft>
          <a:spcPct val="10000"/>
        </a:spcAft>
        <a:buClr>
          <a:srgbClr val="640064"/>
        </a:buClr>
        <a:buSzPct val="75000"/>
        <a:buFont typeface="Wingdings" panose="05000000000000000000" pitchFamily="2" charset="2"/>
        <a:buChar char="§"/>
        <a:defRPr kern="1200">
          <a:solidFill>
            <a:schemeClr val="tx1"/>
          </a:solidFill>
          <a:latin typeface="+mn-lt"/>
          <a:ea typeface="+mn-ea"/>
          <a:cs typeface="+mn-cs"/>
        </a:defRPr>
      </a:lvl4pPr>
      <a:lvl5pPr marL="2665730" indent="-376555" algn="l" rtl="0" eaLnBrk="0" fontAlgn="base" hangingPunct="0">
        <a:spcBef>
          <a:spcPct val="20000"/>
        </a:spcBef>
        <a:spcAft>
          <a:spcPct val="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hyperlink" Target="https://www.w3schools.com/tags/ref_httpmessages.asp"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hyperlink" Target="https://www.w3schools.com/tags/ref_httpmessages.asp" TargetMode="Externa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2C44BD39-B85C-CDA0-3DC5-B6344BA35C10}"/>
              </a:ext>
            </a:extLst>
          </p:cNvPr>
          <p:cNvSpPr txBox="1">
            <a:spLocks noChangeArrowheads="1"/>
          </p:cNvSpPr>
          <p:nvPr/>
        </p:nvSpPr>
        <p:spPr>
          <a:xfrm>
            <a:off x="1280592" y="260648"/>
            <a:ext cx="7620000" cy="5149552"/>
          </a:xfrm>
          <a:prstGeom prst="rect">
            <a:avLst/>
          </a:prstGeom>
          <a:solidFill>
            <a:schemeClr val="accent1">
              <a:lumMod val="20000"/>
              <a:lumOff val="80000"/>
            </a:schemeClr>
          </a:solidFill>
          <a:scene3d>
            <a:camera prst="legacyObliqueBottomLeft"/>
            <a:lightRig rig="legacyFlat3" dir="t"/>
          </a:scene3d>
          <a:sp3d extrusionH="430200" prstMaterial="legacyMatte">
            <a:bevelT w="13500" h="13500" prst="angle"/>
            <a:bevelB w="13500" h="13500" prst="angle"/>
            <a:extrusionClr>
              <a:srgbClr val="40949A"/>
            </a:extrusionClr>
            <a:contourClr>
              <a:srgbClr val="40949A"/>
            </a:contourClr>
          </a:sp3d>
        </p:spPr>
        <p:txBody>
          <a:bodyPr vert="horz" lIns="91440" tIns="45720" rIns="91440" bIns="45720" rtlCol="0" anchor="ctr">
            <a:normAutofit/>
            <a:flatTx/>
          </a:bodyPr>
          <a:lstStyle>
            <a:lvl1pPr algn="ctr" defTabSz="742950" rtl="0" eaLnBrk="1" latinLnBrk="0" hangingPunct="1">
              <a:lnSpc>
                <a:spcPct val="90000"/>
              </a:lnSpc>
              <a:spcBef>
                <a:spcPct val="0"/>
              </a:spcBef>
              <a:buNone/>
              <a:defRPr sz="4875" kern="1200">
                <a:solidFill>
                  <a:schemeClr val="tx1"/>
                </a:solidFill>
                <a:latin typeface="+mj-lt"/>
                <a:ea typeface="+mj-ea"/>
                <a:cs typeface="+mj-cs"/>
              </a:defRPr>
            </a:lvl1pPr>
          </a:lstStyle>
          <a:p>
            <a:pPr fontAlgn="auto">
              <a:spcAft>
                <a:spcPts val="0"/>
              </a:spcAft>
              <a:defRPr/>
            </a:pPr>
            <a:r>
              <a:rPr lang="en-US" altLang="en-US" dirty="0">
                <a:solidFill>
                  <a:srgbClr val="FF0000"/>
                </a:solidFill>
                <a:latin typeface="Times New Roman" panose="02020603050405020304" pitchFamily="18" charset="0"/>
                <a:cs typeface="Times New Roman" panose="02020603050405020304" pitchFamily="18" charset="0"/>
              </a:rPr>
              <a:t>UNIT-4</a:t>
            </a:r>
            <a:r>
              <a:rPr lang="en-US" altLang="en-US" sz="8800" dirty="0">
                <a:solidFill>
                  <a:srgbClr val="FF0000"/>
                </a:solidFill>
                <a:latin typeface="Times New Roman" panose="02020603050405020304" pitchFamily="18" charset="0"/>
                <a:cs typeface="Times New Roman" panose="02020603050405020304" pitchFamily="18" charset="0"/>
              </a:rPr>
              <a:t/>
            </a:r>
            <a:br>
              <a:rPr lang="en-US" altLang="en-US" sz="8800" dirty="0">
                <a:solidFill>
                  <a:srgbClr val="FF0000"/>
                </a:solidFill>
                <a:latin typeface="Times New Roman" panose="02020603050405020304" pitchFamily="18" charset="0"/>
                <a:cs typeface="Times New Roman" panose="02020603050405020304" pitchFamily="18" charset="0"/>
              </a:rPr>
            </a:br>
            <a:r>
              <a:rPr lang="en-US" sz="3200" dirty="0">
                <a:latin typeface="Calibri" panose="020F0502020204030204" pitchFamily="34" charset="0"/>
                <a:ea typeface="Calibri" panose="020F0502020204030204" pitchFamily="34" charset="0"/>
                <a:cs typeface="Calibri" panose="020F0502020204030204" pitchFamily="34" charset="0"/>
              </a:rPr>
              <a:t>XML and AJAX</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PL/SQL: Declaring PL/SQL Variables, Writing Executable Statements, Using SQL Statements Within a PL/SQL XML Basics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Parser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DOM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XPath</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XSL/XSLT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Xquery</a:t>
            </a:r>
            <a:r>
              <a:rPr lang="en-US" sz="3200" dirty="0" smtClean="0">
                <a:latin typeface="Calibri" panose="020F0502020204030204" pitchFamily="34" charset="0"/>
                <a:ea typeface="Calibri" panose="020F0502020204030204" pitchFamily="34" charset="0"/>
                <a:cs typeface="Calibri" panose="020F0502020204030204" pitchFamily="34" charset="0"/>
              </a:rPr>
              <a:t> - </a:t>
            </a:r>
            <a:r>
              <a:rPr lang="en-US" sz="3200" dirty="0">
                <a:latin typeface="Calibri" panose="020F0502020204030204" pitchFamily="34" charset="0"/>
                <a:ea typeface="Calibri" panose="020F0502020204030204" pitchFamily="34" charset="0"/>
                <a:cs typeface="Calibri" panose="020F0502020204030204" pitchFamily="34" charset="0"/>
              </a:rPr>
              <a:t>DTD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Schema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Namespaces. AJAX Basics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Request and Response- AJAX using XML- AJAX using Java Script and </a:t>
            </a:r>
            <a:r>
              <a:rPr lang="en-US" sz="3200" dirty="0" err="1" smtClean="0">
                <a:latin typeface="Calibri" panose="020F0502020204030204" pitchFamily="34" charset="0"/>
                <a:ea typeface="Calibri" panose="020F0502020204030204" pitchFamily="34" charset="0"/>
                <a:cs typeface="Calibri" panose="020F0502020204030204" pitchFamily="34" charset="0"/>
              </a:rPr>
              <a:t>JQuery</a:t>
            </a:r>
            <a:r>
              <a:rPr lang="en-US" sz="3200" dirty="0" smtClean="0">
                <a:latin typeface="Calibri" panose="020F0502020204030204" pitchFamily="34" charset="0"/>
                <a:ea typeface="Calibri" panose="020F0502020204030204" pitchFamily="34" charset="0"/>
                <a:cs typeface="Calibri" panose="020F0502020204030204" pitchFamily="34" charset="0"/>
              </a:rPr>
              <a:t>.</a:t>
            </a:r>
            <a:endParaRPr lang="en-US" altLang="en-US" sz="8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 xmlns:a16="http://schemas.microsoft.com/office/drawing/2014/main" id="{A51BEA54-DCD0-07EC-8EA1-F16DA89E6FFA}"/>
              </a:ext>
            </a:extLst>
          </p:cNvPr>
          <p:cNvSpPr>
            <a:spLocks noGrp="1"/>
          </p:cNvSpPr>
          <p:nvPr>
            <p:ph type="sldNum" sz="quarter" idx="4"/>
          </p:nvPr>
        </p:nvSpPr>
        <p:spPr/>
        <p:txBody>
          <a:bodyPr/>
          <a:lstStyle/>
          <a:p>
            <a:pPr algn="r">
              <a:buNone/>
            </a:pPr>
            <a:fld id="{9A0DB2DC-4C9A-4742-B13C-FB6460FD3503}" type="slidenum">
              <a:rPr lang="en-GB" altLang="en-US" smtClean="0"/>
              <a:pPr algn="r">
                <a:buNone/>
              </a:pPr>
              <a:t>1</a:t>
            </a:fld>
            <a:endParaRPr lang="en-GB"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p:cNvSpPr>
          <p:nvPr>
            <p:ph type="title"/>
          </p:nvPr>
        </p:nvSpPr>
        <p:spPr>
          <a:solidFill>
            <a:srgbClr val="CFE8CC"/>
          </a:solidFill>
        </p:spPr>
        <p:txBody>
          <a:bodyPr vert="horz" lIns="91440" tIns="45720" rIns="91440" bIns="45720" rtlCol="0" anchor="ctr">
            <a:normAutofit/>
          </a:bodyPr>
          <a:lstStyle/>
          <a:p>
            <a:pPr algn="ctr" eaLnBrk="1" hangingPunct="1"/>
            <a:r>
              <a:rPr lang="en-GB" altLang="en-US" sz="3200" dirty="0">
                <a:solidFill>
                  <a:schemeClr val="tx1"/>
                </a:solidFill>
              </a:rPr>
              <a:t>Introduction</a:t>
            </a:r>
          </a:p>
        </p:txBody>
      </p:sp>
      <p:sp>
        <p:nvSpPr>
          <p:cNvPr id="7171" name="Rectangle 5"/>
          <p:cNvSpPr>
            <a:spLocks noGrp="1"/>
          </p:cNvSpPr>
          <p:nvPr>
            <p:ph idx="1"/>
          </p:nvPr>
        </p:nvSpPr>
        <p:spPr>
          <a:xfrm>
            <a:off x="488950" y="1052513"/>
            <a:ext cx="8640763" cy="4975225"/>
          </a:xfrm>
        </p:spPr>
        <p:txBody>
          <a:bodyPr vert="horz" wrap="square" lIns="92075" tIns="46038" rIns="92075" bIns="46038" anchor="t" anchorCtr="0"/>
          <a:lstStyle/>
          <a:p>
            <a:pPr algn="just"/>
            <a:r>
              <a:rPr lang="en-US" altLang="en-US" sz="2600" dirty="0">
                <a:latin typeface="Times New Roman" panose="02020603050405020304" pitchFamily="18" charset="0"/>
                <a:cs typeface="Times New Roman" panose="02020603050405020304" pitchFamily="18" charset="0"/>
              </a:rPr>
              <a:t>PL/SQL is a block structured language that can have multiple blocks in it.</a:t>
            </a:r>
          </a:p>
          <a:p>
            <a:pPr algn="just"/>
            <a:r>
              <a:rPr lang="en-US" altLang="en-US" sz="2600" dirty="0">
                <a:highlight>
                  <a:srgbClr val="FFFF00"/>
                </a:highlight>
                <a:latin typeface="Times New Roman" panose="02020603050405020304" pitchFamily="18" charset="0"/>
                <a:cs typeface="Times New Roman" panose="02020603050405020304" pitchFamily="18" charset="0"/>
              </a:rPr>
              <a:t>The PL/SQL programming language was developed by Oracle Corporation in the late 1980s as procedural extension language for SQL and the Oracle relational database.</a:t>
            </a:r>
          </a:p>
          <a:p>
            <a:pPr algn="just"/>
            <a:r>
              <a:rPr lang="en-US" altLang="en-US" sz="2600" dirty="0">
                <a:highlight>
                  <a:srgbClr val="FF00FF"/>
                </a:highlight>
                <a:latin typeface="Times New Roman" panose="02020603050405020304" pitchFamily="18" charset="0"/>
                <a:cs typeface="Times New Roman" panose="02020603050405020304" pitchFamily="18" charset="0"/>
              </a:rPr>
              <a:t>SQL stands for Structured Query Language</a:t>
            </a:r>
            <a:r>
              <a:rPr lang="en-US" altLang="en-US" sz="2600" dirty="0">
                <a:latin typeface="Times New Roman" panose="02020603050405020304" pitchFamily="18" charset="0"/>
                <a:cs typeface="Times New Roman" panose="02020603050405020304" pitchFamily="18" charset="0"/>
              </a:rPr>
              <a:t> i.e. used to perform operations on the records stored in database such as inserting records, updating records, deleting records, creating, modifying and dropping tables, views etc.</a:t>
            </a:r>
          </a:p>
          <a:p>
            <a:pPr algn="just"/>
            <a:r>
              <a:rPr lang="en-US" altLang="en-US" sz="2600" dirty="0">
                <a:solidFill>
                  <a:srgbClr val="333333"/>
                </a:solidFill>
                <a:latin typeface="Times New Roman" panose="02020603050405020304" pitchFamily="18" charset="0"/>
                <a:cs typeface="Times New Roman" panose="02020603050405020304" pitchFamily="18" charset="0"/>
              </a:rPr>
              <a:t>The programs of PL/SQL are logical blocks that can contain any number of nested sub-blocks</a:t>
            </a:r>
            <a:endParaRPr lang="en-GB" altLang="en-US" sz="2600" dirty="0">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D52D7290-1163-167C-A3CB-ABA2BADE082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2"/>
          <p:cNvPicPr/>
          <p:nvPr/>
        </p:nvPicPr>
        <p:blipFill rotWithShape="1">
          <a:blip r:embed="rId2" cstate="print"/>
          <a:srcRect l="7406" t="55598" r="434" b="11814"/>
          <a:stretch>
            <a:fillRect/>
          </a:stretch>
        </p:blipFill>
        <p:spPr>
          <a:xfrm>
            <a:off x="360045" y="515451"/>
            <a:ext cx="8866505" cy="5937885"/>
          </a:xfrm>
          <a:prstGeom prst="rect">
            <a:avLst/>
          </a:prstGeom>
        </p:spPr>
      </p:pic>
      <p:sp>
        <p:nvSpPr>
          <p:cNvPr id="2" name="Slide Number Placeholder 1">
            <a:extLst>
              <a:ext uri="{FF2B5EF4-FFF2-40B4-BE49-F238E27FC236}">
                <a16:creationId xmlns="" xmlns:a16="http://schemas.microsoft.com/office/drawing/2014/main" id="{9AC0A1DC-85EF-044D-FA5E-03E9CDD217C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10703"/>
          <a:stretch>
            <a:fillRect/>
          </a:stretch>
        </p:blipFill>
        <p:spPr>
          <a:xfrm>
            <a:off x="57785" y="93345"/>
            <a:ext cx="9754870" cy="6501765"/>
          </a:xfrm>
          <a:prstGeom prst="rect">
            <a:avLst/>
          </a:prstGeom>
        </p:spPr>
      </p:pic>
      <p:sp>
        <p:nvSpPr>
          <p:cNvPr id="3" name="Slide Number Placeholder 2">
            <a:extLst>
              <a:ext uri="{FF2B5EF4-FFF2-40B4-BE49-F238E27FC236}">
                <a16:creationId xmlns="" xmlns:a16="http://schemas.microsoft.com/office/drawing/2014/main" id="{D44D0315-D4C5-9E5B-989A-5D5D7041D8F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10903"/>
          <a:stretch>
            <a:fillRect/>
          </a:stretch>
        </p:blipFill>
        <p:spPr>
          <a:xfrm>
            <a:off x="200025" y="116632"/>
            <a:ext cx="9347835" cy="6146373"/>
          </a:xfrm>
          <a:prstGeom prst="rect">
            <a:avLst/>
          </a:prstGeom>
        </p:spPr>
      </p:pic>
      <p:sp>
        <p:nvSpPr>
          <p:cNvPr id="3" name="Slide Number Placeholder 2">
            <a:extLst>
              <a:ext uri="{FF2B5EF4-FFF2-40B4-BE49-F238E27FC236}">
                <a16:creationId xmlns="" xmlns:a16="http://schemas.microsoft.com/office/drawing/2014/main" id="{4FE1266B-44FB-1A7F-1063-F8B53C8973A8}"/>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099"/>
          <a:stretch>
            <a:fillRect/>
          </a:stretch>
        </p:blipFill>
        <p:spPr>
          <a:xfrm>
            <a:off x="376218" y="573891"/>
            <a:ext cx="9153565" cy="5712318"/>
          </a:xfrm>
          <a:prstGeom prst="rect">
            <a:avLst/>
          </a:prstGeom>
        </p:spPr>
      </p:pic>
      <p:sp>
        <p:nvSpPr>
          <p:cNvPr id="3" name="Slide Number Placeholder 2">
            <a:extLst>
              <a:ext uri="{FF2B5EF4-FFF2-40B4-BE49-F238E27FC236}">
                <a16:creationId xmlns="" xmlns:a16="http://schemas.microsoft.com/office/drawing/2014/main" id="{B0AF7CAC-7ABC-8232-9189-DF08F3424D0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vert="horz" wrap="square" lIns="92075" tIns="46038" rIns="92075" bIns="46038" anchor="t" anchorCtr="0"/>
          <a:lstStyle/>
          <a:p>
            <a:r>
              <a:rPr lang="en-US" altLang="en-US" dirty="0"/>
              <a:t>PL/SQL Advantages</a:t>
            </a:r>
            <a:br>
              <a:rPr lang="en-US" altLang="en-US" dirty="0"/>
            </a:br>
            <a:endParaRPr lang="en-US" altLang="en-US" dirty="0">
              <a:solidFill>
                <a:srgbClr val="C00000"/>
              </a:solidFill>
            </a:endParaRPr>
          </a:p>
        </p:txBody>
      </p:sp>
      <p:sp>
        <p:nvSpPr>
          <p:cNvPr id="3" name="Content Placeholder 2"/>
          <p:cNvSpPr>
            <a:spLocks noGrp="1"/>
          </p:cNvSpPr>
          <p:nvPr>
            <p:ph idx="1"/>
          </p:nvPr>
        </p:nvSpPr>
        <p:spPr>
          <a:xfrm>
            <a:off x="200025" y="1197546"/>
            <a:ext cx="8929688" cy="4679726"/>
          </a:xfrm>
        </p:spPr>
        <p:txBody>
          <a:bodyPr vert="horz" wrap="square" lIns="92075" tIns="46038" rIns="92075" bIns="46038" numCol="1" anchor="t" anchorCtr="0" compatLnSpc="1"/>
          <a:lstStyle/>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Applications written in PL/SQL are fully portable.</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PL/SQL provides high security level.</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PL/SQL provides access to predefined SQL packages.</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PL/SQL provides support for Object-Oriented Programming.</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mn-ea"/>
                <a:cs typeface="Times New Roman" panose="02020603050405020304" pitchFamily="18" charset="0"/>
              </a:rPr>
              <a:t>PL/SQL provides support for developing Web Applications and Server Pages.</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PL/SQL saves time on design and debugging by strong features, such as exception handling, encapsulation, data hiding, and object-oriented data types.</a:t>
            </a:r>
            <a:endParaRPr kumimoji="0" lang="en-IN"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 name="Slide Number Placeholder 4"/>
          <p:cNvSpPr txBox="1">
            <a:spLocks noGrp="1"/>
          </p:cNvSpPr>
          <p:nvPr>
            <p:ph type="sldNum" sz="quarter" idx="10"/>
          </p:nvPr>
        </p:nvSpPr>
        <p:spPr bwMode="auto">
          <a:xfrm>
            <a:off x="0" y="1271588"/>
            <a:ext cx="533400" cy="244475"/>
          </a:xfrm>
        </p:spPr>
        <p:txBody>
          <a:bodyPr vert="horz" wrap="none" lIns="92075" tIns="46038" rIns="92075" bIns="46038" numCol="1" anchor="ctr" anchorCtr="0" compatLnSpc="1"/>
          <a:lstStyle/>
          <a:p>
            <a:pPr marL="0" indent="0" algn="ctr" eaLnBrk="1" hangingPunct="1">
              <a:lnSpc>
                <a:spcPct val="80000"/>
              </a:lnSpc>
              <a:spcBef>
                <a:spcPct val="0"/>
              </a:spcBef>
              <a:buClrTx/>
              <a:buSzTx/>
              <a:buFontTx/>
              <a:buNone/>
            </a:pPr>
            <a:fld id="{9A0DB2DC-4C9A-4742-B13C-FB6460FD3503}" type="slidenum">
              <a:rPr lang="en-US" altLang="x-none" sz="1200" b="1" dirty="0">
                <a:solidFill>
                  <a:srgbClr val="FFFFFF"/>
                </a:solidFill>
              </a:rPr>
              <a:pPr marL="0" indent="0" algn="ctr" eaLnBrk="1" hangingPunct="1">
                <a:lnSpc>
                  <a:spcPct val="80000"/>
                </a:lnSpc>
                <a:spcBef>
                  <a:spcPct val="0"/>
                </a:spcBef>
                <a:buClrTx/>
                <a:buSzTx/>
                <a:buFontTx/>
                <a:buNone/>
              </a:pPr>
              <a:t>7</a:t>
            </a:fld>
            <a:endParaRPr lang="en-US" altLang="x-none" sz="1200" b="1" dirty="0">
              <a:solidFill>
                <a:srgbClr val="FFFFF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10101"/>
          <a:stretch>
            <a:fillRect/>
          </a:stretch>
        </p:blipFill>
        <p:spPr>
          <a:xfrm>
            <a:off x="325755" y="241300"/>
            <a:ext cx="9203690" cy="5982335"/>
          </a:xfrm>
          <a:prstGeom prst="rect">
            <a:avLst/>
          </a:prstGeom>
        </p:spPr>
      </p:pic>
      <p:sp>
        <p:nvSpPr>
          <p:cNvPr id="3" name="Slide Number Placeholder 2">
            <a:extLst>
              <a:ext uri="{FF2B5EF4-FFF2-40B4-BE49-F238E27FC236}">
                <a16:creationId xmlns="" xmlns:a16="http://schemas.microsoft.com/office/drawing/2014/main" id="{2BD4CD28-9B82-F6C5-0A29-FC9FB3F68758}"/>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5170" y="676910"/>
            <a:ext cx="8474710" cy="5521325"/>
          </a:xfrm>
          <a:prstGeom prst="rect">
            <a:avLst/>
          </a:prstGeom>
        </p:spPr>
      </p:pic>
      <p:sp>
        <p:nvSpPr>
          <p:cNvPr id="3" name="Slide Number Placeholder 2">
            <a:extLst>
              <a:ext uri="{FF2B5EF4-FFF2-40B4-BE49-F238E27FC236}">
                <a16:creationId xmlns="" xmlns:a16="http://schemas.microsoft.com/office/drawing/2014/main" id="{5B62E48C-E9BC-1909-B683-5E589F482AE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8213"/>
          <a:stretch>
            <a:fillRect/>
          </a:stretch>
        </p:blipFill>
        <p:spPr>
          <a:xfrm>
            <a:off x="383540" y="301625"/>
            <a:ext cx="9145905" cy="6040120"/>
          </a:xfrm>
          <a:prstGeom prst="rect">
            <a:avLst/>
          </a:prstGeom>
        </p:spPr>
      </p:pic>
      <p:sp>
        <p:nvSpPr>
          <p:cNvPr id="3" name="Slide Number Placeholder 2">
            <a:extLst>
              <a:ext uri="{FF2B5EF4-FFF2-40B4-BE49-F238E27FC236}">
                <a16:creationId xmlns="" xmlns:a16="http://schemas.microsoft.com/office/drawing/2014/main" id="{83ACFA79-D103-4EF1-3DE8-EF202E15068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8837"/>
          <a:stretch>
            <a:fillRect/>
          </a:stretch>
        </p:blipFill>
        <p:spPr>
          <a:xfrm>
            <a:off x="354330" y="271145"/>
            <a:ext cx="9175115" cy="6031865"/>
          </a:xfrm>
          <a:prstGeom prst="rect">
            <a:avLst/>
          </a:prstGeom>
        </p:spPr>
      </p:pic>
      <p:sp>
        <p:nvSpPr>
          <p:cNvPr id="3" name="Slide Number Placeholder 2">
            <a:extLst>
              <a:ext uri="{FF2B5EF4-FFF2-40B4-BE49-F238E27FC236}">
                <a16:creationId xmlns="" xmlns:a16="http://schemas.microsoft.com/office/drawing/2014/main" id="{AAC07A8B-F344-7EF7-D86E-B13592B0B623}"/>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11</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462"/>
          <a:stretch>
            <a:fillRect/>
          </a:stretch>
        </p:blipFill>
        <p:spPr>
          <a:xfrm>
            <a:off x="376218" y="573891"/>
            <a:ext cx="9153565" cy="5689513"/>
          </a:xfrm>
          <a:prstGeom prst="rect">
            <a:avLst/>
          </a:prstGeom>
        </p:spPr>
      </p:pic>
      <p:sp>
        <p:nvSpPr>
          <p:cNvPr id="3" name="Slide Number Placeholder 2">
            <a:extLst>
              <a:ext uri="{FF2B5EF4-FFF2-40B4-BE49-F238E27FC236}">
                <a16:creationId xmlns="" xmlns:a16="http://schemas.microsoft.com/office/drawing/2014/main" id="{4FA9E71C-4FC9-B59A-F8F1-A8FAD197AC1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462"/>
          <a:stretch>
            <a:fillRect/>
          </a:stretch>
        </p:blipFill>
        <p:spPr>
          <a:xfrm>
            <a:off x="376218" y="573891"/>
            <a:ext cx="9153565" cy="5689513"/>
          </a:xfrm>
          <a:prstGeom prst="rect">
            <a:avLst/>
          </a:prstGeom>
        </p:spPr>
      </p:pic>
      <p:sp>
        <p:nvSpPr>
          <p:cNvPr id="3" name="Slide Number Placeholder 2">
            <a:extLst>
              <a:ext uri="{FF2B5EF4-FFF2-40B4-BE49-F238E27FC236}">
                <a16:creationId xmlns="" xmlns:a16="http://schemas.microsoft.com/office/drawing/2014/main" id="{468F9DBB-1E7A-11C8-A397-A3407994926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3" cstate="print"/>
          <a:srcRect b="57945"/>
          <a:stretch>
            <a:fillRect/>
          </a:stretch>
        </p:blipFill>
        <p:spPr>
          <a:xfrm>
            <a:off x="376218" y="573892"/>
            <a:ext cx="9153565" cy="2642805"/>
          </a:xfrm>
          <a:prstGeom prst="rect">
            <a:avLst/>
          </a:prstGeom>
        </p:spPr>
      </p:pic>
      <p:sp>
        <p:nvSpPr>
          <p:cNvPr id="3" name="Slide Number Placeholder 2">
            <a:extLst>
              <a:ext uri="{FF2B5EF4-FFF2-40B4-BE49-F238E27FC236}">
                <a16:creationId xmlns="" xmlns:a16="http://schemas.microsoft.com/office/drawing/2014/main" id="{F7D67B17-A3F6-E165-EDED-C00BFD01D15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12791"/>
          <a:stretch>
            <a:fillRect/>
          </a:stretch>
        </p:blipFill>
        <p:spPr>
          <a:xfrm>
            <a:off x="376218" y="573891"/>
            <a:ext cx="9153565" cy="5480297"/>
          </a:xfrm>
          <a:prstGeom prst="rect">
            <a:avLst/>
          </a:prstGeom>
        </p:spPr>
      </p:pic>
      <p:sp>
        <p:nvSpPr>
          <p:cNvPr id="3" name="Slide Number Placeholder 2">
            <a:extLst>
              <a:ext uri="{FF2B5EF4-FFF2-40B4-BE49-F238E27FC236}">
                <a16:creationId xmlns="" xmlns:a16="http://schemas.microsoft.com/office/drawing/2014/main" id="{0D755FEA-E810-726D-D77C-76AF25672AC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878"/>
          <a:stretch>
            <a:fillRect/>
          </a:stretch>
        </p:blipFill>
        <p:spPr>
          <a:xfrm>
            <a:off x="376218" y="573891"/>
            <a:ext cx="9153565" cy="5663362"/>
          </a:xfrm>
          <a:prstGeom prst="rect">
            <a:avLst/>
          </a:prstGeom>
        </p:spPr>
      </p:pic>
      <p:sp>
        <p:nvSpPr>
          <p:cNvPr id="3" name="Slide Number Placeholder 2">
            <a:extLst>
              <a:ext uri="{FF2B5EF4-FFF2-40B4-BE49-F238E27FC236}">
                <a16:creationId xmlns="" xmlns:a16="http://schemas.microsoft.com/office/drawing/2014/main" id="{D4510A89-4356-C838-4788-D92EFE9F75E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878"/>
          <a:stretch>
            <a:fillRect/>
          </a:stretch>
        </p:blipFill>
        <p:spPr>
          <a:xfrm>
            <a:off x="253365" y="214630"/>
            <a:ext cx="9276080" cy="6257290"/>
          </a:xfrm>
          <a:prstGeom prst="rect">
            <a:avLst/>
          </a:prstGeom>
        </p:spPr>
      </p:pic>
      <p:sp>
        <p:nvSpPr>
          <p:cNvPr id="3" name="Slide Number Placeholder 2">
            <a:extLst>
              <a:ext uri="{FF2B5EF4-FFF2-40B4-BE49-F238E27FC236}">
                <a16:creationId xmlns="" xmlns:a16="http://schemas.microsoft.com/office/drawing/2014/main" id="{EC5DFF84-4C35-6018-87FC-EA05912692DA}"/>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17</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8837"/>
          <a:stretch>
            <a:fillRect/>
          </a:stretch>
        </p:blipFill>
        <p:spPr>
          <a:xfrm>
            <a:off x="376218" y="573891"/>
            <a:ext cx="9153565" cy="5728741"/>
          </a:xfrm>
          <a:prstGeom prst="rect">
            <a:avLst/>
          </a:prstGeom>
        </p:spPr>
      </p:pic>
      <p:sp>
        <p:nvSpPr>
          <p:cNvPr id="3" name="Slide Number Placeholder 2">
            <a:extLst>
              <a:ext uri="{FF2B5EF4-FFF2-40B4-BE49-F238E27FC236}">
                <a16:creationId xmlns="" xmlns:a16="http://schemas.microsoft.com/office/drawing/2014/main" id="{CDD28CB9-B76E-F2D2-5B61-3C0BB690C30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878"/>
          <a:stretch>
            <a:fillRect/>
          </a:stretch>
        </p:blipFill>
        <p:spPr>
          <a:xfrm>
            <a:off x="376218" y="573891"/>
            <a:ext cx="9153565" cy="5663362"/>
          </a:xfrm>
          <a:prstGeom prst="rect">
            <a:avLst/>
          </a:prstGeom>
        </p:spPr>
      </p:pic>
      <p:sp>
        <p:nvSpPr>
          <p:cNvPr id="3" name="Slide Number Placeholder 2">
            <a:extLst>
              <a:ext uri="{FF2B5EF4-FFF2-40B4-BE49-F238E27FC236}">
                <a16:creationId xmlns="" xmlns:a16="http://schemas.microsoft.com/office/drawing/2014/main" id="{80C9185D-7674-DA3B-FD08-69DDDE49474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462"/>
          <a:stretch>
            <a:fillRect/>
          </a:stretch>
        </p:blipFill>
        <p:spPr>
          <a:xfrm>
            <a:off x="376218" y="573891"/>
            <a:ext cx="9153565" cy="5689513"/>
          </a:xfrm>
          <a:prstGeom prst="rect">
            <a:avLst/>
          </a:prstGeom>
        </p:spPr>
      </p:pic>
      <p:sp>
        <p:nvSpPr>
          <p:cNvPr id="3" name="Slide Number Placeholder 2">
            <a:extLst>
              <a:ext uri="{FF2B5EF4-FFF2-40B4-BE49-F238E27FC236}">
                <a16:creationId xmlns="" xmlns:a16="http://schemas.microsoft.com/office/drawing/2014/main" id="{7F42A92E-BD22-F7D8-D825-41A72D9FD26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10087"/>
          <a:stretch>
            <a:fillRect/>
          </a:stretch>
        </p:blipFill>
        <p:spPr>
          <a:xfrm>
            <a:off x="376218" y="573891"/>
            <a:ext cx="9153565" cy="5650285"/>
          </a:xfrm>
          <a:prstGeom prst="rect">
            <a:avLst/>
          </a:prstGeom>
        </p:spPr>
      </p:pic>
      <p:sp>
        <p:nvSpPr>
          <p:cNvPr id="3" name="Slide Number Placeholder 2">
            <a:extLst>
              <a:ext uri="{FF2B5EF4-FFF2-40B4-BE49-F238E27FC236}">
                <a16:creationId xmlns="" xmlns:a16="http://schemas.microsoft.com/office/drawing/2014/main" id="{D3F7D026-B181-2E21-7697-B58F36EE253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21</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878"/>
          <a:stretch>
            <a:fillRect/>
          </a:stretch>
        </p:blipFill>
        <p:spPr>
          <a:xfrm>
            <a:off x="376218" y="573891"/>
            <a:ext cx="9153565" cy="5663362"/>
          </a:xfrm>
          <a:prstGeom prst="rect">
            <a:avLst/>
          </a:prstGeom>
        </p:spPr>
      </p:pic>
      <p:sp>
        <p:nvSpPr>
          <p:cNvPr id="3" name="Slide Number Placeholder 2">
            <a:extLst>
              <a:ext uri="{FF2B5EF4-FFF2-40B4-BE49-F238E27FC236}">
                <a16:creationId xmlns="" xmlns:a16="http://schemas.microsoft.com/office/drawing/2014/main" id="{9697595C-AB80-12B0-6C85-FE5CCBDC24D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462"/>
          <a:stretch>
            <a:fillRect/>
          </a:stretch>
        </p:blipFill>
        <p:spPr>
          <a:xfrm>
            <a:off x="376218" y="588238"/>
            <a:ext cx="9153565" cy="5689513"/>
          </a:xfrm>
          <a:prstGeom prst="rect">
            <a:avLst/>
          </a:prstGeom>
        </p:spPr>
      </p:pic>
      <p:sp>
        <p:nvSpPr>
          <p:cNvPr id="3" name="Slide Number Placeholder 2">
            <a:extLst>
              <a:ext uri="{FF2B5EF4-FFF2-40B4-BE49-F238E27FC236}">
                <a16:creationId xmlns="" xmlns:a16="http://schemas.microsoft.com/office/drawing/2014/main" id="{2F11AFEA-9FE6-3BCD-2BF7-216812307CA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254"/>
          <a:stretch>
            <a:fillRect/>
          </a:stretch>
        </p:blipFill>
        <p:spPr>
          <a:xfrm>
            <a:off x="376218" y="573891"/>
            <a:ext cx="9153565" cy="5702590"/>
          </a:xfrm>
          <a:prstGeom prst="rect">
            <a:avLst/>
          </a:prstGeom>
        </p:spPr>
      </p:pic>
      <p:sp>
        <p:nvSpPr>
          <p:cNvPr id="3" name="Slide Number Placeholder 2">
            <a:extLst>
              <a:ext uri="{FF2B5EF4-FFF2-40B4-BE49-F238E27FC236}">
                <a16:creationId xmlns="" xmlns:a16="http://schemas.microsoft.com/office/drawing/2014/main" id="{658BF4A7-5C98-7128-766F-996AAC55033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7381"/>
          <a:stretch>
            <a:fillRect/>
          </a:stretch>
        </p:blipFill>
        <p:spPr>
          <a:xfrm>
            <a:off x="376218" y="573891"/>
            <a:ext cx="9153565" cy="5820274"/>
          </a:xfrm>
          <a:prstGeom prst="rect">
            <a:avLst/>
          </a:prstGeom>
        </p:spPr>
      </p:pic>
      <p:sp>
        <p:nvSpPr>
          <p:cNvPr id="3" name="Slide Number Placeholder 2">
            <a:extLst>
              <a:ext uri="{FF2B5EF4-FFF2-40B4-BE49-F238E27FC236}">
                <a16:creationId xmlns="" xmlns:a16="http://schemas.microsoft.com/office/drawing/2014/main" id="{1A86A26A-D63C-7094-110B-D79A2006CEF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046"/>
          <a:stretch>
            <a:fillRect/>
          </a:stretch>
        </p:blipFill>
        <p:spPr>
          <a:xfrm>
            <a:off x="376218" y="573891"/>
            <a:ext cx="9153565" cy="5715666"/>
          </a:xfrm>
          <a:prstGeom prst="rect">
            <a:avLst/>
          </a:prstGeom>
        </p:spPr>
      </p:pic>
      <p:sp>
        <p:nvSpPr>
          <p:cNvPr id="3" name="Slide Number Placeholder 2">
            <a:extLst>
              <a:ext uri="{FF2B5EF4-FFF2-40B4-BE49-F238E27FC236}">
                <a16:creationId xmlns="" xmlns:a16="http://schemas.microsoft.com/office/drawing/2014/main" id="{4476A296-0A7D-8776-CC68-A78FC33A8C2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878"/>
          <a:stretch>
            <a:fillRect/>
          </a:stretch>
        </p:blipFill>
        <p:spPr>
          <a:xfrm>
            <a:off x="376218" y="573891"/>
            <a:ext cx="9153565" cy="5663362"/>
          </a:xfrm>
          <a:prstGeom prst="rect">
            <a:avLst/>
          </a:prstGeom>
        </p:spPr>
      </p:pic>
      <p:sp>
        <p:nvSpPr>
          <p:cNvPr id="3" name="Slide Number Placeholder 2">
            <a:extLst>
              <a:ext uri="{FF2B5EF4-FFF2-40B4-BE49-F238E27FC236}">
                <a16:creationId xmlns="" xmlns:a16="http://schemas.microsoft.com/office/drawing/2014/main" id="{4F5E7232-8DE9-066F-3AE5-338566FEB79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27</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7589"/>
          <a:stretch>
            <a:fillRect/>
          </a:stretch>
        </p:blipFill>
        <p:spPr>
          <a:xfrm>
            <a:off x="376218" y="573891"/>
            <a:ext cx="9153565" cy="5807198"/>
          </a:xfrm>
          <a:prstGeom prst="rect">
            <a:avLst/>
          </a:prstGeom>
        </p:spPr>
      </p:pic>
      <p:sp>
        <p:nvSpPr>
          <p:cNvPr id="3" name="Slide Number Placeholder 2">
            <a:extLst>
              <a:ext uri="{FF2B5EF4-FFF2-40B4-BE49-F238E27FC236}">
                <a16:creationId xmlns="" xmlns:a16="http://schemas.microsoft.com/office/drawing/2014/main" id="{3A175CA5-9D34-7B0C-319F-E45F413BF04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p:cNvSpPr>
          <p:nvPr>
            <p:ph type="title"/>
          </p:nvPr>
        </p:nvSpPr>
        <p:spPr/>
        <p:txBody>
          <a:bodyPr vert="horz" wrap="square" lIns="92075" tIns="46038" rIns="92075" bIns="46038" anchor="t" anchorCtr="0"/>
          <a:lstStyle/>
          <a:p>
            <a:r>
              <a:rPr lang="en-GB" altLang="en-US" dirty="0"/>
              <a:t>PL/SQL  EXIT(LOOP)</a:t>
            </a:r>
          </a:p>
        </p:txBody>
      </p:sp>
      <p:sp>
        <p:nvSpPr>
          <p:cNvPr id="14339" name="Rectangle 5"/>
          <p:cNvSpPr>
            <a:spLocks noGrp="1"/>
          </p:cNvSpPr>
          <p:nvPr>
            <p:ph idx="1"/>
          </p:nvPr>
        </p:nvSpPr>
        <p:spPr>
          <a:xfrm>
            <a:off x="631825" y="908050"/>
            <a:ext cx="8497888" cy="5119688"/>
          </a:xfrm>
        </p:spPr>
        <p:txBody>
          <a:bodyPr vert="horz" wrap="square" lIns="92075" tIns="46038" rIns="92075" bIns="46038" anchor="t" anchorCtr="0"/>
          <a:lstStyle/>
          <a:p>
            <a:pPr algn="just">
              <a:buFont typeface="Arial" panose="020B0604020202020204" pitchFamily="34" charset="0"/>
              <a:buAutoNum type="arabicPeriod"/>
            </a:pPr>
            <a:r>
              <a:rPr lang="da-DK" altLang="en-US" sz="2000" b="1" dirty="0">
                <a:solidFill>
                  <a:srgbClr val="006699"/>
                </a:solidFill>
                <a:latin typeface="Times New Roman" panose="02020603050405020304" pitchFamily="18" charset="0"/>
                <a:cs typeface="Times New Roman" panose="02020603050405020304" pitchFamily="18" charset="0"/>
              </a:rPr>
              <a:t>DECLARE</a:t>
            </a:r>
            <a:r>
              <a:rPr lang="da-DK" altLang="en-US" sz="2000" dirty="0">
                <a:solidFill>
                  <a:srgbClr val="000000"/>
                </a:solidFill>
                <a:latin typeface="Times New Roman" panose="02020603050405020304" pitchFamily="18" charset="0"/>
                <a:cs typeface="Times New Roman" panose="02020603050405020304" pitchFamily="18" charset="0"/>
              </a:rPr>
              <a:t>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VAR1 NUMBER;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VAR2 NUMBER;  </a:t>
            </a:r>
          </a:p>
          <a:p>
            <a:pPr algn="just">
              <a:buFont typeface="Arial" panose="020B0604020202020204" pitchFamily="34" charset="0"/>
              <a:buAutoNum type="arabicPeriod"/>
            </a:pPr>
            <a:r>
              <a:rPr lang="da-DK" altLang="en-US" sz="2000" b="1" dirty="0">
                <a:solidFill>
                  <a:srgbClr val="006699"/>
                </a:solidFill>
                <a:latin typeface="Times New Roman" panose="02020603050405020304" pitchFamily="18" charset="0"/>
                <a:cs typeface="Times New Roman" panose="02020603050405020304" pitchFamily="18" charset="0"/>
              </a:rPr>
              <a:t>BEGIN</a:t>
            </a:r>
            <a:r>
              <a:rPr lang="da-DK" altLang="en-US" sz="2000" dirty="0">
                <a:solidFill>
                  <a:srgbClr val="000000"/>
                </a:solidFill>
                <a:latin typeface="Times New Roman" panose="02020603050405020304" pitchFamily="18" charset="0"/>
                <a:cs typeface="Times New Roman" panose="02020603050405020304" pitchFamily="18" charset="0"/>
              </a:rPr>
              <a:t>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VAR1:=100;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VAR2:=1;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LOOP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DBMS_OUTPUT.PUT_LINE (VAR1*VAR2);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IF (VAR2=10) </a:t>
            </a:r>
            <a:r>
              <a:rPr lang="da-DK" altLang="en-US" sz="2000" b="1" dirty="0">
                <a:solidFill>
                  <a:srgbClr val="006699"/>
                </a:solidFill>
                <a:latin typeface="Times New Roman" panose="02020603050405020304" pitchFamily="18" charset="0"/>
                <a:cs typeface="Times New Roman" panose="02020603050405020304" pitchFamily="18" charset="0"/>
              </a:rPr>
              <a:t>THEN</a:t>
            </a:r>
            <a:r>
              <a:rPr lang="da-DK" altLang="en-US" sz="2000" dirty="0">
                <a:solidFill>
                  <a:srgbClr val="000000"/>
                </a:solidFill>
                <a:latin typeface="Times New Roman" panose="02020603050405020304" pitchFamily="18" charset="0"/>
                <a:cs typeface="Times New Roman" panose="02020603050405020304" pitchFamily="18" charset="0"/>
              </a:rPr>
              <a:t>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EXIT;  </a:t>
            </a:r>
          </a:p>
          <a:p>
            <a:pPr algn="just">
              <a:buFont typeface="Arial" panose="020B0604020202020204" pitchFamily="34" charset="0"/>
              <a:buAutoNum type="arabicPeriod"/>
            </a:pPr>
            <a:r>
              <a:rPr lang="da-DK" altLang="en-US" sz="2000" b="1" dirty="0">
                <a:solidFill>
                  <a:srgbClr val="006699"/>
                </a:solidFill>
                <a:latin typeface="Times New Roman" panose="02020603050405020304" pitchFamily="18" charset="0"/>
                <a:cs typeface="Times New Roman" panose="02020603050405020304" pitchFamily="18" charset="0"/>
              </a:rPr>
              <a:t>END</a:t>
            </a:r>
            <a:r>
              <a:rPr lang="da-DK" altLang="en-US" sz="2000" dirty="0">
                <a:solidFill>
                  <a:srgbClr val="000000"/>
                </a:solidFill>
                <a:latin typeface="Times New Roman" panose="02020603050405020304" pitchFamily="18" charset="0"/>
                <a:cs typeface="Times New Roman" panose="02020603050405020304" pitchFamily="18" charset="0"/>
              </a:rPr>
              <a:t> IF;  </a:t>
            </a:r>
          </a:p>
          <a:p>
            <a:pPr algn="just">
              <a:buFont typeface="Arial" panose="020B0604020202020204" pitchFamily="34" charset="0"/>
              <a:buAutoNum type="arabicPeriod"/>
            </a:pPr>
            <a:r>
              <a:rPr lang="da-DK" altLang="en-US" sz="2000" dirty="0">
                <a:solidFill>
                  <a:srgbClr val="000000"/>
                </a:solidFill>
                <a:latin typeface="Times New Roman" panose="02020603050405020304" pitchFamily="18" charset="0"/>
                <a:cs typeface="Times New Roman" panose="02020603050405020304" pitchFamily="18" charset="0"/>
              </a:rPr>
              <a:t>VAR2:=VAR2+1;  </a:t>
            </a:r>
          </a:p>
          <a:p>
            <a:pPr algn="just">
              <a:buFont typeface="Arial" panose="020B0604020202020204" pitchFamily="34" charset="0"/>
              <a:buAutoNum type="arabicPeriod"/>
            </a:pPr>
            <a:r>
              <a:rPr lang="da-DK" altLang="en-US" sz="2000" b="1" dirty="0">
                <a:solidFill>
                  <a:srgbClr val="006699"/>
                </a:solidFill>
                <a:latin typeface="Times New Roman" panose="02020603050405020304" pitchFamily="18" charset="0"/>
                <a:cs typeface="Times New Roman" panose="02020603050405020304" pitchFamily="18" charset="0"/>
              </a:rPr>
              <a:t>END</a:t>
            </a:r>
            <a:r>
              <a:rPr lang="da-DK" altLang="en-US" sz="2000" dirty="0">
                <a:solidFill>
                  <a:srgbClr val="000000"/>
                </a:solidFill>
                <a:latin typeface="Times New Roman" panose="02020603050405020304" pitchFamily="18" charset="0"/>
                <a:cs typeface="Times New Roman" panose="02020603050405020304" pitchFamily="18" charset="0"/>
              </a:rPr>
              <a:t> LOOP;  </a:t>
            </a:r>
          </a:p>
          <a:p>
            <a:pPr algn="just">
              <a:buFont typeface="Arial" panose="020B0604020202020204" pitchFamily="34" charset="0"/>
              <a:buAutoNum type="arabicPeriod"/>
            </a:pPr>
            <a:r>
              <a:rPr lang="da-DK" altLang="en-US" sz="2000" b="1" dirty="0">
                <a:solidFill>
                  <a:srgbClr val="006699"/>
                </a:solidFill>
                <a:latin typeface="Times New Roman" panose="02020603050405020304" pitchFamily="18" charset="0"/>
                <a:cs typeface="Times New Roman" panose="02020603050405020304" pitchFamily="18" charset="0"/>
              </a:rPr>
              <a:t>END</a:t>
            </a:r>
            <a:r>
              <a:rPr lang="da-DK" altLang="en-US" sz="2000" dirty="0">
                <a:solidFill>
                  <a:srgbClr val="000000"/>
                </a:solidFill>
                <a:latin typeface="Times New Roman" panose="02020603050405020304" pitchFamily="18" charset="0"/>
                <a:cs typeface="Times New Roman" panose="02020603050405020304" pitchFamily="18" charset="0"/>
              </a:rPr>
              <a:t>;  </a:t>
            </a:r>
            <a:endParaRPr lang="da-DK" altLang="en-US" sz="20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2BD7312B-ADC6-76D7-22C6-0F1C057449B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p:cNvSpPr>
          <p:nvPr>
            <p:ph type="title"/>
          </p:nvPr>
        </p:nvSpPr>
        <p:spPr>
          <a:xfrm>
            <a:off x="631190" y="187325"/>
            <a:ext cx="8487410" cy="721360"/>
          </a:xfrm>
        </p:spPr>
        <p:txBody>
          <a:bodyPr vert="horz" wrap="square" lIns="92075" tIns="46038" rIns="92075" bIns="46038" anchor="t" anchorCtr="0"/>
          <a:lstStyle/>
          <a:p>
            <a:r>
              <a:rPr lang="en-GB" altLang="en-US" dirty="0"/>
              <a:t>XML</a:t>
            </a:r>
          </a:p>
        </p:txBody>
      </p:sp>
      <p:sp>
        <p:nvSpPr>
          <p:cNvPr id="14339" name="Rectangle 5"/>
          <p:cNvSpPr>
            <a:spLocks noGrp="1" noChangeArrowheads="1"/>
          </p:cNvSpPr>
          <p:nvPr>
            <p:ph idx="1"/>
          </p:nvPr>
        </p:nvSpPr>
        <p:spPr>
          <a:xfrm>
            <a:off x="532765" y="782955"/>
            <a:ext cx="8597265" cy="5245100"/>
          </a:xfrm>
        </p:spPr>
        <p:txBody>
          <a:bodyPr vert="horz" wrap="square" lIns="92075" tIns="46038" rIns="92075" bIns="46038" numCol="1" anchor="t" anchorCtr="0" compatLnSpc="1"/>
          <a:lstStyle/>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22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mn-ea"/>
                <a:cs typeface="Times New Roman" panose="02020603050405020304" pitchFamily="18" charset="0"/>
              </a:rPr>
              <a:t>Extensible Markup Language (XML) is a markup language that defines a set of rules for encoding documents in a format that is both human-readable and machine-readable.</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lang="en-US" altLang="en-US" sz="22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to store and transport data and used to carry data not to display data</a:t>
            </a:r>
            <a:endPar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design of XML focuses on documents, the language is widely used for the representation of arbitrary data structures such as those used in web services.</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&lt;!-- This is a comment --&gt;</a:t>
            </a:r>
          </a:p>
          <a:p>
            <a:pPr marL="0" marR="0" lvl="0" indent="0" algn="ctr"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2200" b="1"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Differences between XML and HTML</a:t>
            </a:r>
            <a:endPar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endParaRP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XML is designed to carry data emphasizing on what type of data it is.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HTML is designed to display data emphasizing on how data looks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XML tags are not predefined like HTML tags.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HTML is a markup language whereas XML provides a framework for defining markup languages.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200" b="0" i="0" u="none" strike="noStrike" kern="1200" cap="none" spc="0" normalizeH="0" baseline="0" noProof="0" dirty="0">
                <a:ln>
                  <a:noFill/>
                </a:ln>
                <a:solidFill>
                  <a:srgbClr val="273239"/>
                </a:solidFill>
                <a:effectLst/>
                <a:uLnTx/>
                <a:uFillTx/>
                <a:latin typeface="Times New Roman" panose="02020603050405020304" pitchFamily="18" charset="0"/>
                <a:ea typeface="+mn-ea"/>
                <a:cs typeface="Times New Roman" panose="02020603050405020304" pitchFamily="18" charset="0"/>
              </a:rPr>
              <a:t>HTML is about displaying data, hence it is static whereas XML is about carrying information, which makes it dynamic.</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da-DK"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8AF64C67-97FE-200A-AF0D-AD24E616723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XML Syntax </a:t>
            </a:r>
          </a:p>
        </p:txBody>
      </p:sp>
      <p:sp>
        <p:nvSpPr>
          <p:cNvPr id="3" name="Content Placeholder 2"/>
          <p:cNvSpPr>
            <a:spLocks noGrp="1"/>
          </p:cNvSpPr>
          <p:nvPr>
            <p:ph idx="1"/>
          </p:nvPr>
        </p:nvSpPr>
        <p:spPr/>
        <p:txBody>
          <a:bodyPr/>
          <a:lstStyle/>
          <a:p>
            <a:pPr marL="0" indent="0">
              <a:buNone/>
            </a:pPr>
            <a:r>
              <a:rPr lang="en-US" b="1">
                <a:sym typeface="+mn-ea"/>
              </a:rPr>
              <a:t>Declaration</a:t>
            </a:r>
            <a:endParaRPr lang="en-US" b="1"/>
          </a:p>
          <a:p>
            <a:pPr marL="0" indent="0">
              <a:buNone/>
            </a:pPr>
            <a:r>
              <a:rPr lang="en-US">
                <a:highlight>
                  <a:srgbClr val="00FF00"/>
                </a:highlight>
              </a:rPr>
              <a:t>&lt;?xml version="1.0" encoding="UTF-8"?&gt; </a:t>
            </a:r>
            <a:r>
              <a:rPr lang="en-US"/>
              <a:t>  </a:t>
            </a:r>
          </a:p>
          <a:p>
            <a:pPr marL="0" indent="0">
              <a:buNone/>
            </a:pPr>
            <a:r>
              <a:rPr lang="en-US" b="1"/>
              <a:t>Each element has a start tag, content, and an end tag.</a:t>
            </a:r>
          </a:p>
          <a:p>
            <a:pPr marL="0" indent="0">
              <a:buNone/>
            </a:pPr>
            <a:r>
              <a:rPr lang="en-US">
                <a:highlight>
                  <a:srgbClr val="00FF00"/>
                </a:highlight>
              </a:rPr>
              <a:t>&lt;elementName&gt;content&lt;/elementName&gt;</a:t>
            </a:r>
          </a:p>
          <a:p>
            <a:pPr marL="0" indent="0">
              <a:buNone/>
            </a:pPr>
            <a:r>
              <a:rPr lang="en-US" b="1"/>
              <a:t>Nesting</a:t>
            </a:r>
          </a:p>
          <a:p>
            <a:pPr marL="0" indent="0">
              <a:buNone/>
            </a:pPr>
            <a:r>
              <a:rPr lang="en-US"/>
              <a:t>Elements can contain other elements, creating a hierarchical structure.</a:t>
            </a:r>
          </a:p>
          <a:p>
            <a:pPr marL="0" indent="0">
              <a:buNone/>
            </a:pPr>
            <a:r>
              <a:rPr lang="en-US">
                <a:highlight>
                  <a:srgbClr val="00FF00"/>
                </a:highlight>
              </a:rPr>
              <a:t>&lt;parent&gt;</a:t>
            </a:r>
          </a:p>
          <a:p>
            <a:pPr marL="0" indent="0">
              <a:buNone/>
            </a:pPr>
            <a:r>
              <a:rPr lang="en-US">
                <a:highlight>
                  <a:srgbClr val="00FF00"/>
                </a:highlight>
              </a:rPr>
              <a:t>    &lt;child&gt;Content&lt;/child&gt;</a:t>
            </a:r>
          </a:p>
          <a:p>
            <a:pPr marL="0" indent="0">
              <a:buNone/>
            </a:pPr>
            <a:r>
              <a:rPr lang="en-US">
                <a:highlight>
                  <a:srgbClr val="00FF00"/>
                </a:highlight>
              </a:rPr>
              <a:t>&lt;/parent&gt;</a:t>
            </a:r>
          </a:p>
          <a:p>
            <a:pPr marL="0" indent="0">
              <a:buNone/>
            </a:pPr>
            <a:endParaRPr lang="en-US"/>
          </a:p>
          <a:p>
            <a:pPr marL="0" indent="0">
              <a:buNone/>
            </a:pPr>
            <a:endParaRPr lang="en-US"/>
          </a:p>
        </p:txBody>
      </p:sp>
      <p:sp>
        <p:nvSpPr>
          <p:cNvPr id="4" name="Slide Number Placeholder 3">
            <a:extLst>
              <a:ext uri="{FF2B5EF4-FFF2-40B4-BE49-F238E27FC236}">
                <a16:creationId xmlns="" xmlns:a16="http://schemas.microsoft.com/office/drawing/2014/main" id="{2CFB5567-BAD9-74F3-3F54-D417E4A58EA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31</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XML Syntax </a:t>
            </a:r>
          </a:p>
        </p:txBody>
      </p:sp>
      <p:sp>
        <p:nvSpPr>
          <p:cNvPr id="3" name="Content Placeholder 2"/>
          <p:cNvSpPr>
            <a:spLocks noGrp="1"/>
          </p:cNvSpPr>
          <p:nvPr>
            <p:ph idx="1"/>
          </p:nvPr>
        </p:nvSpPr>
        <p:spPr>
          <a:xfrm>
            <a:off x="400050" y="1332230"/>
            <a:ext cx="9161145" cy="4695825"/>
          </a:xfrm>
        </p:spPr>
        <p:txBody>
          <a:bodyPr/>
          <a:lstStyle/>
          <a:p>
            <a:pPr marL="0" indent="0">
              <a:buNone/>
            </a:pPr>
            <a:r>
              <a:rPr lang="en-US" b="1">
                <a:sym typeface="+mn-ea"/>
              </a:rPr>
              <a:t>Attributes</a:t>
            </a:r>
          </a:p>
          <a:p>
            <a:pPr marL="0" indent="0">
              <a:buNone/>
            </a:pPr>
            <a:r>
              <a:rPr lang="en-US">
                <a:sym typeface="+mn-ea"/>
              </a:rPr>
              <a:t>Elements can have attributes, which provide additional information about the element.</a:t>
            </a:r>
          </a:p>
          <a:p>
            <a:pPr marL="0" indent="0">
              <a:buNone/>
            </a:pPr>
            <a:r>
              <a:rPr lang="en-US">
                <a:highlight>
                  <a:srgbClr val="00FF00"/>
                </a:highlight>
              </a:rPr>
              <a:t>&lt;elementName attributeName="attributeValue"&gt;content&lt;/elementName&gt;</a:t>
            </a:r>
          </a:p>
          <a:p>
            <a:pPr marL="0" indent="0">
              <a:buNone/>
            </a:pPr>
            <a:r>
              <a:rPr lang="en-US" b="1"/>
              <a:t>Empty Elements</a:t>
            </a:r>
          </a:p>
          <a:p>
            <a:pPr marL="0" indent="0">
              <a:buNone/>
            </a:pPr>
            <a:r>
              <a:rPr lang="en-US"/>
              <a:t>Elements with no content can be written as self-closing tags.</a:t>
            </a:r>
          </a:p>
          <a:p>
            <a:pPr marL="0" indent="0">
              <a:buNone/>
            </a:pPr>
            <a:r>
              <a:rPr lang="en-US">
                <a:highlight>
                  <a:srgbClr val="00FF00"/>
                </a:highlight>
              </a:rPr>
              <a:t>&lt;emptyElement/&gt;</a:t>
            </a:r>
          </a:p>
        </p:txBody>
      </p:sp>
      <p:sp>
        <p:nvSpPr>
          <p:cNvPr id="4" name="Slide Number Placeholder 3">
            <a:extLst>
              <a:ext uri="{FF2B5EF4-FFF2-40B4-BE49-F238E27FC236}">
                <a16:creationId xmlns="" xmlns:a16="http://schemas.microsoft.com/office/drawing/2014/main" id="{79A128B0-DE4E-8FDE-C91E-94919CDB52E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buNone/>
            </a:pPr>
            <a:r>
              <a:rPr lang="en-US"/>
              <a:t>&lt;?xml version="1.1" encoding="UTF-8"?&gt;      </a:t>
            </a:r>
            <a:r>
              <a:rPr lang="en-US">
                <a:highlight>
                  <a:srgbClr val="00FF00"/>
                </a:highlight>
              </a:rPr>
              <a:t>declaration xml version and character encoding</a:t>
            </a:r>
            <a:endParaRPr lang="en-US">
              <a:highlight>
                <a:srgbClr val="C0C0C0"/>
              </a:highlight>
            </a:endParaRPr>
          </a:p>
          <a:p>
            <a:pPr marL="0" indent="0">
              <a:buNone/>
            </a:pPr>
            <a:r>
              <a:rPr lang="en-US"/>
              <a:t>&lt;library&gt;         </a:t>
            </a:r>
            <a:r>
              <a:rPr lang="en-US">
                <a:highlight>
                  <a:srgbClr val="FFFF00"/>
                </a:highlight>
              </a:rPr>
              <a:t> Root element   </a:t>
            </a:r>
            <a:r>
              <a:rPr lang="en-US">
                <a:highlight>
                  <a:srgbClr val="C0C0C0"/>
                </a:highlight>
              </a:rPr>
              <a:t> </a:t>
            </a:r>
            <a:r>
              <a:rPr lang="en-US">
                <a:highlight>
                  <a:srgbClr val="C0C0C0"/>
                </a:highlight>
                <a:sym typeface="+mn-ea"/>
              </a:rPr>
              <a:t>nested elements</a:t>
            </a:r>
            <a:endParaRPr lang="en-US">
              <a:highlight>
                <a:srgbClr val="FFFF00"/>
              </a:highlight>
            </a:endParaRPr>
          </a:p>
          <a:p>
            <a:pPr marL="0" indent="0">
              <a:buNone/>
            </a:pPr>
            <a:r>
              <a:rPr lang="en-US"/>
              <a:t> &lt;book id="1"&gt;  </a:t>
            </a:r>
            <a:r>
              <a:rPr lang="en-US">
                <a:highlight>
                  <a:srgbClr val="00FFFF"/>
                </a:highlight>
              </a:rPr>
              <a:t>Attributes </a:t>
            </a:r>
            <a:r>
              <a:rPr lang="en-US">
                <a:highlight>
                  <a:srgbClr val="C0C0C0"/>
                </a:highlight>
              </a:rPr>
              <a:t>uiquely identify each book</a:t>
            </a:r>
            <a:r>
              <a:rPr lang="en-US"/>
              <a:t> </a:t>
            </a:r>
          </a:p>
          <a:p>
            <a:pPr marL="0" indent="0">
              <a:buNone/>
            </a:pPr>
            <a:r>
              <a:rPr lang="en-US"/>
              <a:t> &lt;title&gt;IWP&lt;/title&gt;</a:t>
            </a:r>
          </a:p>
          <a:p>
            <a:pPr marL="0" indent="0">
              <a:buNone/>
            </a:pPr>
            <a:r>
              <a:rPr lang="en-US"/>
              <a:t> &lt;author&gt;Abhinav&lt;/author&gt;</a:t>
            </a:r>
          </a:p>
          <a:p>
            <a:pPr marL="0" indent="0">
              <a:buNone/>
            </a:pPr>
            <a:r>
              <a:rPr lang="en-US"/>
              <a:t> &lt;year&gt;2024&lt;/year&gt;                          </a:t>
            </a:r>
            <a:r>
              <a:rPr lang="en-US">
                <a:highlight>
                  <a:srgbClr val="00FF00"/>
                </a:highlight>
              </a:rPr>
              <a:t>Child </a:t>
            </a:r>
            <a:r>
              <a:rPr lang="en-US">
                <a:highlight>
                  <a:srgbClr val="00FF00"/>
                </a:highlight>
                <a:sym typeface="+mn-ea"/>
              </a:rPr>
              <a:t>Elements</a:t>
            </a:r>
            <a:endParaRPr lang="en-US">
              <a:highlight>
                <a:srgbClr val="00FF00"/>
              </a:highlight>
            </a:endParaRPr>
          </a:p>
          <a:p>
            <a:pPr marL="0" indent="0">
              <a:buNone/>
            </a:pPr>
            <a:r>
              <a:rPr lang="en-US"/>
              <a:t>&lt;publisher&gt;Spri&lt;/publisher&gt;</a:t>
            </a:r>
          </a:p>
          <a:p>
            <a:pPr marL="0" indent="0">
              <a:buNone/>
            </a:pPr>
            <a:r>
              <a:rPr lang="en-US"/>
              <a:t>   &lt;isbn&gt;7890&lt;/isbn&gt;</a:t>
            </a:r>
          </a:p>
          <a:p>
            <a:pPr marL="0" indent="0">
              <a:buNone/>
            </a:pPr>
            <a:r>
              <a:rPr lang="en-US"/>
              <a:t> &lt;/book&gt;</a:t>
            </a:r>
          </a:p>
          <a:p>
            <a:pPr marL="0" indent="0">
              <a:buNone/>
            </a:pPr>
            <a:r>
              <a:rPr lang="en-US"/>
              <a:t> &lt;/library&gt;</a:t>
            </a:r>
          </a:p>
        </p:txBody>
      </p:sp>
      <p:cxnSp>
        <p:nvCxnSpPr>
          <p:cNvPr id="4" name="Straight Connector 3"/>
          <p:cNvCxnSpPr/>
          <p:nvPr/>
        </p:nvCxnSpPr>
        <p:spPr>
          <a:xfrm>
            <a:off x="3800475" y="3429000"/>
            <a:ext cx="2520950" cy="1008380"/>
          </a:xfrm>
          <a:prstGeom prst="line">
            <a:avLst/>
          </a:prstGeom>
          <a:solidFill>
            <a:schemeClr val="accent1"/>
          </a:solidFill>
          <a:ln w="12700" cap="flat" cmpd="sng" algn="ctr">
            <a:solidFill>
              <a:schemeClr val="tx1"/>
            </a:solidFill>
            <a:prstDash val="solid"/>
            <a:round/>
            <a:headEnd type="none" w="sm" len="sm"/>
            <a:tailEnd type="none" w="sm" len="sm"/>
          </a:ln>
        </p:spPr>
      </p:cxnSp>
      <p:cxnSp>
        <p:nvCxnSpPr>
          <p:cNvPr id="5" name="Straight Connector 4"/>
          <p:cNvCxnSpPr/>
          <p:nvPr/>
        </p:nvCxnSpPr>
        <p:spPr>
          <a:xfrm flipV="1">
            <a:off x="4232910" y="4653280"/>
            <a:ext cx="2160270" cy="791845"/>
          </a:xfrm>
          <a:prstGeom prst="line">
            <a:avLst/>
          </a:prstGeom>
          <a:solidFill>
            <a:schemeClr val="accent1"/>
          </a:solidFill>
          <a:ln w="12700" cap="flat" cmpd="sng" algn="ctr">
            <a:solidFill>
              <a:schemeClr val="tx1"/>
            </a:solidFill>
            <a:prstDash val="solid"/>
            <a:round/>
            <a:headEnd type="none" w="sm" len="sm"/>
            <a:tailEnd type="none" w="sm" len="sm"/>
          </a:ln>
        </p:spPr>
      </p:cxnSp>
      <p:sp>
        <p:nvSpPr>
          <p:cNvPr id="6" name="Slide Number Placeholder 5">
            <a:extLst>
              <a:ext uri="{FF2B5EF4-FFF2-40B4-BE49-F238E27FC236}">
                <a16:creationId xmlns="" xmlns:a16="http://schemas.microsoft.com/office/drawing/2014/main" id="{08DBBE0E-C964-6132-EEC2-81185C2FBBD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p:cNvSpPr>
          <p:nvPr>
            <p:ph type="title"/>
          </p:nvPr>
        </p:nvSpPr>
        <p:spPr/>
        <p:txBody>
          <a:bodyPr vert="horz" wrap="square" lIns="92075" tIns="46038" rIns="92075" bIns="46038" anchor="t" anchorCtr="0"/>
          <a:lstStyle/>
          <a:p>
            <a:r>
              <a:rPr lang="en-GB" altLang="en-US" dirty="0"/>
              <a:t>XML Parser</a:t>
            </a:r>
          </a:p>
        </p:txBody>
      </p:sp>
      <p:sp>
        <p:nvSpPr>
          <p:cNvPr id="18435" name="Rectangle 5"/>
          <p:cNvSpPr>
            <a:spLocks noGrp="1"/>
          </p:cNvSpPr>
          <p:nvPr>
            <p:ph idx="1"/>
          </p:nvPr>
        </p:nvSpPr>
        <p:spPr>
          <a:xfrm>
            <a:off x="631825" y="908050"/>
            <a:ext cx="8497888" cy="5119688"/>
          </a:xfrm>
        </p:spPr>
        <p:txBody>
          <a:bodyPr vert="horz" wrap="square" lIns="92075" tIns="46038" rIns="92075" bIns="46038" anchor="t" anchorCtr="0"/>
          <a:lstStyle/>
          <a:p>
            <a:r>
              <a:rPr lang="en-US" altLang="en-US" sz="3000" dirty="0">
                <a:solidFill>
                  <a:srgbClr val="000000"/>
                </a:solidFill>
                <a:latin typeface="Times New Roman" panose="02020603050405020304" pitchFamily="18" charset="0"/>
                <a:cs typeface="Times New Roman" panose="02020603050405020304" pitchFamily="18" charset="0"/>
              </a:rPr>
              <a:t> </a:t>
            </a:r>
            <a:r>
              <a:rPr lang="en-US" altLang="en-US" sz="4000" dirty="0">
                <a:solidFill>
                  <a:srgbClr val="000000"/>
                </a:solidFill>
                <a:latin typeface="Times New Roman" panose="02020603050405020304" pitchFamily="18" charset="0"/>
                <a:cs typeface="Times New Roman" panose="02020603050405020304" pitchFamily="18" charset="0"/>
              </a:rPr>
              <a:t>A parser is a piece of a program that takes a physical representation of data &amp; converts it into memory format.</a:t>
            </a:r>
          </a:p>
          <a:p>
            <a:r>
              <a:rPr lang="en-US" altLang="en-US" sz="4000" dirty="0">
                <a:solidFill>
                  <a:srgbClr val="000000"/>
                </a:solidFill>
                <a:latin typeface="Times New Roman" panose="02020603050405020304" pitchFamily="18" charset="0"/>
                <a:cs typeface="Times New Roman" panose="02020603050405020304" pitchFamily="18" charset="0"/>
              </a:rPr>
              <a:t>An xml parser is used to </a:t>
            </a:r>
            <a:r>
              <a:rPr lang="en-US" altLang="en-US" sz="4000" dirty="0">
                <a:solidFill>
                  <a:srgbClr val="000000"/>
                </a:solidFill>
                <a:highlight>
                  <a:srgbClr val="FFFF00"/>
                </a:highlight>
                <a:latin typeface="Times New Roman" panose="02020603050405020304" pitchFamily="18" charset="0"/>
                <a:cs typeface="Times New Roman" panose="02020603050405020304" pitchFamily="18" charset="0"/>
              </a:rPr>
              <a:t>create,read &amp; manipulate an XML document</a:t>
            </a:r>
            <a:r>
              <a:rPr lang="en-US" altLang="en-US" sz="4000" dirty="0">
                <a:solidFill>
                  <a:srgbClr val="000000"/>
                </a:solidFill>
                <a:latin typeface="Times New Roman" panose="02020603050405020304" pitchFamily="18" charset="0"/>
                <a:cs typeface="Times New Roman" panose="02020603050405020304" pitchFamily="18" charset="0"/>
              </a:rPr>
              <a:t>.</a:t>
            </a:r>
          </a:p>
          <a:p>
            <a:endParaRPr lang="en-US" altLang="en-US" sz="4000" dirty="0">
              <a:solidFill>
                <a:srgbClr val="00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da-DK" altLang="en-US" sz="40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13445DBE-EAA2-0E69-68F8-4B5E615D71D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p:cNvSpPr>
          <p:nvPr>
            <p:ph type="title"/>
          </p:nvPr>
        </p:nvSpPr>
        <p:spPr/>
        <p:txBody>
          <a:bodyPr vert="horz" wrap="square" lIns="92075" tIns="46038" rIns="92075" bIns="46038" anchor="t" anchorCtr="0"/>
          <a:lstStyle/>
          <a:p>
            <a:r>
              <a:rPr lang="en-GB" altLang="en-US" dirty="0"/>
              <a:t>XML Parser</a:t>
            </a:r>
          </a:p>
        </p:txBody>
      </p:sp>
      <p:sp>
        <p:nvSpPr>
          <p:cNvPr id="18435" name="Rectangle 5"/>
          <p:cNvSpPr>
            <a:spLocks noGrp="1"/>
          </p:cNvSpPr>
          <p:nvPr>
            <p:ph idx="1"/>
          </p:nvPr>
        </p:nvSpPr>
        <p:spPr>
          <a:xfrm>
            <a:off x="631825" y="908050"/>
            <a:ext cx="8497888" cy="5119688"/>
          </a:xfrm>
        </p:spPr>
        <p:txBody>
          <a:bodyPr vert="horz" wrap="square" lIns="92075" tIns="46038" rIns="92075" bIns="46038" anchor="t" anchorCtr="0"/>
          <a:lstStyle/>
          <a:p>
            <a:r>
              <a:rPr lang="en-US" altLang="en-US" sz="3000" dirty="0">
                <a:solidFill>
                  <a:srgbClr val="000000"/>
                </a:solidFill>
                <a:latin typeface="Times New Roman" panose="02020603050405020304" pitchFamily="18" charset="0"/>
                <a:cs typeface="Times New Roman" panose="02020603050405020304" pitchFamily="18" charset="0"/>
              </a:rPr>
              <a:t>The XML (DOM) defines the properties and methods for accessing and editing XML. However, before an XML document can be accessed, it must be loaded into an XML DOM object. </a:t>
            </a:r>
          </a:p>
          <a:p>
            <a:r>
              <a:rPr lang="en-US" altLang="en-US" sz="3000" dirty="0">
                <a:solidFill>
                  <a:srgbClr val="000000"/>
                </a:solidFill>
                <a:latin typeface="Times New Roman" panose="02020603050405020304" pitchFamily="18" charset="0"/>
                <a:cs typeface="Times New Roman" panose="02020603050405020304" pitchFamily="18" charset="0"/>
              </a:rPr>
              <a:t>All modern browsers have a built-in XML parser that can convert text into an XML DOM object.</a:t>
            </a:r>
          </a:p>
          <a:p>
            <a:r>
              <a:rPr lang="en-IN" altLang="en-US" sz="3000" dirty="0">
                <a:solidFill>
                  <a:srgbClr val="000000"/>
                </a:solidFill>
                <a:latin typeface="Times New Roman" panose="02020603050405020304" pitchFamily="18" charset="0"/>
                <a:cs typeface="Times New Roman" panose="02020603050405020304" pitchFamily="18" charset="0"/>
              </a:rPr>
              <a:t>parser = </a:t>
            </a:r>
            <a:r>
              <a:rPr lang="en-IN" altLang="en-US" sz="3000" dirty="0">
                <a:solidFill>
                  <a:srgbClr val="0000CD"/>
                </a:solidFill>
                <a:latin typeface="Times New Roman" panose="02020603050405020304" pitchFamily="18" charset="0"/>
                <a:cs typeface="Times New Roman" panose="02020603050405020304" pitchFamily="18" charset="0"/>
              </a:rPr>
              <a:t>new</a:t>
            </a:r>
            <a:r>
              <a:rPr lang="en-IN" altLang="en-US" sz="3000" dirty="0">
                <a:solidFill>
                  <a:srgbClr val="000000"/>
                </a:solidFill>
                <a:latin typeface="Times New Roman" panose="02020603050405020304" pitchFamily="18" charset="0"/>
                <a:cs typeface="Times New Roman" panose="02020603050405020304" pitchFamily="18" charset="0"/>
              </a:rPr>
              <a:t> DOMParser();</a:t>
            </a:r>
          </a:p>
          <a:p>
            <a:r>
              <a:rPr lang="en-IN" altLang="en-US" sz="3000" dirty="0">
                <a:solidFill>
                  <a:srgbClr val="000000"/>
                </a:solidFill>
                <a:latin typeface="Times New Roman" panose="02020603050405020304" pitchFamily="18" charset="0"/>
                <a:cs typeface="Times New Roman" panose="02020603050405020304" pitchFamily="18" charset="0"/>
              </a:rPr>
              <a:t>xmlDoc = parser.parseFromString(text,</a:t>
            </a:r>
            <a:r>
              <a:rPr lang="en-IN" altLang="en-US" sz="3000" dirty="0">
                <a:solidFill>
                  <a:srgbClr val="A52A2A"/>
                </a:solidFill>
                <a:latin typeface="Times New Roman" panose="02020603050405020304" pitchFamily="18" charset="0"/>
                <a:cs typeface="Times New Roman" panose="02020603050405020304" pitchFamily="18" charset="0"/>
              </a:rPr>
              <a:t>"text/xml"</a:t>
            </a:r>
            <a:r>
              <a:rPr lang="en-IN" altLang="en-US" sz="3000" dirty="0">
                <a:solidFill>
                  <a:srgbClr val="000000"/>
                </a:solidFill>
                <a:latin typeface="Times New Roman" panose="02020603050405020304" pitchFamily="18" charset="0"/>
                <a:cs typeface="Times New Roman" panose="02020603050405020304" pitchFamily="18" charset="0"/>
              </a:rPr>
              <a:t>);</a:t>
            </a:r>
          </a:p>
          <a:p>
            <a:endParaRPr lang="en-US" altLang="en-US" sz="3000" dirty="0">
              <a:solidFill>
                <a:srgbClr val="00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da-DK" altLang="en-US" sz="22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189FCD96-F4D7-B64B-C6E3-126110EDD96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p:cNvSpPr>
          <p:nvPr>
            <p:ph type="title"/>
          </p:nvPr>
        </p:nvSpPr>
        <p:spPr/>
        <p:txBody>
          <a:bodyPr vert="horz" wrap="square" lIns="92075" tIns="46038" rIns="92075" bIns="46038" anchor="t" anchorCtr="0"/>
          <a:lstStyle/>
          <a:p>
            <a:r>
              <a:rPr lang="en-US" altLang="en-GB" dirty="0"/>
              <a:t>Tree based</a:t>
            </a:r>
            <a:r>
              <a:rPr lang="en-GB" altLang="en-US" dirty="0"/>
              <a:t> Parser</a:t>
            </a:r>
          </a:p>
        </p:txBody>
      </p:sp>
      <p:sp>
        <p:nvSpPr>
          <p:cNvPr id="18435" name="Rectangle 5"/>
          <p:cNvSpPr>
            <a:spLocks noGrp="1"/>
          </p:cNvSpPr>
          <p:nvPr>
            <p:ph idx="1"/>
          </p:nvPr>
        </p:nvSpPr>
        <p:spPr>
          <a:xfrm>
            <a:off x="631825" y="908050"/>
            <a:ext cx="8497888" cy="5119688"/>
          </a:xfrm>
        </p:spPr>
        <p:txBody>
          <a:bodyPr vert="horz" wrap="square" lIns="92075" tIns="46038" rIns="92075" bIns="46038" anchor="t" anchorCtr="0"/>
          <a:lstStyle/>
          <a:p>
            <a:pPr algn="just"/>
            <a:r>
              <a:rPr lang="en-US" altLang="en-US" sz="3000" dirty="0">
                <a:solidFill>
                  <a:srgbClr val="000000"/>
                </a:solidFill>
                <a:latin typeface="Times New Roman" panose="02020603050405020304" pitchFamily="18" charset="0"/>
                <a:cs typeface="Times New Roman" panose="02020603050405020304" pitchFamily="18" charset="0"/>
              </a:rPr>
              <a:t> </a:t>
            </a:r>
            <a:r>
              <a:rPr lang="en-US" altLang="en-US" sz="4000" dirty="0">
                <a:solidFill>
                  <a:srgbClr val="000000"/>
                </a:solidFill>
                <a:latin typeface="Times New Roman" panose="02020603050405020304" pitchFamily="18" charset="0"/>
                <a:cs typeface="Times New Roman" panose="02020603050405020304" pitchFamily="18" charset="0"/>
              </a:rPr>
              <a:t>This parser transforms the xml document into tree structures and then we can access tree element individually .</a:t>
            </a:r>
          </a:p>
          <a:p>
            <a:pPr marL="0" indent="0" algn="just">
              <a:buFont typeface="Arial" panose="020B0604020202020204" pitchFamily="34" charset="0"/>
              <a:buNone/>
            </a:pPr>
            <a:endParaRPr lang="da-DK" altLang="en-US" sz="40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8DDCE470-016C-13B3-C43A-66D9E6C2E9B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  Object Module Parser</a:t>
            </a:r>
          </a:p>
        </p:txBody>
      </p:sp>
      <p:sp>
        <p:nvSpPr>
          <p:cNvPr id="3" name="Content Placeholder 2"/>
          <p:cNvSpPr>
            <a:spLocks noGrp="1"/>
          </p:cNvSpPr>
          <p:nvPr>
            <p:ph idx="1"/>
          </p:nvPr>
        </p:nvSpPr>
        <p:spPr/>
        <p:txBody>
          <a:bodyPr/>
          <a:lstStyle/>
          <a:p>
            <a:r>
              <a:rPr lang="en-US"/>
              <a:t>An xml parser only read XML document. </a:t>
            </a:r>
          </a:p>
          <a:p>
            <a:r>
              <a:rPr lang="en-US"/>
              <a:t>It cannot read documents or create documents so an alternative approach is to use DOM.</a:t>
            </a:r>
          </a:p>
          <a:p>
            <a:r>
              <a:rPr lang="en-US" b="1"/>
              <a:t>DOM CLASS</a:t>
            </a:r>
          </a:p>
          <a:p>
            <a:pPr marL="0" indent="0">
              <a:buNone/>
            </a:pPr>
            <a:r>
              <a:rPr lang="en-US" b="1"/>
              <a:t>DOMNODE</a:t>
            </a:r>
            <a:r>
              <a:rPr lang="en-US"/>
              <a:t>- Single node in DOM tree.</a:t>
            </a:r>
          </a:p>
          <a:p>
            <a:pPr marL="0" indent="0">
              <a:buNone/>
            </a:pPr>
            <a:r>
              <a:rPr lang="en-US" b="1"/>
              <a:t>DOMDocument</a:t>
            </a:r>
            <a:r>
              <a:rPr lang="en-US"/>
              <a:t>-</a:t>
            </a:r>
            <a:r>
              <a:rPr lang="en-US">
                <a:sym typeface="+mn-ea"/>
              </a:rPr>
              <a:t>stores entire XML docunments in the form of DOM tree.</a:t>
            </a:r>
          </a:p>
          <a:p>
            <a:pPr marL="0" indent="0">
              <a:buNone/>
            </a:pPr>
            <a:r>
              <a:rPr lang="en-US" b="1">
                <a:sym typeface="+mn-ea"/>
              </a:rPr>
              <a:t>DOMElements</a:t>
            </a:r>
            <a:r>
              <a:rPr lang="en-US">
                <a:sym typeface="+mn-ea"/>
              </a:rPr>
              <a:t>- Represent an element node.</a:t>
            </a:r>
          </a:p>
          <a:p>
            <a:pPr marL="0" indent="0">
              <a:buNone/>
            </a:pPr>
            <a:r>
              <a:rPr lang="en-US" b="1">
                <a:sym typeface="+mn-ea"/>
              </a:rPr>
              <a:t>DOMText</a:t>
            </a:r>
            <a:r>
              <a:rPr lang="en-US">
                <a:sym typeface="+mn-ea"/>
              </a:rPr>
              <a:t>- Plain text node</a:t>
            </a:r>
          </a:p>
          <a:p>
            <a:pPr marL="0" indent="0">
              <a:buNone/>
            </a:pPr>
            <a:r>
              <a:rPr lang="en-US" b="1">
                <a:sym typeface="+mn-ea"/>
              </a:rPr>
              <a:t>DOMCharacterData</a:t>
            </a:r>
            <a:r>
              <a:rPr lang="en-US">
                <a:sym typeface="+mn-ea"/>
              </a:rPr>
              <a:t>- character data</a:t>
            </a:r>
            <a:endParaRPr lang="en-US"/>
          </a:p>
          <a:p>
            <a:pPr marL="0" indent="0">
              <a:buNone/>
            </a:pPr>
            <a:r>
              <a:rPr lang="en-US">
                <a:highlight>
                  <a:srgbClr val="00FF00"/>
                </a:highlight>
              </a:rPr>
              <a:t>$d=new DOMDocument();</a:t>
            </a:r>
          </a:p>
        </p:txBody>
      </p:sp>
      <p:sp>
        <p:nvSpPr>
          <p:cNvPr id="4" name="Slide Number Placeholder 3">
            <a:extLst>
              <a:ext uri="{FF2B5EF4-FFF2-40B4-BE49-F238E27FC236}">
                <a16:creationId xmlns="" xmlns:a16="http://schemas.microsoft.com/office/drawing/2014/main" id="{6FBDB3DE-EC20-E6E7-B54C-18450045E06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37</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p:cNvSpPr>
          <p:nvPr>
            <p:ph type="title"/>
          </p:nvPr>
        </p:nvSpPr>
        <p:spPr/>
        <p:txBody>
          <a:bodyPr vert="horz" wrap="square" lIns="92075" tIns="46038" rIns="92075" bIns="46038" anchor="t" anchorCtr="0"/>
          <a:lstStyle/>
          <a:p>
            <a:r>
              <a:rPr lang="en-GB" altLang="en-US" dirty="0"/>
              <a:t>XML DOM</a:t>
            </a:r>
          </a:p>
        </p:txBody>
      </p:sp>
      <p:sp>
        <p:nvSpPr>
          <p:cNvPr id="14339" name="Rectangle 5"/>
          <p:cNvSpPr>
            <a:spLocks noGrp="1" noChangeArrowheads="1"/>
          </p:cNvSpPr>
          <p:nvPr>
            <p:ph idx="1"/>
          </p:nvPr>
        </p:nvSpPr>
        <p:spPr>
          <a:xfrm>
            <a:off x="631825" y="908050"/>
            <a:ext cx="8497888" cy="5119688"/>
          </a:xfrm>
        </p:spPr>
        <p:txBody>
          <a:bodyPr vert="horz" wrap="square" lIns="92075" tIns="46038" rIns="92075" bIns="46038" numCol="1" anchor="t" anchorCtr="0" compatLnSpc="1"/>
          <a:lstStyle/>
          <a:p>
            <a:pPr marL="292100" marR="0" lvl="0" indent="-29210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defRPr/>
            </a:pP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Document Object Model (DOM) defines a standard for accessing and manipulating documents.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defRPr/>
            </a:pP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a:t>
            </a:r>
            <a:r>
              <a:rPr kumimoji="0" lang="en-US" sz="30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HTML DOM</a:t>
            </a: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defines</a:t>
            </a:r>
            <a:r>
              <a:rPr kumimoji="0" lang="en-US" sz="3000" b="0" i="0" u="none" strike="noStrike" kern="1200" cap="none" spc="0" normalizeH="0" baseline="0" noProof="0" dirty="0">
                <a:ln>
                  <a:noFill/>
                </a:ln>
                <a:solidFill>
                  <a:srgbClr val="000000"/>
                </a:solidFill>
                <a:effectLst/>
                <a:highlight>
                  <a:srgbClr val="00FF00"/>
                </a:highlight>
                <a:uLnTx/>
                <a:uFillTx/>
                <a:latin typeface="Verdana" panose="020B0604030504040204" pitchFamily="34" charset="0"/>
                <a:ea typeface="+mn-ea"/>
                <a:cs typeface="+mn-cs"/>
              </a:rPr>
              <a:t> a standard way for accessing and manipulating HTML documents.</a:t>
            </a: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It presents an HTML document as a tree-structure.</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defRPr/>
            </a:pP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a:t>
            </a:r>
            <a:r>
              <a:rPr kumimoji="0" lang="en-US" sz="30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XML DOM</a:t>
            </a: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defines </a:t>
            </a:r>
            <a:r>
              <a:rPr kumimoji="0" lang="en-US" sz="3000" b="0" i="0" u="none" strike="noStrike" kern="1200" cap="none" spc="0" normalizeH="0" baseline="0" noProof="0" dirty="0">
                <a:ln>
                  <a:noFill/>
                </a:ln>
                <a:solidFill>
                  <a:srgbClr val="000000"/>
                </a:solidFill>
                <a:effectLst/>
                <a:highlight>
                  <a:srgbClr val="00FF00"/>
                </a:highlight>
                <a:uLnTx/>
                <a:uFillTx/>
                <a:latin typeface="Verdana" panose="020B0604030504040204" pitchFamily="34" charset="0"/>
                <a:ea typeface="+mn-ea"/>
                <a:cs typeface="+mn-cs"/>
              </a:rPr>
              <a:t>a standard way for accessing and manipulating XML documents.</a:t>
            </a:r>
            <a:r>
              <a:rPr kumimoji="0" lang="en-US" sz="3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It presents an XML document as a tree-structure.</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da-DK"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F957DD6F-6A37-FDA1-B583-407FF2F2FC0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p:cNvSpPr>
          <p:nvPr>
            <p:ph type="title"/>
          </p:nvPr>
        </p:nvSpPr>
        <p:spPr/>
        <p:txBody>
          <a:bodyPr vert="horz" wrap="square" lIns="92075" tIns="46038" rIns="92075" bIns="46038" anchor="t" anchorCtr="0"/>
          <a:lstStyle/>
          <a:p>
            <a:r>
              <a:rPr lang="en-GB" altLang="en-US" dirty="0"/>
              <a:t>HTML DOM             XML DOM</a:t>
            </a:r>
          </a:p>
        </p:txBody>
      </p:sp>
      <p:sp>
        <p:nvSpPr>
          <p:cNvPr id="14339" name="Rectangle 5"/>
          <p:cNvSpPr>
            <a:spLocks noGrp="1" noChangeArrowheads="1"/>
          </p:cNvSpPr>
          <p:nvPr>
            <p:ph idx="1"/>
          </p:nvPr>
        </p:nvSpPr>
        <p:spPr>
          <a:xfrm>
            <a:off x="461963" y="1268413"/>
            <a:ext cx="3448050" cy="4759325"/>
          </a:xfrm>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&lt;h1 id="demo"&gt;This is a Heading&lt;/h1&gt;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&lt;button type="button"</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onclick="</a:t>
            </a:r>
            <a:r>
              <a:rPr kumimoji="0" lang="en-US" sz="30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document.getElementById</a:t>
            </a: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('demo').</a:t>
            </a:r>
            <a:r>
              <a:rPr kumimoji="0" lang="en-US" sz="30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innerHTML</a:t>
            </a: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'Hello World!'"&gt;Click Me!</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&lt;/button&gt;</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da-DK"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6628" name="TextBox 1"/>
          <p:cNvSpPr txBox="1"/>
          <p:nvPr/>
        </p:nvSpPr>
        <p:spPr>
          <a:xfrm>
            <a:off x="4592638" y="1196975"/>
            <a:ext cx="5040312" cy="4707890"/>
          </a:xfrm>
          <a:prstGeom prst="rect">
            <a:avLst/>
          </a:prstGeom>
          <a:noFill/>
          <a:ln w="9525">
            <a:noFill/>
          </a:ln>
        </p:spPr>
        <p:txBody>
          <a:bodyPr>
            <a:spAutoFit/>
          </a:bodyPr>
          <a:lstStyle/>
          <a:p>
            <a:r>
              <a:rPr lang="en-IN" altLang="en-US" sz="3000" dirty="0">
                <a:latin typeface="Times New Roman" panose="02020603050405020304" pitchFamily="18" charset="0"/>
                <a:cs typeface="Times New Roman" panose="02020603050405020304" pitchFamily="18" charset="0"/>
              </a:rPr>
              <a:t>&lt;?xml version="1.</a:t>
            </a:r>
            <a:r>
              <a:rPr lang="en-US" altLang="en-IN" sz="3000" dirty="0">
                <a:latin typeface="Times New Roman" panose="02020603050405020304" pitchFamily="18" charset="0"/>
                <a:cs typeface="Times New Roman" panose="02020603050405020304" pitchFamily="18" charset="0"/>
              </a:rPr>
              <a:t>1</a:t>
            </a:r>
            <a:r>
              <a:rPr lang="en-IN" altLang="en-US" sz="3000" dirty="0">
                <a:latin typeface="Times New Roman" panose="02020603050405020304" pitchFamily="18" charset="0"/>
                <a:cs typeface="Times New Roman" panose="02020603050405020304" pitchFamily="18" charset="0"/>
              </a:rPr>
              <a:t>" encoding="UTF-8"?&gt;</a:t>
            </a:r>
          </a:p>
          <a:p>
            <a:r>
              <a:rPr lang="en-IN" altLang="en-US" sz="3000" dirty="0">
                <a:latin typeface="Times New Roman" panose="02020603050405020304" pitchFamily="18" charset="0"/>
                <a:cs typeface="Times New Roman" panose="02020603050405020304" pitchFamily="18" charset="0"/>
              </a:rPr>
              <a:t>&lt;Restaurant&gt;</a:t>
            </a:r>
          </a:p>
          <a:p>
            <a:r>
              <a:rPr lang="en-IN" altLang="en-US" sz="3000" dirty="0">
                <a:latin typeface="Times New Roman" panose="02020603050405020304" pitchFamily="18" charset="0"/>
                <a:cs typeface="Times New Roman" panose="02020603050405020304" pitchFamily="18" charset="0"/>
              </a:rPr>
              <a:t>  &lt;food category="cooking"&gt;</a:t>
            </a:r>
          </a:p>
          <a:p>
            <a:r>
              <a:rPr lang="en-IN" altLang="en-US" sz="3000" dirty="0">
                <a:latin typeface="Times New Roman" panose="02020603050405020304" pitchFamily="18" charset="0"/>
                <a:cs typeface="Times New Roman" panose="02020603050405020304" pitchFamily="18" charset="0"/>
              </a:rPr>
              <a:t>    &lt;title lang="en"&gt;Everyday Italian&lt;/title&gt;</a:t>
            </a:r>
          </a:p>
          <a:p>
            <a:r>
              <a:rPr lang="en-IN" altLang="en-US" sz="3000" dirty="0">
                <a:latin typeface="Times New Roman" panose="02020603050405020304" pitchFamily="18" charset="0"/>
                <a:cs typeface="Times New Roman" panose="02020603050405020304" pitchFamily="18" charset="0"/>
              </a:rPr>
              <a:t>    &lt; Chinees &gt;Noodles&lt;/ Chinees &gt;</a:t>
            </a:r>
          </a:p>
          <a:p>
            <a:r>
              <a:rPr lang="en-IN" altLang="en-US" sz="3000" dirty="0">
                <a:latin typeface="Times New Roman" panose="02020603050405020304" pitchFamily="18" charset="0"/>
                <a:cs typeface="Times New Roman" panose="02020603050405020304" pitchFamily="18" charset="0"/>
              </a:rPr>
              <a:t>&lt;price&gt;100.00&lt;/price&gt;</a:t>
            </a:r>
          </a:p>
          <a:p>
            <a:r>
              <a:rPr lang="en-IN" altLang="en-US" sz="3000" dirty="0">
                <a:latin typeface="Times New Roman" panose="02020603050405020304" pitchFamily="18" charset="0"/>
                <a:cs typeface="Times New Roman" panose="02020603050405020304" pitchFamily="18" charset="0"/>
              </a:rPr>
              <a:t>&lt;/ Restaurant &gt;</a:t>
            </a:r>
            <a:endParaRPr lang="en-IN" altLang="en-US" sz="3000" dirty="0">
              <a:latin typeface="Times New Roman" panose="02020603050405020304" pitchFamily="18" charset="0"/>
              <a:ea typeface="Times New Roman" panose="02020603050405020304" pitchFamily="18" charset="0"/>
            </a:endParaRPr>
          </a:p>
        </p:txBody>
      </p:sp>
      <p:cxnSp>
        <p:nvCxnSpPr>
          <p:cNvPr id="26629" name="Straight Connector 3"/>
          <p:cNvCxnSpPr/>
          <p:nvPr/>
        </p:nvCxnSpPr>
        <p:spPr>
          <a:xfrm>
            <a:off x="4232275" y="260350"/>
            <a:ext cx="0" cy="6337300"/>
          </a:xfrm>
          <a:prstGeom prst="line">
            <a:avLst/>
          </a:prstGeom>
          <a:ln w="12700" cap="flat" cmpd="sng">
            <a:solidFill>
              <a:schemeClr val="tx1"/>
            </a:solidFill>
            <a:prstDash val="solid"/>
            <a:headEnd type="none" w="sm" len="sm"/>
            <a:tailEnd type="none" w="sm" len="sm"/>
          </a:ln>
        </p:spPr>
      </p:cxnSp>
      <p:sp>
        <p:nvSpPr>
          <p:cNvPr id="2" name="Slide Number Placeholder 1">
            <a:extLst>
              <a:ext uri="{FF2B5EF4-FFF2-40B4-BE49-F238E27FC236}">
                <a16:creationId xmlns="" xmlns:a16="http://schemas.microsoft.com/office/drawing/2014/main" id="{9020C2F1-6B0A-DD9B-4CF7-8EF60E03568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p:cNvSpPr>
          <p:nvPr>
            <p:ph type="title"/>
          </p:nvPr>
        </p:nvSpPr>
        <p:spPr/>
        <p:txBody>
          <a:bodyPr vert="horz" wrap="square" lIns="92075" tIns="46038" rIns="92075" bIns="46038" anchor="t" anchorCtr="0"/>
          <a:lstStyle/>
          <a:p>
            <a:r>
              <a:rPr lang="en-GB" altLang="en-US" dirty="0"/>
              <a:t>XML XPath</a:t>
            </a:r>
          </a:p>
        </p:txBody>
      </p:sp>
      <p:sp>
        <p:nvSpPr>
          <p:cNvPr id="14339" name="Rectangle 5"/>
          <p:cNvSpPr>
            <a:spLocks noGrp="1" noChangeArrowheads="1"/>
          </p:cNvSpPr>
          <p:nvPr>
            <p:ph idx="1"/>
          </p:nvPr>
        </p:nvSpPr>
        <p:spPr>
          <a:xfrm>
            <a:off x="560388" y="1052513"/>
            <a:ext cx="8569325" cy="4975225"/>
          </a:xfrm>
        </p:spPr>
        <p:txBody>
          <a:bodyPr vert="horz" wrap="square" lIns="92075" tIns="46038" rIns="92075" bIns="46038" numCol="1" anchor="t" anchorCtr="0" compatLnSpc="1"/>
          <a:lstStyle/>
          <a:p>
            <a:pPr marL="292100" marR="0" lvl="0" indent="-29210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defRPr/>
            </a:pP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XPath can be used to navigate through elements and attributes in an XML document.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-XPath is a syntax for defining parts of an XML document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-XPath uses path expressions to navigate in XML documents</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-XPath contains a library of standard functions</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-XPath is a major element in XSLT and in XQuery</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da-DK"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831FEDD1-B149-DDCA-BC34-9AD3A0D08CF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p:cNvSpPr>
          <p:nvPr>
            <p:ph type="title"/>
          </p:nvPr>
        </p:nvSpPr>
        <p:spPr/>
        <p:txBody>
          <a:bodyPr vert="horz" wrap="square" lIns="92075" tIns="46038" rIns="92075" bIns="46038" anchor="t" anchorCtr="0"/>
          <a:lstStyle/>
          <a:p>
            <a:r>
              <a:rPr lang="en-GB" altLang="en-US" dirty="0"/>
              <a:t>XML XPath</a:t>
            </a:r>
          </a:p>
        </p:txBody>
      </p:sp>
      <p:sp>
        <p:nvSpPr>
          <p:cNvPr id="14339" name="Rectangle 5"/>
          <p:cNvSpPr>
            <a:spLocks noGrp="1" noChangeArrowheads="1"/>
          </p:cNvSpPr>
          <p:nvPr>
            <p:ph idx="1"/>
          </p:nvPr>
        </p:nvSpPr>
        <p:spPr bwMode="auto">
          <a:xfrm>
            <a:off x="560512" y="1052736"/>
            <a:ext cx="8784976" cy="4975002"/>
          </a:xfrm>
          <a:effectLst/>
          <a:scene3d>
            <a:camera prst="orthographicFront"/>
            <a:lightRig rig="balanced" dir="t"/>
          </a:scene3d>
          <a:sp3d prstMaterial="plastic"/>
        </p:spPr>
        <p:txBody>
          <a:bodyPr vert="horz" wrap="square" lIns="92075" tIns="46038" rIns="92075" bIns="46038" numCol="1" anchor="t" anchorCtr="0" compatLnSpc="1"/>
          <a:lstStyle/>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Chrome, Firefox, Edge, Opera, and Safari use the evaluate() method to select nodes:</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3900" b="0" i="0" u="none" strike="noStrike" kern="1200" cap="none" spc="0" normalizeH="0" baseline="0" noProof="0" dirty="0" err="1">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xmlDoc.evaluate</a:t>
            </a:r>
            <a:r>
              <a:rPr kumimoji="0" lang="en-US" sz="3900" b="0" i="0" u="none" strike="noStrike" kern="1200" cap="none" spc="0" normalizeH="0" baseline="0" noProof="0" dirty="0">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a:t>
            </a:r>
            <a:r>
              <a:rPr kumimoji="0" lang="en-US" sz="3900" b="0" i="0" u="none" strike="noStrike" kern="1200" cap="none" spc="0" normalizeH="0" baseline="0" noProof="0" dirty="0" err="1">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xpath</a:t>
            </a:r>
            <a:r>
              <a:rPr kumimoji="0" lang="en-US" sz="3900" b="0" i="0" u="none" strike="noStrike" kern="1200" cap="none" spc="0" normalizeH="0" baseline="0" noProof="0" dirty="0">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 </a:t>
            </a:r>
            <a:r>
              <a:rPr kumimoji="0" lang="en-US" sz="3900" b="0" i="0" u="none" strike="noStrike" kern="1200" cap="none" spc="0" normalizeH="0" baseline="0" noProof="0" dirty="0" err="1">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xmlDoc</a:t>
            </a:r>
            <a:r>
              <a:rPr kumimoji="0" lang="en-US" sz="3900" b="0" i="0" u="none" strike="noStrike" kern="1200" cap="none" spc="0" normalizeH="0" baseline="0" noProof="0" dirty="0">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 null, </a:t>
            </a:r>
            <a:r>
              <a:rPr kumimoji="0" lang="en-US" sz="3900" b="0" i="0" u="none" strike="noStrike" kern="1200" cap="none" spc="0" normalizeH="0" baseline="0" noProof="0" dirty="0" err="1">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XPathResult.ANY_TYPE,null</a:t>
            </a:r>
            <a:r>
              <a:rPr kumimoji="0" lang="en-US" sz="3900" b="0" i="0" u="none" strike="noStrike" kern="1200" cap="none" spc="0" normalizeH="0" baseline="0" noProof="0" dirty="0">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Internet Explorer uses the </a:t>
            </a:r>
            <a:r>
              <a:rPr kumimoji="0" lang="en-US" altLang="en-US" sz="39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selectNodes</a:t>
            </a:r>
            <a:r>
              <a:rPr kumimoji="0" lang="en-US"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method to select node:</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da-DK" altLang="en-US" sz="3900" b="0" i="0" u="none" strike="noStrike" kern="1200" cap="none" spc="0" normalizeH="0" baseline="0" noProof="0" dirty="0">
                <a:ln>
                  <a:noFill/>
                </a:ln>
                <a:solidFill>
                  <a:srgbClr val="000000"/>
                </a:solidFill>
                <a:effectLst/>
                <a:highlight>
                  <a:srgbClr val="00FF00"/>
                </a:highlight>
                <a:uLnTx/>
                <a:uFillTx/>
                <a:latin typeface="Times New Roman" panose="02020603050405020304" pitchFamily="18" charset="0"/>
                <a:ea typeface="+mn-ea"/>
                <a:cs typeface="Times New Roman" panose="02020603050405020304" pitchFamily="18" charset="0"/>
              </a:rPr>
              <a:t>xmlDoc.selectNodes(xpath);</a:t>
            </a:r>
          </a:p>
        </p:txBody>
      </p:sp>
      <p:sp>
        <p:nvSpPr>
          <p:cNvPr id="2" name="Slide Number Placeholder 1">
            <a:extLst>
              <a:ext uri="{FF2B5EF4-FFF2-40B4-BE49-F238E27FC236}">
                <a16:creationId xmlns="" xmlns:a16="http://schemas.microsoft.com/office/drawing/2014/main" id="{ED8C9F34-6D65-06DC-DF58-C8F91C87EC6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41</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buNone/>
            </a:pPr>
            <a:r>
              <a:rPr lang="en-US"/>
              <a:t>&lt;books&gt;</a:t>
            </a:r>
          </a:p>
          <a:p>
            <a:pPr marL="0" indent="0">
              <a:buNone/>
            </a:pPr>
            <a:r>
              <a:rPr lang="en-US"/>
              <a:t> &lt;book&gt;</a:t>
            </a:r>
          </a:p>
          <a:p>
            <a:pPr marL="0" indent="0">
              <a:buNone/>
            </a:pPr>
            <a:r>
              <a:rPr lang="en-US"/>
              <a:t> &lt;title&gt;Book Title 1&lt;/title&gt;</a:t>
            </a:r>
          </a:p>
          <a:p>
            <a:pPr marL="0" indent="0">
              <a:buNone/>
            </a:pPr>
            <a:r>
              <a:rPr lang="en-US"/>
              <a:t>&lt;/book&gt;</a:t>
            </a:r>
          </a:p>
          <a:p>
            <a:pPr marL="0" indent="0">
              <a:buNone/>
            </a:pPr>
            <a:r>
              <a:rPr lang="en-US"/>
              <a:t> &lt;book&gt;</a:t>
            </a:r>
          </a:p>
          <a:p>
            <a:pPr marL="0" indent="0">
              <a:buNone/>
            </a:pPr>
            <a:r>
              <a:rPr lang="en-US"/>
              <a:t> &lt;title&gt;Book Title 2&lt;/title&gt;</a:t>
            </a:r>
          </a:p>
          <a:p>
            <a:pPr marL="0" indent="0">
              <a:buNone/>
            </a:pPr>
            <a:r>
              <a:rPr lang="en-US"/>
              <a:t>&lt;/book&gt;&lt;/books&gt;</a:t>
            </a:r>
          </a:p>
          <a:p>
            <a:pPr marL="0" indent="0">
              <a:buNone/>
            </a:pPr>
            <a:r>
              <a:rPr lang="en-US">
                <a:solidFill>
                  <a:srgbClr val="FF0000"/>
                </a:solidFill>
                <a:latin typeface="Times New Roman" panose="02020603050405020304" pitchFamily="18" charset="0"/>
                <a:cs typeface="Times New Roman" panose="02020603050405020304" pitchFamily="18" charset="0"/>
              </a:rPr>
              <a:t>XPath Query:</a:t>
            </a:r>
          </a:p>
          <a:p>
            <a:pPr marL="0" indent="0">
              <a:buNone/>
            </a:pPr>
            <a:r>
              <a:rPr lang="en-US">
                <a:solidFill>
                  <a:srgbClr val="FF0000"/>
                </a:solidFill>
                <a:latin typeface="Times New Roman" panose="02020603050405020304" pitchFamily="18" charset="0"/>
                <a:cs typeface="Times New Roman" panose="02020603050405020304" pitchFamily="18" charset="0"/>
              </a:rPr>
              <a:t>/books/book/title</a:t>
            </a:r>
          </a:p>
        </p:txBody>
      </p:sp>
      <p:sp>
        <p:nvSpPr>
          <p:cNvPr id="4" name="Slide Number Placeholder 3">
            <a:extLst>
              <a:ext uri="{FF2B5EF4-FFF2-40B4-BE49-F238E27FC236}">
                <a16:creationId xmlns="" xmlns:a16="http://schemas.microsoft.com/office/drawing/2014/main" id="{2695B2EC-D127-AE72-5FC7-321FEFB7CD7B}"/>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p:cNvSpPr>
          <p:nvPr>
            <p:ph type="title"/>
          </p:nvPr>
        </p:nvSpPr>
        <p:spPr/>
        <p:txBody>
          <a:bodyPr vert="horz" wrap="square" lIns="92075" tIns="46038" rIns="92075" bIns="46038" anchor="t" anchorCtr="0"/>
          <a:lstStyle/>
          <a:p>
            <a:r>
              <a:rPr lang="en-GB" altLang="en-US" dirty="0"/>
              <a:t>XSL/XSLT</a:t>
            </a:r>
          </a:p>
        </p:txBody>
      </p:sp>
      <p:sp>
        <p:nvSpPr>
          <p:cNvPr id="14339" name="Rectangle 5"/>
          <p:cNvSpPr>
            <a:spLocks noGrp="1" noChangeArrowheads="1"/>
          </p:cNvSpPr>
          <p:nvPr>
            <p:ph idx="1"/>
          </p:nvPr>
        </p:nvSpPr>
        <p:spPr bwMode="auto">
          <a:xfrm>
            <a:off x="560512" y="1052736"/>
            <a:ext cx="8784976" cy="4975002"/>
          </a:xfrm>
          <a:effectLst/>
          <a:scene3d>
            <a:camera prst="orthographicFront"/>
            <a:lightRig rig="balanced" dir="t"/>
          </a:scene3d>
          <a:sp3d prstMaterial="plastic"/>
        </p:spPr>
        <p:txBody>
          <a:bodyPr vert="horz" wrap="square" lIns="92075" tIns="46038" rIns="92075" bIns="46038" numCol="1" anchor="t" anchorCtr="0" compatLnSpc="1"/>
          <a:lstStyle/>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XSL (</a:t>
            </a:r>
            <a:r>
              <a:rPr kumimoji="0" lang="en-US" altLang="en-US" sz="39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eXtensible</a:t>
            </a:r>
            <a:r>
              <a:rPr kumimoji="0" lang="en-US"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Stylesheet Language) is a styling language for XML.</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da-DK"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XSLT stands for XSL Transformations. It is a language for transforming XML documents.</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root element that declares the document to be an XSL style sheet is </a:t>
            </a:r>
            <a:r>
              <a:rPr kumimoji="0" lang="en-US" altLang="en-US" sz="39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&lt;</a:t>
            </a:r>
            <a:r>
              <a:rPr kumimoji="0" lang="en-US" altLang="en-US" sz="3900" b="0" i="0" u="none" strike="noStrike" kern="1200" cap="none" spc="0" normalizeH="0" baseline="0" noProof="0" dirty="0" err="1">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xsl:stylesheet</a:t>
            </a:r>
            <a:r>
              <a:rPr kumimoji="0" lang="en-US" altLang="en-US" sz="39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&gt; or &lt;</a:t>
            </a:r>
            <a:r>
              <a:rPr kumimoji="0" lang="en-US" altLang="en-US" sz="3900" b="0" i="0" u="none" strike="noStrike" kern="1200" cap="none" spc="0" normalizeH="0" baseline="0" noProof="0" dirty="0" err="1">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xsl:transform</a:t>
            </a:r>
            <a:r>
              <a:rPr kumimoji="0" lang="en-US" altLang="en-US" sz="39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&gt;.</a:t>
            </a:r>
            <a:endParaRPr kumimoji="0" lang="da-DK" altLang="en-US" sz="39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endParaRP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da-DK" altLang="en-US" sz="3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802030AF-8649-6746-C757-E063205289A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p:cNvSpPr>
          <p:nvPr>
            <p:ph type="title"/>
          </p:nvPr>
        </p:nvSpPr>
        <p:spPr/>
        <p:txBody>
          <a:bodyPr vert="horz" wrap="square" lIns="92075" tIns="46038" rIns="92075" bIns="46038" anchor="t" anchorCtr="0"/>
          <a:lstStyle/>
          <a:p>
            <a:r>
              <a:rPr lang="en-GB" altLang="en-US" dirty="0"/>
              <a:t>XSL/XSLT</a:t>
            </a:r>
          </a:p>
        </p:txBody>
      </p:sp>
      <p:sp>
        <p:nvSpPr>
          <p:cNvPr id="14339" name="Rectangle 5"/>
          <p:cNvSpPr>
            <a:spLocks noGrp="1" noChangeArrowheads="1"/>
          </p:cNvSpPr>
          <p:nvPr>
            <p:ph idx="1"/>
          </p:nvPr>
        </p:nvSpPr>
        <p:spPr bwMode="auto">
          <a:xfrm>
            <a:off x="560512" y="1052736"/>
            <a:ext cx="3744416" cy="4975002"/>
          </a:xfrm>
          <a:effectLst/>
          <a:scene3d>
            <a:camera prst="orthographicFront"/>
            <a:lightRig rig="balanced" dir="t"/>
          </a:scene3d>
          <a:sp3d prstMaterial="plastic"/>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xsl:template</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 match="/"&gt;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&lt;html&gt;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 &lt;body&gt;  &lt;h2&gt;University&lt;/h2&gt;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&lt;table border="1"&gt;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&lt;tr </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bgcolor</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="green"&gt;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  &lt;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S.No</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&gt;Name&lt;/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&gt;Department&lt;/</a:t>
            </a:r>
            <a:r>
              <a:rPr kumimoji="0" lang="en-IN"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th</a:t>
            </a:r>
            <a:r>
              <a:rPr kumimoji="0" lang="en-IN"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&gt;</a:t>
            </a:r>
          </a:p>
          <a:p>
            <a:pPr marL="292100" marR="0" lvl="0" indent="-292100" algn="l"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da-DK"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 name="TextBox 1"/>
          <p:cNvSpPr txBox="1"/>
          <p:nvPr/>
        </p:nvSpPr>
        <p:spPr>
          <a:xfrm>
            <a:off x="5673079" y="404664"/>
            <a:ext cx="3505845" cy="5447645"/>
          </a:xfrm>
          <a:prstGeom prst="rect">
            <a:avLst/>
          </a:prstGeom>
          <a:noFill/>
        </p:spPr>
        <p:txBody>
          <a:bodyPr wrap="square">
            <a:spAutoFit/>
          </a:bodyPr>
          <a:lstStyle/>
          <a:p>
            <a:pPr marR="0" defTabSz="914400">
              <a:buClrTx/>
              <a:buSzTx/>
              <a:buFontTx/>
              <a:buNone/>
              <a:defRPr/>
            </a:pPr>
            <a:r>
              <a:rPr kumimoji="0" lang="en-IN" sz="2900" kern="1200" cap="none" spc="0" normalizeH="0" baseline="0" noProof="0" dirty="0">
                <a:latin typeface="Times New Roman" panose="02020603050405020304" pitchFamily="18" charset="0"/>
                <a:ea typeface="+mn-ea"/>
                <a:cs typeface="Times New Roman" panose="02020603050405020304" pitchFamily="18" charset="0"/>
              </a:rPr>
              <a:t>    </a:t>
            </a: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&lt;/tr&gt;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&lt;tr&gt;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&lt;td&gt;1&lt;/td&gt;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&lt;td&gt;Priscilla&lt;/td&gt;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&lt;td&gt;SCAI&lt;/td&gt;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&lt;/tr&gt;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&lt;/table&gt;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&lt;/body&gt;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&lt;/html&gt;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&lt;/</a:t>
            </a:r>
            <a:r>
              <a:rPr kumimoji="0" lang="en-IN" sz="2900" kern="1200" cap="none" spc="0" normalizeH="0" baseline="0" noProof="0" dirty="0" err="1">
                <a:highlight>
                  <a:srgbClr val="CCFFCC"/>
                </a:highlight>
                <a:latin typeface="Times New Roman" panose="02020603050405020304" pitchFamily="18" charset="0"/>
                <a:ea typeface="+mn-ea"/>
                <a:cs typeface="Times New Roman" panose="02020603050405020304" pitchFamily="18" charset="0"/>
              </a:rPr>
              <a:t>xsl:template</a:t>
            </a: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&gt;</a:t>
            </a:r>
          </a:p>
          <a:p>
            <a:pPr marR="0" defTabSz="914400">
              <a:buClrTx/>
              <a:buSzTx/>
              <a:buFontTx/>
              <a:buNone/>
              <a:defRPr/>
            </a:pP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
            </a:r>
            <a:b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b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&lt;/</a:t>
            </a:r>
            <a:r>
              <a:rPr kumimoji="0" lang="en-IN" sz="2900" kern="1200" cap="none" spc="0" normalizeH="0" baseline="0" noProof="0" dirty="0" err="1">
                <a:highlight>
                  <a:srgbClr val="CCFFCC"/>
                </a:highlight>
                <a:latin typeface="Times New Roman" panose="02020603050405020304" pitchFamily="18" charset="0"/>
                <a:ea typeface="+mn-ea"/>
                <a:cs typeface="Times New Roman" panose="02020603050405020304" pitchFamily="18" charset="0"/>
              </a:rPr>
              <a:t>xsl:stylesheet</a:t>
            </a:r>
            <a:r>
              <a:rPr kumimoji="0" lang="en-IN" sz="2900" kern="1200" cap="none" spc="0" normalizeH="0" baseline="0" noProof="0" dirty="0">
                <a:highlight>
                  <a:srgbClr val="CCFFCC"/>
                </a:highlight>
                <a:latin typeface="Times New Roman" panose="02020603050405020304" pitchFamily="18" charset="0"/>
                <a:ea typeface="+mn-ea"/>
                <a:cs typeface="Times New Roman" panose="02020603050405020304" pitchFamily="18" charset="0"/>
              </a:rPr>
              <a:t>&gt;</a:t>
            </a:r>
          </a:p>
        </p:txBody>
      </p:sp>
      <p:cxnSp>
        <p:nvCxnSpPr>
          <p:cNvPr id="34821" name="Straight Connector 3"/>
          <p:cNvCxnSpPr/>
          <p:nvPr/>
        </p:nvCxnSpPr>
        <p:spPr>
          <a:xfrm>
            <a:off x="4953000" y="549275"/>
            <a:ext cx="72390" cy="5615940"/>
          </a:xfrm>
          <a:prstGeom prst="line">
            <a:avLst/>
          </a:prstGeom>
          <a:ln w="12700" cap="flat" cmpd="sng">
            <a:solidFill>
              <a:schemeClr val="tx1"/>
            </a:solidFill>
            <a:prstDash val="solid"/>
            <a:headEnd type="none" w="sm" len="sm"/>
            <a:tailEnd type="none" w="sm" len="sm"/>
          </a:ln>
        </p:spPr>
      </p:cxnSp>
      <p:sp>
        <p:nvSpPr>
          <p:cNvPr id="3" name="Slide Number Placeholder 2">
            <a:extLst>
              <a:ext uri="{FF2B5EF4-FFF2-40B4-BE49-F238E27FC236}">
                <a16:creationId xmlns="" xmlns:a16="http://schemas.microsoft.com/office/drawing/2014/main" id="{22054816-4601-B81D-2380-136BFB4C361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p:cNvSpPr>
          <p:nvPr>
            <p:ph type="title"/>
          </p:nvPr>
        </p:nvSpPr>
        <p:spPr/>
        <p:txBody>
          <a:bodyPr vert="horz" wrap="square" lIns="92075" tIns="46038" rIns="92075" bIns="46038" anchor="t" anchorCtr="0"/>
          <a:lstStyle/>
          <a:p>
            <a:r>
              <a:rPr lang="en-GB" altLang="en-US" dirty="0"/>
              <a:t>Xquery</a:t>
            </a:r>
          </a:p>
        </p:txBody>
      </p:sp>
      <p:sp>
        <p:nvSpPr>
          <p:cNvPr id="36867" name="Rectangle 5"/>
          <p:cNvSpPr>
            <a:spLocks noGrp="1"/>
          </p:cNvSpPr>
          <p:nvPr>
            <p:ph idx="1"/>
          </p:nvPr>
        </p:nvSpPr>
        <p:spPr>
          <a:xfrm>
            <a:off x="560388" y="1052513"/>
            <a:ext cx="9217025" cy="4975225"/>
          </a:xfrm>
        </p:spPr>
        <p:txBody>
          <a:bodyPr vert="horz" wrap="square" lIns="92075" tIns="46038" rIns="92075" bIns="46038" anchor="t" anchorCtr="0"/>
          <a:lstStyle/>
          <a:p>
            <a:pPr>
              <a:buFont typeface="Arial" panose="020B0604020202020204" pitchFamily="34" charset="0"/>
              <a:buChar char="•"/>
            </a:pPr>
            <a:r>
              <a:rPr lang="en-US" altLang="en-US" sz="3800" dirty="0">
                <a:solidFill>
                  <a:srgbClr val="000000"/>
                </a:solidFill>
                <a:latin typeface="Times New Roman" panose="02020603050405020304" pitchFamily="18" charset="0"/>
                <a:cs typeface="Times New Roman" panose="02020603050405020304" pitchFamily="18" charset="0"/>
              </a:rPr>
              <a:t>XQuery is a language for finding and extracting elements and attributes from XML documents.</a:t>
            </a:r>
          </a:p>
          <a:p>
            <a:pPr>
              <a:buFont typeface="Arial" panose="020B0604020202020204" pitchFamily="34" charset="0"/>
              <a:buChar char="•"/>
            </a:pPr>
            <a:r>
              <a:rPr lang="en-US" altLang="en-US" sz="3800" dirty="0">
                <a:solidFill>
                  <a:srgbClr val="000000"/>
                </a:solidFill>
                <a:latin typeface="Times New Roman" panose="02020603050405020304" pitchFamily="18" charset="0"/>
                <a:cs typeface="Times New Roman" panose="02020603050405020304" pitchFamily="18" charset="0"/>
              </a:rPr>
              <a:t>Extract information to use in a Web Service</a:t>
            </a:r>
          </a:p>
          <a:p>
            <a:pPr>
              <a:buFont typeface="Arial" panose="020B0604020202020204" pitchFamily="34" charset="0"/>
              <a:buChar char="•"/>
            </a:pPr>
            <a:r>
              <a:rPr lang="en-US" altLang="en-US" sz="3800" dirty="0">
                <a:solidFill>
                  <a:srgbClr val="000000"/>
                </a:solidFill>
                <a:latin typeface="Times New Roman" panose="02020603050405020304" pitchFamily="18" charset="0"/>
                <a:cs typeface="Times New Roman" panose="02020603050405020304" pitchFamily="18" charset="0"/>
              </a:rPr>
              <a:t>Generate summary reports</a:t>
            </a:r>
          </a:p>
          <a:p>
            <a:pPr>
              <a:buFont typeface="Arial" panose="020B0604020202020204" pitchFamily="34" charset="0"/>
              <a:buChar char="•"/>
            </a:pPr>
            <a:r>
              <a:rPr lang="en-US" altLang="en-US" sz="3800" dirty="0">
                <a:solidFill>
                  <a:srgbClr val="000000"/>
                </a:solidFill>
                <a:latin typeface="Times New Roman" panose="02020603050405020304" pitchFamily="18" charset="0"/>
                <a:cs typeface="Times New Roman" panose="02020603050405020304" pitchFamily="18" charset="0"/>
              </a:rPr>
              <a:t>Transform XML data to XHTML</a:t>
            </a:r>
          </a:p>
          <a:p>
            <a:pPr>
              <a:buFont typeface="Arial" panose="020B0604020202020204" pitchFamily="34" charset="0"/>
              <a:buChar char="•"/>
            </a:pPr>
            <a:r>
              <a:rPr lang="en-US" altLang="en-US" sz="3800" dirty="0">
                <a:solidFill>
                  <a:srgbClr val="000000"/>
                </a:solidFill>
                <a:latin typeface="Times New Roman" panose="02020603050405020304" pitchFamily="18" charset="0"/>
                <a:cs typeface="Times New Roman" panose="02020603050405020304" pitchFamily="18" charset="0"/>
              </a:rPr>
              <a:t>Search Web documents for relevant information</a:t>
            </a:r>
            <a:endParaRPr lang="da-DK" altLang="en-US" sz="38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D4356D4A-AF12-462A-2A77-3F1F26F43D2C}"/>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p:cNvSpPr>
          <p:nvPr>
            <p:ph type="title"/>
          </p:nvPr>
        </p:nvSpPr>
        <p:spPr/>
        <p:txBody>
          <a:bodyPr vert="horz" wrap="square" lIns="92075" tIns="46038" rIns="92075" bIns="46038" anchor="t" anchorCtr="0"/>
          <a:lstStyle/>
          <a:p>
            <a:r>
              <a:rPr lang="en-GB" altLang="en-US" dirty="0"/>
              <a:t>Xquery-Expressions</a:t>
            </a:r>
          </a:p>
        </p:txBody>
      </p:sp>
      <p:sp>
        <p:nvSpPr>
          <p:cNvPr id="14339" name="Rectangle 5"/>
          <p:cNvSpPr>
            <a:spLocks noGrp="1" noChangeArrowheads="1"/>
          </p:cNvSpPr>
          <p:nvPr>
            <p:ph idx="1"/>
          </p:nvPr>
        </p:nvSpPr>
        <p:spPr bwMode="auto">
          <a:xfrm>
            <a:off x="560512" y="1052736"/>
            <a:ext cx="9217024" cy="4975002"/>
          </a:xfrm>
          <a:effectLst/>
          <a:scene3d>
            <a:camera prst="orthographicFront"/>
            <a:lightRig rig="balanced" dir="t"/>
          </a:scene3d>
          <a:sp3d prstMaterial="plastic"/>
        </p:spPr>
        <p:txBody>
          <a:bodyPr vert="horz" wrap="square" lIns="92075" tIns="46038" rIns="92075" bIns="46038" numCol="1" anchor="t" anchorCtr="0" compatLnSpc="1"/>
          <a:lstStyle/>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IN"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doc("books.xml")</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doc("books.xml")/books/book- </a:t>
            </a:r>
            <a:r>
              <a:rPr kumimoji="0" lang="en-US" sz="28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Xpath</a:t>
            </a: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expression</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where $x/price&gt;10- Condition</a:t>
            </a:r>
          </a:p>
          <a:p>
            <a:pPr marL="0" marR="0" lvl="0" indent="0" algn="just"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sz="2800" b="0" i="0" u="none" strike="noStrike" kern="1200" cap="none" spc="0" normalizeH="0" baseline="0" noProof="0" dirty="0">
                <a:ln>
                  <a:noFill/>
                </a:ln>
                <a:solidFill>
                  <a:srgbClr val="000000"/>
                </a:solidFill>
                <a:effectLst/>
                <a:highlight>
                  <a:srgbClr val="CCFFCC"/>
                </a:highlight>
                <a:uLnTx/>
                <a:uFillTx/>
                <a:latin typeface="Times New Roman" panose="02020603050405020304" pitchFamily="18" charset="0"/>
                <a:ea typeface="+mn-ea"/>
                <a:cs typeface="Times New Roman" panose="02020603050405020304" pitchFamily="18" charset="0"/>
              </a:rPr>
              <a:t>($x represents the selected node, "/" is used to get the value of the required element; "where" clause is used to put a condition on the search results.</a:t>
            </a: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return $x/title</a:t>
            </a:r>
          </a:p>
          <a:p>
            <a:pPr marL="0" marR="0" lvl="0" indent="0" algn="just"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en-IN"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6D307CC0-8DC1-E76A-4BA8-860C8B36723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p:cNvSpPr>
          <p:nvPr>
            <p:ph type="title"/>
          </p:nvPr>
        </p:nvSpPr>
        <p:spPr/>
        <p:txBody>
          <a:bodyPr vert="horz" wrap="square" lIns="92075" tIns="46038" rIns="92075" bIns="46038" anchor="t" anchorCtr="0"/>
          <a:lstStyle/>
          <a:p>
            <a:r>
              <a:rPr lang="en-GB" altLang="en-US" dirty="0"/>
              <a:t>Xquery-Characteristics</a:t>
            </a:r>
          </a:p>
        </p:txBody>
      </p:sp>
      <p:sp>
        <p:nvSpPr>
          <p:cNvPr id="40963" name="Rectangle 5"/>
          <p:cNvSpPr>
            <a:spLocks noGrp="1"/>
          </p:cNvSpPr>
          <p:nvPr>
            <p:ph idx="1"/>
          </p:nvPr>
        </p:nvSpPr>
        <p:spPr>
          <a:xfrm>
            <a:off x="560388" y="1052513"/>
            <a:ext cx="9217025" cy="4975225"/>
          </a:xfrm>
        </p:spPr>
        <p:txBody>
          <a:bodyPr vert="horz" wrap="square" lIns="92075" tIns="46038" rIns="92075" bIns="46038" anchor="t" anchorCtr="0"/>
          <a:lstStyle/>
          <a:p>
            <a:pPr algn="just">
              <a:buFont typeface="Arial" panose="020B0604020202020204" pitchFamily="34" charset="0"/>
              <a:buChar char="•"/>
            </a:pPr>
            <a:r>
              <a:rPr lang="en-IN" altLang="en-US" b="1" dirty="0">
                <a:solidFill>
                  <a:srgbClr val="000000"/>
                </a:solidFill>
                <a:latin typeface="Times New Roman" panose="02020603050405020304" pitchFamily="18" charset="0"/>
                <a:cs typeface="Times New Roman" panose="02020603050405020304" pitchFamily="18" charset="0"/>
              </a:rPr>
              <a:t>Functional Language</a:t>
            </a:r>
            <a:r>
              <a:rPr lang="en-IN" altLang="en-US" dirty="0">
                <a:solidFill>
                  <a:srgbClr val="000000"/>
                </a:solidFill>
                <a:latin typeface="Times New Roman" panose="02020603050405020304" pitchFamily="18" charset="0"/>
                <a:cs typeface="Times New Roman" panose="02020603050405020304" pitchFamily="18" charset="0"/>
              </a:rPr>
              <a:t> − XQuery is a language to retrieve/querying XML based data.</a:t>
            </a:r>
          </a:p>
          <a:p>
            <a:pPr algn="just">
              <a:buFont typeface="Arial" panose="020B0604020202020204" pitchFamily="34" charset="0"/>
              <a:buChar char="•"/>
            </a:pPr>
            <a:r>
              <a:rPr lang="en-IN" altLang="en-US" b="1" dirty="0">
                <a:solidFill>
                  <a:srgbClr val="000000"/>
                </a:solidFill>
                <a:latin typeface="Times New Roman" panose="02020603050405020304" pitchFamily="18" charset="0"/>
                <a:cs typeface="Times New Roman" panose="02020603050405020304" pitchFamily="18" charset="0"/>
              </a:rPr>
              <a:t>Analogous to SQL</a:t>
            </a:r>
            <a:r>
              <a:rPr lang="en-IN" altLang="en-US" dirty="0">
                <a:solidFill>
                  <a:srgbClr val="000000"/>
                </a:solidFill>
                <a:latin typeface="Times New Roman" panose="02020603050405020304" pitchFamily="18" charset="0"/>
                <a:cs typeface="Times New Roman" panose="02020603050405020304" pitchFamily="18" charset="0"/>
              </a:rPr>
              <a:t> − XQuery is to XML what SQL is to databases.</a:t>
            </a:r>
          </a:p>
          <a:p>
            <a:pPr algn="just">
              <a:buFont typeface="Arial" panose="020B0604020202020204" pitchFamily="34" charset="0"/>
              <a:buChar char="•"/>
            </a:pPr>
            <a:r>
              <a:rPr lang="en-IN" altLang="en-US" b="1" dirty="0">
                <a:solidFill>
                  <a:srgbClr val="000000"/>
                </a:solidFill>
                <a:latin typeface="Times New Roman" panose="02020603050405020304" pitchFamily="18" charset="0"/>
                <a:cs typeface="Times New Roman" panose="02020603050405020304" pitchFamily="18" charset="0"/>
              </a:rPr>
              <a:t>XPath based</a:t>
            </a:r>
            <a:r>
              <a:rPr lang="en-IN" altLang="en-US" dirty="0">
                <a:solidFill>
                  <a:srgbClr val="000000"/>
                </a:solidFill>
                <a:latin typeface="Times New Roman" panose="02020603050405020304" pitchFamily="18" charset="0"/>
                <a:cs typeface="Times New Roman" panose="02020603050405020304" pitchFamily="18" charset="0"/>
              </a:rPr>
              <a:t> − XQuery uses XPath expressions to navigate through XML documents.</a:t>
            </a:r>
          </a:p>
          <a:p>
            <a:pPr algn="just">
              <a:buFont typeface="Arial" panose="020B0604020202020204" pitchFamily="34" charset="0"/>
              <a:buChar char="•"/>
            </a:pPr>
            <a:r>
              <a:rPr lang="en-IN" altLang="en-US" b="1" dirty="0">
                <a:solidFill>
                  <a:srgbClr val="000000"/>
                </a:solidFill>
                <a:latin typeface="Times New Roman" panose="02020603050405020304" pitchFamily="18" charset="0"/>
                <a:cs typeface="Times New Roman" panose="02020603050405020304" pitchFamily="18" charset="0"/>
              </a:rPr>
              <a:t>Universally accepted</a:t>
            </a:r>
            <a:r>
              <a:rPr lang="en-IN" altLang="en-US" dirty="0">
                <a:solidFill>
                  <a:srgbClr val="000000"/>
                </a:solidFill>
                <a:latin typeface="Times New Roman" panose="02020603050405020304" pitchFamily="18" charset="0"/>
                <a:cs typeface="Times New Roman" panose="02020603050405020304" pitchFamily="18" charset="0"/>
              </a:rPr>
              <a:t> − XQuery is supported by all major databases.</a:t>
            </a:r>
          </a:p>
          <a:p>
            <a:pPr algn="just">
              <a:buFont typeface="Arial" panose="020B0604020202020204" pitchFamily="34" charset="0"/>
              <a:buChar char="•"/>
            </a:pPr>
            <a:endParaRPr lang="en-IN" altLang="en-US"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7E3EA796-0A60-61E6-52F8-42CDEAA3D2F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47</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p:cNvSpPr>
          <p:nvPr>
            <p:ph type="title"/>
          </p:nvPr>
        </p:nvSpPr>
        <p:spPr/>
        <p:txBody>
          <a:bodyPr vert="horz" wrap="square" lIns="92075" tIns="46038" rIns="92075" bIns="46038" anchor="t" anchorCtr="0"/>
          <a:lstStyle/>
          <a:p>
            <a:r>
              <a:rPr lang="en-GB" altLang="en-US" dirty="0"/>
              <a:t>DTD(Document Type Definition)</a:t>
            </a:r>
          </a:p>
        </p:txBody>
      </p:sp>
      <p:sp>
        <p:nvSpPr>
          <p:cNvPr id="38915" name="Rectangle 5"/>
          <p:cNvSpPr>
            <a:spLocks noGrp="1" noChangeArrowheads="1"/>
          </p:cNvSpPr>
          <p:nvPr>
            <p:ph idx="1"/>
          </p:nvPr>
        </p:nvSpPr>
        <p:spPr bwMode="auto">
          <a:xfrm>
            <a:off x="560388" y="1052513"/>
            <a:ext cx="9217025" cy="4975225"/>
          </a:xfrm>
          <a:effectLst/>
          <a:scene3d>
            <a:camera prst="orthographicFront"/>
            <a:lightRig rig="balanced" dir="t"/>
          </a:scene3d>
          <a:sp3d prstMaterial="plastic"/>
        </p:spPr>
        <p:txBody>
          <a:bodyPr vert="horz" wrap="square" lIns="92075" tIns="46038" rIns="92075" bIns="46038" numCol="1" anchor="t" anchorCtr="0" compatLnSpc="1"/>
          <a:lstStyle/>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 DTD defines the structure and the legal elements and attributes of an XML document.</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0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!DOCTYPE note </a:t>
            </a:r>
            <a:r>
              <a:rPr kumimoji="0" lang="en-US"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defines that the root element of this document is note</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3000" b="0" i="0" u="none" strike="noStrike" kern="1200" cap="none" spc="0" normalizeH="0" baseline="0" noProof="0" dirty="0">
                <a:ln>
                  <a:noFill/>
                </a:ln>
                <a:solidFill>
                  <a:srgbClr val="000000"/>
                </a:solidFill>
                <a:effectLst/>
                <a:highlight>
                  <a:srgbClr val="99FF33"/>
                </a:highlight>
                <a:uLnTx/>
                <a:uFillTx/>
                <a:latin typeface="Times New Roman" panose="02020603050405020304" pitchFamily="18" charset="0"/>
                <a:ea typeface="+mn-ea"/>
                <a:cs typeface="Times New Roman" panose="02020603050405020304" pitchFamily="18" charset="0"/>
              </a:rPr>
              <a:t>!ELEMENT note </a:t>
            </a:r>
            <a:r>
              <a:rPr kumimoji="0" lang="en-US" altLang="en-US" sz="3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defines that the note element must contain four elements: "to, from, heading, body“</a:t>
            </a:r>
          </a:p>
        </p:txBody>
      </p:sp>
      <p:sp>
        <p:nvSpPr>
          <p:cNvPr id="2" name="Slide Number Placeholder 1">
            <a:extLst>
              <a:ext uri="{FF2B5EF4-FFF2-40B4-BE49-F238E27FC236}">
                <a16:creationId xmlns="" xmlns:a16="http://schemas.microsoft.com/office/drawing/2014/main" id="{C126B6FD-CCCD-073F-A621-EAEDAE663BC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p:cNvSpPr>
          <p:nvPr>
            <p:ph type="title"/>
          </p:nvPr>
        </p:nvSpPr>
        <p:spPr/>
        <p:txBody>
          <a:bodyPr vert="horz" wrap="square" lIns="92075" tIns="46038" rIns="92075" bIns="46038" anchor="t" anchorCtr="0"/>
          <a:lstStyle/>
          <a:p>
            <a:r>
              <a:rPr lang="en-GB" altLang="en-US" dirty="0"/>
              <a:t>DTD(Document Type Definition)</a:t>
            </a:r>
          </a:p>
        </p:txBody>
      </p:sp>
      <p:sp>
        <p:nvSpPr>
          <p:cNvPr id="38915" name="Rectangle 5"/>
          <p:cNvSpPr>
            <a:spLocks noGrp="1" noChangeArrowheads="1"/>
          </p:cNvSpPr>
          <p:nvPr>
            <p:ph idx="1"/>
          </p:nvPr>
        </p:nvSpPr>
        <p:spPr bwMode="auto">
          <a:xfrm>
            <a:off x="560388" y="1052513"/>
            <a:ext cx="9217025" cy="4975225"/>
          </a:xfrm>
          <a:effectLst/>
          <a:scene3d>
            <a:camera prst="orthographicFront"/>
            <a:lightRig rig="balanced" dir="t"/>
          </a:scene3d>
          <a:sp3d prstMaterial="plastic"/>
        </p:spPr>
        <p:txBody>
          <a:bodyPr vert="horz" wrap="square" lIns="92075" tIns="46038" rIns="92075" bIns="46038" numCol="1" anchor="t" anchorCtr="0" compatLnSpc="1"/>
          <a:lstStyle/>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en-US" alt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All XML documents are made up by the following</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fr-FR" altLang="en-US" sz="2500" b="0" i="0" u="none" strike="noStrike" kern="1200" cap="none" spc="0" normalizeH="0" baseline="0" noProof="0" dirty="0" err="1">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Elements</a:t>
            </a:r>
            <a:r>
              <a:rPr kumimoji="0" lang="fr-FR" altLang="en-US" sz="25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a:t>
            </a: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Elements are the main building blocks of both XML and HTML documents.</a:t>
            </a:r>
            <a:endPar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fr-FR" altLang="en-US" sz="2500" b="0" i="0" u="none" strike="noStrike" kern="1200" cap="none" spc="0" normalizeH="0" baseline="0" noProof="0" dirty="0" err="1">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Attributes</a:t>
            </a:r>
            <a:r>
              <a:rPr kumimoji="0" lang="fr-FR" altLang="en-US" sz="25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 </a:t>
            </a:r>
            <a:r>
              <a:rPr kumimoji="0" lang="fr-FR" altLang="en-US" sz="2500" b="0" i="0" u="none" strike="noStrike" kern="1200" cap="none" spc="0" normalizeH="0" baseline="0" noProof="0" dirty="0" err="1">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Attributes</a:t>
            </a:r>
            <a:r>
              <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 </a:t>
            </a:r>
            <a:r>
              <a:rPr kumimoji="0" lang="fr-FR" altLang="en-US" sz="2500" b="0" i="0" u="none" strike="noStrike" kern="1200" cap="none" spc="0" normalizeH="0" baseline="0" noProof="0" dirty="0" err="1">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provide</a:t>
            </a:r>
            <a:r>
              <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 extra information about </a:t>
            </a:r>
            <a:r>
              <a:rPr kumimoji="0" lang="fr-FR" altLang="en-US" sz="2500" b="0" i="0" u="none" strike="noStrike" kern="1200" cap="none" spc="0" normalizeH="0" baseline="0" noProof="0" dirty="0" err="1">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elements</a:t>
            </a:r>
            <a:r>
              <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fr-FR" altLang="en-US" sz="2500" b="0" i="0" u="none" strike="noStrike" kern="1200" cap="none" spc="0" normalizeH="0" baseline="0" noProof="0" dirty="0" err="1">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Entities</a:t>
            </a:r>
            <a:r>
              <a:rPr kumimoji="0" lang="fr-FR" altLang="en-US" sz="25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  </a:t>
            </a: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Some characters have a special meaning in XML, like the less than sign (&lt;) that defines the start of an XML tag.</a:t>
            </a:r>
            <a:endPar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fr-FR" altLang="en-US" sz="25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PCDATA-  </a:t>
            </a: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PCDATA means parsed character data.</a:t>
            </a:r>
          </a:p>
          <a:p>
            <a:pPr marL="0" marR="0" lvl="0" indent="0" algn="just"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PCDATA is text that WILL be parsed by a parser. The text will be examined by the parser for entities and markup.</a:t>
            </a:r>
            <a:endParaRPr kumimoji="0" lang="fr-FR"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r>
              <a:rPr kumimoji="0" lang="fr-FR" altLang="en-US" sz="25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rPr>
              <a:t>CDATA-  </a:t>
            </a: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DATA means character data.</a:t>
            </a:r>
          </a:p>
          <a:p>
            <a:pPr marL="0" marR="0" lvl="0" indent="0" algn="just"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r>
              <a:rPr kumimoji="0" lang="en-US" altLang="en-US" sz="2500" b="0" i="0" u="none" strike="noStrike" kern="1200" cap="none" spc="0" normalizeH="0" baseline="0" noProof="0" dirty="0">
                <a:ln>
                  <a:noFill/>
                </a:ln>
                <a:solidFill>
                  <a:srgbClr val="000000"/>
                </a:solidFill>
                <a:effectLst/>
                <a:highlight>
                  <a:srgbClr val="CCFFFF"/>
                </a:highlight>
                <a:uLnTx/>
                <a:uFillTx/>
                <a:latin typeface="Times New Roman" panose="02020603050405020304" pitchFamily="18" charset="0"/>
                <a:ea typeface="+mn-ea"/>
                <a:cs typeface="Times New Roman" panose="02020603050405020304" pitchFamily="18" charset="0"/>
              </a:rPr>
              <a:t>CDATA is text that will NOT be parsed by a parser. Tags inside the text will NOT be treated as markup and entities will not be expanded.</a:t>
            </a: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en-US" altLang="en-US" sz="22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fr-FR" altLang="en-US" sz="22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endParaRPr>
          </a:p>
          <a:p>
            <a:pPr marL="292100" marR="0" lvl="0" indent="-292100" algn="just" defTabSz="914400" rtl="0" eaLnBrk="0" fontAlgn="base" latinLnBrk="0" hangingPunct="0">
              <a:lnSpc>
                <a:spcPct val="100000"/>
              </a:lnSpc>
              <a:spcBef>
                <a:spcPct val="20000"/>
              </a:spcBef>
              <a:spcAft>
                <a:spcPct val="0"/>
              </a:spcAft>
              <a:buClr>
                <a:srgbClr val="640064"/>
              </a:buClr>
              <a:buSzPct val="75000"/>
              <a:buFont typeface="Arial" panose="020B0604020202020204" pitchFamily="34" charset="0"/>
              <a:buChar char="•"/>
              <a:defRPr/>
            </a:pPr>
            <a:endParaRPr kumimoji="0" lang="fr-FR" altLang="en-US" sz="2200" b="0" i="0" u="none" strike="noStrike" kern="1200" cap="none" spc="0" normalizeH="0" baseline="0" noProof="0" dirty="0">
              <a:ln>
                <a:noFill/>
              </a:ln>
              <a:solidFill>
                <a:srgbClr val="000000"/>
              </a:solidFill>
              <a:effectLst/>
              <a:highlight>
                <a:srgbClr val="FFFFCC"/>
              </a:highlight>
              <a:uLnTx/>
              <a:uFillTx/>
              <a:latin typeface="Times New Roman" panose="02020603050405020304" pitchFamily="18" charset="0"/>
              <a:ea typeface="+mn-ea"/>
              <a:cs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6A09B398-BD19-6DA7-8D7C-E94A3E97309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49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p:cNvSpPr>
          <p:nvPr>
            <p:ph type="title"/>
          </p:nvPr>
        </p:nvSpPr>
        <p:spPr/>
        <p:txBody>
          <a:bodyPr vert="horz" wrap="square" lIns="92075" tIns="46038" rIns="92075" bIns="46038" anchor="t" anchorCtr="0"/>
          <a:lstStyle/>
          <a:p>
            <a:r>
              <a:rPr lang="en-GB" altLang="en-US" dirty="0"/>
              <a:t>DTD(Document Type Definition)</a:t>
            </a:r>
          </a:p>
        </p:txBody>
      </p:sp>
      <p:sp>
        <p:nvSpPr>
          <p:cNvPr id="47107" name="Rectangle 5"/>
          <p:cNvSpPr>
            <a:spLocks noGrp="1"/>
          </p:cNvSpPr>
          <p:nvPr>
            <p:ph idx="1"/>
          </p:nvPr>
        </p:nvSpPr>
        <p:spPr>
          <a:xfrm>
            <a:off x="560388" y="1052513"/>
            <a:ext cx="9217025" cy="4975225"/>
          </a:xfrm>
        </p:spPr>
        <p:txBody>
          <a:bodyPr vert="horz" wrap="square" lIns="92075" tIns="46038" rIns="92075" bIns="46038" anchor="t" anchorCtr="0"/>
          <a:lstStyle/>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&lt;!DOCTYPE NEWSPAPER [</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NEWSPAPER (ARTICLE+)&gt;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ARTICLE (HEADLINE,BYLINE,LEAD,BODY,NOTES)&gt;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HEADLINE (#PCDATA)&gt;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BYLINE (#PCDATA)&gt;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LEAD (#PCDATA)&gt;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BODY (#PCDATA)&gt;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&lt;!ELEMENT NOTES (#PCDATA)&gt;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&lt;!ATTLIST ARTICLE AUTHOR CDATA #REQUIRED&gt;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&lt;!ATTLIST ARTICLE EDITOR CDATA #IMPLIED&gt;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&lt;!ATTLIST ARTICLE DATE CDATA #IMPLIED&gt;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&lt;!ATTLIST ARTICLE EDITION CDATA #IMPLIED&gt;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&lt;!ENTITY NEWSPAPER "Vervet Logic Times"&gt;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&lt;!ENTITY PUBLISHER "Vervet Logic Press"&gt;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&lt;!ENTITY COPYRIGHT "Copyright 1998 Vervet Logic Press"&gt;</a:t>
            </a:r>
          </a:p>
          <a:p>
            <a:pPr algn="just">
              <a:buFont typeface="Arial" panose="020B0604020202020204" pitchFamily="34" charset="0"/>
              <a:buChar char="•"/>
            </a:pPr>
            <a:r>
              <a:rPr lang="en-US" altLang="en-US" sz="1900" dirty="0">
                <a:solidFill>
                  <a:srgbClr val="000000"/>
                </a:solidFill>
                <a:latin typeface="Times New Roman" panose="02020603050405020304" pitchFamily="18" charset="0"/>
                <a:cs typeface="Times New Roman" panose="02020603050405020304" pitchFamily="18" charset="0"/>
              </a:rPr>
              <a:t>]&gt;</a:t>
            </a:r>
            <a:endParaRPr lang="en-US" altLang="en-US" sz="1900" dirty="0">
              <a:solidFill>
                <a:srgbClr val="000000"/>
              </a:solidFill>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20F0910F-5A14-EF17-40A6-0C2AD35E4BF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3E0C27-FA80-2756-704C-66E5E2A2810F}"/>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B8C1EB68-A2C0-3843-03F8-889B3FC47D17}"/>
              </a:ext>
            </a:extLst>
          </p:cNvPr>
          <p:cNvSpPr>
            <a:spLocks noGrp="1"/>
          </p:cNvSpPr>
          <p:nvPr>
            <p:ph type="title"/>
          </p:nvPr>
        </p:nvSpPr>
        <p:spPr/>
        <p:txBody>
          <a:bodyPr vert="horz" wrap="square" lIns="92075" tIns="46038" rIns="92075" bIns="46038" anchor="t" anchorCtr="0"/>
          <a:lstStyle/>
          <a:p>
            <a:r>
              <a:rPr lang="en-GB" altLang="en-US" dirty="0"/>
              <a:t>XML Schema</a:t>
            </a:r>
          </a:p>
        </p:txBody>
      </p:sp>
      <p:sp>
        <p:nvSpPr>
          <p:cNvPr id="47107" name="Rectangle 5">
            <a:extLst>
              <a:ext uri="{FF2B5EF4-FFF2-40B4-BE49-F238E27FC236}">
                <a16:creationId xmlns="" xmlns:a16="http://schemas.microsoft.com/office/drawing/2014/main" id="{1F1954F6-F6DC-0F75-7C35-8DB3B24FFBA6}"/>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An XML Schema describes the structure of an XML document, just like a DTD.</a:t>
            </a:r>
          </a:p>
          <a:p>
            <a:r>
              <a:rPr lang="en-US" dirty="0"/>
              <a:t>An XML document with correct syntax is called "Well Formed".</a:t>
            </a:r>
          </a:p>
          <a:p>
            <a:r>
              <a:rPr lang="en-US" dirty="0"/>
              <a:t>An XML document validated against an XML Schema is both "Well Formed" and "Valid".</a:t>
            </a:r>
          </a:p>
        </p:txBody>
      </p:sp>
      <p:sp>
        <p:nvSpPr>
          <p:cNvPr id="2" name="Slide Number Placeholder 1">
            <a:extLst>
              <a:ext uri="{FF2B5EF4-FFF2-40B4-BE49-F238E27FC236}">
                <a16:creationId xmlns="" xmlns:a16="http://schemas.microsoft.com/office/drawing/2014/main" id="{ABB7D3E0-B291-AD93-D28A-23B9A9CC1674}"/>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51</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87329097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CDFFAC-C954-6C40-59FF-2007DD93A878}"/>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186E12D8-6AAE-7C59-6ECB-4D879977FD57}"/>
              </a:ext>
            </a:extLst>
          </p:cNvPr>
          <p:cNvSpPr>
            <a:spLocks noGrp="1"/>
          </p:cNvSpPr>
          <p:nvPr>
            <p:ph type="title"/>
          </p:nvPr>
        </p:nvSpPr>
        <p:spPr/>
        <p:txBody>
          <a:bodyPr vert="horz" wrap="square" lIns="92075" tIns="46038" rIns="92075" bIns="46038" anchor="t" anchorCtr="0"/>
          <a:lstStyle/>
          <a:p>
            <a:r>
              <a:rPr lang="en-GB" altLang="en-US" dirty="0"/>
              <a:t>XML Schema</a:t>
            </a:r>
          </a:p>
        </p:txBody>
      </p:sp>
      <p:sp>
        <p:nvSpPr>
          <p:cNvPr id="47107" name="Rectangle 5">
            <a:extLst>
              <a:ext uri="{FF2B5EF4-FFF2-40B4-BE49-F238E27FC236}">
                <a16:creationId xmlns="" xmlns:a16="http://schemas.microsoft.com/office/drawing/2014/main" id="{728625F2-8344-9D12-0E89-16CCEAC9573C}"/>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XML Schema is an XML-based alternative to DTD:</a:t>
            </a:r>
          </a:p>
        </p:txBody>
      </p:sp>
      <p:sp>
        <p:nvSpPr>
          <p:cNvPr id="3" name="TextBox 2">
            <a:extLst>
              <a:ext uri="{FF2B5EF4-FFF2-40B4-BE49-F238E27FC236}">
                <a16:creationId xmlns="" xmlns:a16="http://schemas.microsoft.com/office/drawing/2014/main" id="{C9586B5F-B3DD-6C5A-9F52-F520731DB053}"/>
              </a:ext>
            </a:extLst>
          </p:cNvPr>
          <p:cNvSpPr txBox="1"/>
          <p:nvPr/>
        </p:nvSpPr>
        <p:spPr>
          <a:xfrm>
            <a:off x="594990" y="1748716"/>
            <a:ext cx="4358010" cy="4524315"/>
          </a:xfrm>
          <a:prstGeom prst="rect">
            <a:avLst/>
          </a:prstGeom>
          <a:noFill/>
        </p:spPr>
        <p:txBody>
          <a:bodyPr wrap="square">
            <a:spAutoFit/>
          </a:bodyPr>
          <a:lstStyle/>
          <a:p>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xs:element</a:t>
            </a:r>
            <a:r>
              <a:rPr lang="en-IN" b="0" i="0" dirty="0">
                <a:solidFill>
                  <a:srgbClr val="008000"/>
                </a:solidFill>
                <a:effectLst/>
                <a:latin typeface="Consolas" panose="020B0609020204030204" pitchFamily="49" charset="0"/>
              </a:rPr>
              <a:t> name</a:t>
            </a:r>
            <a:r>
              <a:rPr lang="en-IN" b="0" i="0" dirty="0">
                <a:solidFill>
                  <a:srgbClr val="005CC5"/>
                </a:solidFill>
                <a:effectLst/>
                <a:latin typeface="Consolas" panose="020B0609020204030204" pitchFamily="49" charset="0"/>
              </a:rPr>
              <a:t>="note"</a:t>
            </a:r>
            <a:r>
              <a:rPr lang="en-IN" b="0" i="0" dirty="0">
                <a:solidFill>
                  <a:srgbClr val="999999"/>
                </a:solidFill>
                <a:effectLst/>
                <a:latin typeface="Consolas" panose="020B0609020204030204" pitchFamily="49" charset="0"/>
              </a:rPr>
              <a:t>&gt;</a:t>
            </a:r>
            <a:r>
              <a:rPr lang="en-IN" dirty="0"/>
              <a:t/>
            </a:r>
            <a:br>
              <a:rPr lang="en-IN" dirty="0"/>
            </a:br>
            <a:r>
              <a:rPr lang="en-IN" dirty="0"/>
              <a:t/>
            </a:r>
            <a:br>
              <a:rPr lang="en-IN" dirty="0"/>
            </a:b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xs:complexType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xs:sequence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xs:element</a:t>
            </a:r>
            <a:r>
              <a:rPr lang="en-IN" b="0" i="0" dirty="0">
                <a:solidFill>
                  <a:srgbClr val="008000"/>
                </a:solidFill>
                <a:effectLst/>
                <a:latin typeface="Consolas" panose="020B0609020204030204" pitchFamily="49" charset="0"/>
              </a:rPr>
              <a:t> name</a:t>
            </a:r>
            <a:r>
              <a:rPr lang="en-IN" b="0" i="0" dirty="0">
                <a:solidFill>
                  <a:srgbClr val="005CC5"/>
                </a:solidFill>
                <a:effectLst/>
                <a:latin typeface="Consolas" panose="020B0609020204030204" pitchFamily="49" charset="0"/>
              </a:rPr>
              <a:t>="to"</a:t>
            </a:r>
            <a:r>
              <a:rPr lang="en-IN" b="0" i="0" dirty="0">
                <a:solidFill>
                  <a:srgbClr val="008000"/>
                </a:solidFill>
                <a:effectLst/>
                <a:latin typeface="Consolas" panose="020B0609020204030204" pitchFamily="49" charset="0"/>
              </a:rPr>
              <a:t> type</a:t>
            </a:r>
            <a:r>
              <a:rPr lang="en-IN" b="0" i="0" dirty="0">
                <a:solidFill>
                  <a:srgbClr val="005CC5"/>
                </a:solidFill>
                <a:effectLst/>
                <a:latin typeface="Consolas" panose="020B0609020204030204" pitchFamily="49" charset="0"/>
              </a:rPr>
              <a:t>="</a:t>
            </a:r>
            <a:r>
              <a:rPr lang="en-IN" b="0" i="0" dirty="0" err="1">
                <a:solidFill>
                  <a:srgbClr val="005CC5"/>
                </a:solidFill>
                <a:effectLst/>
                <a:latin typeface="Consolas" panose="020B0609020204030204" pitchFamily="49" charset="0"/>
              </a:rPr>
              <a:t>xs:string</a:t>
            </a:r>
            <a:r>
              <a:rPr lang="en-IN" b="0" i="0" dirty="0">
                <a:solidFill>
                  <a:srgbClr val="005CC5"/>
                </a:solidFill>
                <a:effectLst/>
                <a:latin typeface="Consolas" panose="020B0609020204030204" pitchFamily="49" charset="0"/>
              </a:rPr>
              <a:t>"</a:t>
            </a:r>
            <a:r>
              <a:rPr lang="en-IN" b="0" i="0" dirty="0">
                <a:solidFill>
                  <a:srgbClr val="008000"/>
                </a:solidFill>
                <a:effectLst/>
                <a:latin typeface="Consolas" panose="020B0609020204030204" pitchFamily="49" charset="0"/>
              </a:rPr>
              <a:t>/</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xs:element</a:t>
            </a:r>
            <a:r>
              <a:rPr lang="en-IN" b="0" i="0" dirty="0">
                <a:solidFill>
                  <a:srgbClr val="008000"/>
                </a:solidFill>
                <a:effectLst/>
                <a:latin typeface="Consolas" panose="020B0609020204030204" pitchFamily="49" charset="0"/>
              </a:rPr>
              <a:t> name</a:t>
            </a:r>
            <a:r>
              <a:rPr lang="en-IN" b="0" i="0" dirty="0">
                <a:solidFill>
                  <a:srgbClr val="005CC5"/>
                </a:solidFill>
                <a:effectLst/>
                <a:latin typeface="Consolas" panose="020B0609020204030204" pitchFamily="49" charset="0"/>
              </a:rPr>
              <a:t>="from"</a:t>
            </a:r>
            <a:r>
              <a:rPr lang="en-IN" b="0" i="0" dirty="0">
                <a:solidFill>
                  <a:srgbClr val="008000"/>
                </a:solidFill>
                <a:effectLst/>
                <a:latin typeface="Consolas" panose="020B0609020204030204" pitchFamily="49" charset="0"/>
              </a:rPr>
              <a:t> type</a:t>
            </a:r>
            <a:r>
              <a:rPr lang="en-IN" b="0" i="0" dirty="0">
                <a:solidFill>
                  <a:srgbClr val="005CC5"/>
                </a:solidFill>
                <a:effectLst/>
                <a:latin typeface="Consolas" panose="020B0609020204030204" pitchFamily="49" charset="0"/>
              </a:rPr>
              <a:t>="</a:t>
            </a:r>
            <a:r>
              <a:rPr lang="en-IN" b="0" i="0" dirty="0" err="1">
                <a:solidFill>
                  <a:srgbClr val="005CC5"/>
                </a:solidFill>
                <a:effectLst/>
                <a:latin typeface="Consolas" panose="020B0609020204030204" pitchFamily="49" charset="0"/>
              </a:rPr>
              <a:t>xs:string</a:t>
            </a:r>
            <a:r>
              <a:rPr lang="en-IN" b="0" i="0" dirty="0">
                <a:solidFill>
                  <a:srgbClr val="005CC5"/>
                </a:solidFill>
                <a:effectLst/>
                <a:latin typeface="Consolas" panose="020B0609020204030204" pitchFamily="49" charset="0"/>
              </a:rPr>
              <a:t>"</a:t>
            </a:r>
            <a:r>
              <a:rPr lang="en-IN" b="0" i="0" dirty="0">
                <a:solidFill>
                  <a:srgbClr val="008000"/>
                </a:solidFill>
                <a:effectLst/>
                <a:latin typeface="Consolas" panose="020B0609020204030204" pitchFamily="49" charset="0"/>
              </a:rPr>
              <a:t>/</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xs:element</a:t>
            </a:r>
            <a:r>
              <a:rPr lang="en-IN" b="0" i="0" dirty="0">
                <a:solidFill>
                  <a:srgbClr val="008000"/>
                </a:solidFill>
                <a:effectLst/>
                <a:latin typeface="Consolas" panose="020B0609020204030204" pitchFamily="49" charset="0"/>
              </a:rPr>
              <a:t> name</a:t>
            </a:r>
            <a:r>
              <a:rPr lang="en-IN" b="0" i="0" dirty="0">
                <a:solidFill>
                  <a:srgbClr val="005CC5"/>
                </a:solidFill>
                <a:effectLst/>
                <a:latin typeface="Consolas" panose="020B0609020204030204" pitchFamily="49" charset="0"/>
              </a:rPr>
              <a:t>="heading"</a:t>
            </a:r>
            <a:r>
              <a:rPr lang="en-IN" b="0" i="0" dirty="0">
                <a:solidFill>
                  <a:srgbClr val="008000"/>
                </a:solidFill>
                <a:effectLst/>
                <a:latin typeface="Consolas" panose="020B0609020204030204" pitchFamily="49" charset="0"/>
              </a:rPr>
              <a:t> type</a:t>
            </a:r>
            <a:r>
              <a:rPr lang="en-IN" b="0" i="0" dirty="0">
                <a:solidFill>
                  <a:srgbClr val="005CC5"/>
                </a:solidFill>
                <a:effectLst/>
                <a:latin typeface="Consolas" panose="020B0609020204030204" pitchFamily="49" charset="0"/>
              </a:rPr>
              <a:t>="</a:t>
            </a:r>
            <a:r>
              <a:rPr lang="en-IN" b="0" i="0" dirty="0" err="1">
                <a:solidFill>
                  <a:srgbClr val="005CC5"/>
                </a:solidFill>
                <a:effectLst/>
                <a:latin typeface="Consolas" panose="020B0609020204030204" pitchFamily="49" charset="0"/>
              </a:rPr>
              <a:t>xs:string</a:t>
            </a:r>
            <a:r>
              <a:rPr lang="en-IN" b="0" i="0" dirty="0">
                <a:solidFill>
                  <a:srgbClr val="005CC5"/>
                </a:solidFill>
                <a:effectLst/>
                <a:latin typeface="Consolas" panose="020B0609020204030204" pitchFamily="49" charset="0"/>
              </a:rPr>
              <a:t>"</a:t>
            </a:r>
            <a:r>
              <a:rPr lang="en-IN" b="0" i="0" dirty="0">
                <a:solidFill>
                  <a:srgbClr val="008000"/>
                </a:solidFill>
                <a:effectLst/>
                <a:latin typeface="Consolas" panose="020B0609020204030204" pitchFamily="49" charset="0"/>
              </a:rPr>
              <a:t>/</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xs:element</a:t>
            </a:r>
            <a:r>
              <a:rPr lang="en-IN" b="0" i="0" dirty="0">
                <a:solidFill>
                  <a:srgbClr val="008000"/>
                </a:solidFill>
                <a:effectLst/>
                <a:latin typeface="Consolas" panose="020B0609020204030204" pitchFamily="49" charset="0"/>
              </a:rPr>
              <a:t> name</a:t>
            </a:r>
            <a:r>
              <a:rPr lang="en-IN" b="0" i="0" dirty="0">
                <a:solidFill>
                  <a:srgbClr val="005CC5"/>
                </a:solidFill>
                <a:effectLst/>
                <a:latin typeface="Consolas" panose="020B0609020204030204" pitchFamily="49" charset="0"/>
              </a:rPr>
              <a:t>="body"</a:t>
            </a:r>
            <a:r>
              <a:rPr lang="en-IN" b="0" i="0" dirty="0">
                <a:solidFill>
                  <a:srgbClr val="008000"/>
                </a:solidFill>
                <a:effectLst/>
                <a:latin typeface="Consolas" panose="020B0609020204030204" pitchFamily="49" charset="0"/>
              </a:rPr>
              <a:t> type</a:t>
            </a:r>
            <a:r>
              <a:rPr lang="en-IN" b="0" i="0" dirty="0">
                <a:solidFill>
                  <a:srgbClr val="005CC5"/>
                </a:solidFill>
                <a:effectLst/>
                <a:latin typeface="Consolas" panose="020B0609020204030204" pitchFamily="49" charset="0"/>
              </a:rPr>
              <a:t>="</a:t>
            </a:r>
            <a:r>
              <a:rPr lang="en-IN" b="0" i="0" dirty="0" err="1">
                <a:solidFill>
                  <a:srgbClr val="005CC5"/>
                </a:solidFill>
                <a:effectLst/>
                <a:latin typeface="Consolas" panose="020B0609020204030204" pitchFamily="49" charset="0"/>
              </a:rPr>
              <a:t>xs:string</a:t>
            </a:r>
            <a:r>
              <a:rPr lang="en-IN" b="0" i="0" dirty="0">
                <a:solidFill>
                  <a:srgbClr val="005CC5"/>
                </a:solidFill>
                <a:effectLst/>
                <a:latin typeface="Consolas" panose="020B0609020204030204" pitchFamily="49" charset="0"/>
              </a:rPr>
              <a:t>"</a:t>
            </a:r>
            <a:r>
              <a:rPr lang="en-IN" b="0" i="0" dirty="0">
                <a:solidFill>
                  <a:srgbClr val="008000"/>
                </a:solidFill>
                <a:effectLst/>
                <a:latin typeface="Consolas" panose="020B0609020204030204" pitchFamily="49" charset="0"/>
              </a:rPr>
              <a:t>/</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xs:sequence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xs:complexType</a:t>
            </a:r>
            <a:r>
              <a:rPr lang="en-IN" b="0" i="0" dirty="0">
                <a:solidFill>
                  <a:srgbClr val="999999"/>
                </a:solidFill>
                <a:effectLst/>
                <a:latin typeface="Consolas" panose="020B0609020204030204" pitchFamily="49" charset="0"/>
              </a:rPr>
              <a:t>&gt;</a:t>
            </a:r>
            <a:r>
              <a:rPr lang="en-IN" dirty="0"/>
              <a:t/>
            </a:r>
            <a:br>
              <a:rPr lang="en-IN" dirty="0"/>
            </a:br>
            <a:r>
              <a:rPr lang="en-IN" dirty="0"/>
              <a:t/>
            </a:r>
            <a:br>
              <a:rPr lang="en-IN" dirty="0"/>
            </a:b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xs:element</a:t>
            </a:r>
            <a:r>
              <a:rPr lang="en-IN" b="0" i="0" dirty="0">
                <a:solidFill>
                  <a:srgbClr val="999999"/>
                </a:solidFill>
                <a:effectLst/>
                <a:latin typeface="Consolas" panose="020B0609020204030204" pitchFamily="49" charset="0"/>
              </a:rPr>
              <a:t>&gt;</a:t>
            </a:r>
            <a:endParaRPr lang="en-IN" dirty="0"/>
          </a:p>
        </p:txBody>
      </p:sp>
      <p:sp>
        <p:nvSpPr>
          <p:cNvPr id="5" name="TextBox 4">
            <a:extLst>
              <a:ext uri="{FF2B5EF4-FFF2-40B4-BE49-F238E27FC236}">
                <a16:creationId xmlns="" xmlns:a16="http://schemas.microsoft.com/office/drawing/2014/main" id="{5B22E380-3F3B-CCEA-C8DF-A7D8F0DB7D63}"/>
              </a:ext>
            </a:extLst>
          </p:cNvPr>
          <p:cNvSpPr txBox="1"/>
          <p:nvPr/>
        </p:nvSpPr>
        <p:spPr>
          <a:xfrm>
            <a:off x="4953000" y="1628800"/>
            <a:ext cx="4859015" cy="4801314"/>
          </a:xfrm>
          <a:prstGeom prst="rect">
            <a:avLst/>
          </a:prstGeom>
          <a:noFill/>
        </p:spPr>
        <p:txBody>
          <a:bodyPr wrap="square">
            <a:spAutoFit/>
          </a:bodyPr>
          <a:lstStyle/>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xs:element</a:t>
            </a:r>
            <a:r>
              <a:rPr lang="en-US" b="1" i="0" dirty="0">
                <a:solidFill>
                  <a:srgbClr val="000000"/>
                </a:solidFill>
                <a:effectLst/>
                <a:latin typeface="Segoe UI" panose="020B0502040204020203" pitchFamily="34" charset="0"/>
              </a:rPr>
              <a:t> name="note"&gt; </a:t>
            </a:r>
            <a:r>
              <a:rPr lang="en-US" b="0" i="0" dirty="0">
                <a:solidFill>
                  <a:srgbClr val="000000"/>
                </a:solidFill>
                <a:effectLst/>
                <a:latin typeface="Segoe UI" panose="020B0502040204020203" pitchFamily="34" charset="0"/>
              </a:rPr>
              <a:t>defines the element called "note"</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xs:complexType</a:t>
            </a:r>
            <a:r>
              <a:rPr lang="en-US" b="1" i="0" dirty="0">
                <a:solidFill>
                  <a:srgbClr val="000000"/>
                </a:solidFill>
                <a:effectLst/>
                <a:latin typeface="Segoe UI" panose="020B0502040204020203" pitchFamily="34" charset="0"/>
              </a:rPr>
              <a:t>&gt;</a:t>
            </a:r>
            <a:r>
              <a:rPr lang="en-US" b="0" i="0" dirty="0">
                <a:solidFill>
                  <a:srgbClr val="000000"/>
                </a:solidFill>
                <a:effectLst/>
                <a:latin typeface="Segoe UI" panose="020B0502040204020203" pitchFamily="34" charset="0"/>
              </a:rPr>
              <a:t> the "note" element is a complex type</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xs:sequence</a:t>
            </a:r>
            <a:r>
              <a:rPr lang="en-US" b="1" i="0" dirty="0">
                <a:solidFill>
                  <a:srgbClr val="000000"/>
                </a:solidFill>
                <a:effectLst/>
                <a:latin typeface="Segoe UI" panose="020B0502040204020203" pitchFamily="34" charset="0"/>
              </a:rPr>
              <a:t>&gt; </a:t>
            </a:r>
            <a:r>
              <a:rPr lang="en-US" b="0" i="0" dirty="0">
                <a:solidFill>
                  <a:srgbClr val="000000"/>
                </a:solidFill>
                <a:effectLst/>
                <a:latin typeface="Segoe UI" panose="020B0502040204020203" pitchFamily="34" charset="0"/>
              </a:rPr>
              <a:t>the complex type is a sequence of elements</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xs:element</a:t>
            </a:r>
            <a:r>
              <a:rPr lang="en-US" b="1" i="0" dirty="0">
                <a:solidFill>
                  <a:srgbClr val="000000"/>
                </a:solidFill>
                <a:effectLst/>
                <a:latin typeface="Segoe UI" panose="020B0502040204020203" pitchFamily="34" charset="0"/>
              </a:rPr>
              <a:t> name="to" type="</a:t>
            </a:r>
            <a:r>
              <a:rPr lang="en-US" b="1" i="0" dirty="0" err="1">
                <a:solidFill>
                  <a:srgbClr val="000000"/>
                </a:solidFill>
                <a:effectLst/>
                <a:latin typeface="Segoe UI" panose="020B0502040204020203" pitchFamily="34" charset="0"/>
              </a:rPr>
              <a:t>xs:string</a:t>
            </a:r>
            <a:r>
              <a:rPr lang="en-US" b="1" i="0" dirty="0">
                <a:solidFill>
                  <a:srgbClr val="000000"/>
                </a:solidFill>
                <a:effectLst/>
                <a:latin typeface="Segoe UI" panose="020B0502040204020203" pitchFamily="34" charset="0"/>
              </a:rPr>
              <a:t>"&gt; </a:t>
            </a:r>
            <a:r>
              <a:rPr lang="en-US" b="0" i="0" dirty="0">
                <a:solidFill>
                  <a:srgbClr val="000000"/>
                </a:solidFill>
                <a:effectLst/>
                <a:latin typeface="Segoe UI" panose="020B0502040204020203" pitchFamily="34" charset="0"/>
              </a:rPr>
              <a:t>the element "to" is of type string (text)</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xs:element</a:t>
            </a:r>
            <a:r>
              <a:rPr lang="en-US" b="1" i="0" dirty="0">
                <a:solidFill>
                  <a:srgbClr val="000000"/>
                </a:solidFill>
                <a:effectLst/>
                <a:latin typeface="Segoe UI" panose="020B0502040204020203" pitchFamily="34" charset="0"/>
              </a:rPr>
              <a:t> name="from" type="</a:t>
            </a:r>
            <a:r>
              <a:rPr lang="en-US" b="1" i="0" dirty="0" err="1">
                <a:solidFill>
                  <a:srgbClr val="000000"/>
                </a:solidFill>
                <a:effectLst/>
                <a:latin typeface="Segoe UI" panose="020B0502040204020203" pitchFamily="34" charset="0"/>
              </a:rPr>
              <a:t>xs:string</a:t>
            </a:r>
            <a:r>
              <a:rPr lang="en-US" b="1" i="0" dirty="0">
                <a:solidFill>
                  <a:srgbClr val="000000"/>
                </a:solidFill>
                <a:effectLst/>
                <a:latin typeface="Segoe UI" panose="020B0502040204020203" pitchFamily="34" charset="0"/>
              </a:rPr>
              <a:t>"&gt; </a:t>
            </a:r>
            <a:r>
              <a:rPr lang="en-US" b="0" i="0" dirty="0">
                <a:solidFill>
                  <a:srgbClr val="000000"/>
                </a:solidFill>
                <a:effectLst/>
                <a:latin typeface="Segoe UI" panose="020B0502040204020203" pitchFamily="34" charset="0"/>
              </a:rPr>
              <a:t>the element "from" is of type string</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xs:element</a:t>
            </a:r>
            <a:r>
              <a:rPr lang="en-US" b="1" i="0" dirty="0">
                <a:solidFill>
                  <a:srgbClr val="000000"/>
                </a:solidFill>
                <a:effectLst/>
                <a:latin typeface="Segoe UI" panose="020B0502040204020203" pitchFamily="34" charset="0"/>
              </a:rPr>
              <a:t> name="heading" type="</a:t>
            </a:r>
            <a:r>
              <a:rPr lang="en-US" b="1" i="0" dirty="0" err="1">
                <a:solidFill>
                  <a:srgbClr val="000000"/>
                </a:solidFill>
                <a:effectLst/>
                <a:latin typeface="Segoe UI" panose="020B0502040204020203" pitchFamily="34" charset="0"/>
              </a:rPr>
              <a:t>xs:string</a:t>
            </a:r>
            <a:r>
              <a:rPr lang="en-US" b="1" i="0" dirty="0">
                <a:solidFill>
                  <a:srgbClr val="000000"/>
                </a:solidFill>
                <a:effectLst/>
                <a:latin typeface="Segoe UI" panose="020B0502040204020203" pitchFamily="34" charset="0"/>
              </a:rPr>
              <a:t>"&gt; </a:t>
            </a:r>
            <a:r>
              <a:rPr lang="en-US" b="0" i="0" dirty="0">
                <a:solidFill>
                  <a:srgbClr val="000000"/>
                </a:solidFill>
                <a:effectLst/>
                <a:latin typeface="Segoe UI" panose="020B0502040204020203" pitchFamily="34" charset="0"/>
              </a:rPr>
              <a:t>the element "heading" is of type string</a:t>
            </a:r>
          </a:p>
          <a:p>
            <a:pPr algn="l">
              <a:buFont typeface="Arial" panose="020B0604020202020204" pitchFamily="34" charset="0"/>
              <a:buChar char="•"/>
            </a:pPr>
            <a:r>
              <a:rPr lang="en-US" b="1" i="0" dirty="0">
                <a:solidFill>
                  <a:srgbClr val="000000"/>
                </a:solidFill>
                <a:effectLst/>
                <a:latin typeface="Segoe UI" panose="020B0502040204020203" pitchFamily="34" charset="0"/>
              </a:rPr>
              <a:t>&lt;</a:t>
            </a:r>
            <a:r>
              <a:rPr lang="en-US" b="1" i="0" dirty="0" err="1">
                <a:solidFill>
                  <a:srgbClr val="000000"/>
                </a:solidFill>
                <a:effectLst/>
                <a:latin typeface="Segoe UI" panose="020B0502040204020203" pitchFamily="34" charset="0"/>
              </a:rPr>
              <a:t>xs:element</a:t>
            </a:r>
            <a:r>
              <a:rPr lang="en-US" b="1" i="0" dirty="0">
                <a:solidFill>
                  <a:srgbClr val="000000"/>
                </a:solidFill>
                <a:effectLst/>
                <a:latin typeface="Segoe UI" panose="020B0502040204020203" pitchFamily="34" charset="0"/>
              </a:rPr>
              <a:t> name="body" type="</a:t>
            </a:r>
            <a:r>
              <a:rPr lang="en-US" b="1" i="0" dirty="0" err="1">
                <a:solidFill>
                  <a:srgbClr val="000000"/>
                </a:solidFill>
                <a:effectLst/>
                <a:latin typeface="Segoe UI" panose="020B0502040204020203" pitchFamily="34" charset="0"/>
              </a:rPr>
              <a:t>xs:string</a:t>
            </a:r>
            <a:r>
              <a:rPr lang="en-US" b="1" i="0" dirty="0">
                <a:solidFill>
                  <a:srgbClr val="000000"/>
                </a:solidFill>
                <a:effectLst/>
                <a:latin typeface="Segoe UI" panose="020B0502040204020203" pitchFamily="34" charset="0"/>
              </a:rPr>
              <a:t>"&gt;</a:t>
            </a:r>
            <a:r>
              <a:rPr lang="en-US" b="0" i="0" dirty="0">
                <a:solidFill>
                  <a:srgbClr val="000000"/>
                </a:solidFill>
                <a:effectLst/>
                <a:latin typeface="Segoe UI" panose="020B0502040204020203" pitchFamily="34" charset="0"/>
              </a:rPr>
              <a:t> the element "body" is of type string</a:t>
            </a:r>
          </a:p>
        </p:txBody>
      </p:sp>
      <p:sp>
        <p:nvSpPr>
          <p:cNvPr id="6" name="Slide Number Placeholder 5">
            <a:extLst>
              <a:ext uri="{FF2B5EF4-FFF2-40B4-BE49-F238E27FC236}">
                <a16:creationId xmlns="" xmlns:a16="http://schemas.microsoft.com/office/drawing/2014/main" id="{9961720D-FD59-28EA-9202-CD675388266A}"/>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52</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6192043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103DE8-6C31-4F45-EAE7-1E1AFB378195}"/>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BDED1374-0C97-B4E9-F575-6D749813EA64}"/>
              </a:ext>
            </a:extLst>
          </p:cNvPr>
          <p:cNvSpPr>
            <a:spLocks noGrp="1"/>
          </p:cNvSpPr>
          <p:nvPr>
            <p:ph type="title"/>
          </p:nvPr>
        </p:nvSpPr>
        <p:spPr/>
        <p:txBody>
          <a:bodyPr vert="horz" wrap="square" lIns="92075" tIns="46038" rIns="92075" bIns="46038" anchor="t" anchorCtr="0"/>
          <a:lstStyle/>
          <a:p>
            <a:r>
              <a:rPr lang="en-GB" altLang="en-US" dirty="0"/>
              <a:t>XML Schema</a:t>
            </a:r>
          </a:p>
        </p:txBody>
      </p:sp>
      <p:sp>
        <p:nvSpPr>
          <p:cNvPr id="47107" name="Rectangle 5">
            <a:extLst>
              <a:ext uri="{FF2B5EF4-FFF2-40B4-BE49-F238E27FC236}">
                <a16:creationId xmlns="" xmlns:a16="http://schemas.microsoft.com/office/drawing/2014/main" id="{42E498D1-CCA7-1B6D-8B2A-04E18DADE693}"/>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XML Schemas are More Powerful than DTD</a:t>
            </a:r>
          </a:p>
          <a:p>
            <a:pPr lvl="1"/>
            <a:r>
              <a:rPr lang="en-US" dirty="0"/>
              <a:t>XML Schemas are written in XML</a:t>
            </a:r>
          </a:p>
          <a:p>
            <a:pPr lvl="1"/>
            <a:r>
              <a:rPr lang="en-US" dirty="0"/>
              <a:t>XML Schemas are extensible to additions</a:t>
            </a:r>
          </a:p>
          <a:p>
            <a:pPr lvl="1"/>
            <a:r>
              <a:rPr lang="en-US" dirty="0"/>
              <a:t>XML Schemas support data types</a:t>
            </a:r>
          </a:p>
          <a:p>
            <a:pPr lvl="1"/>
            <a:r>
              <a:rPr lang="en-US" dirty="0"/>
              <a:t>XML Schemas support namespaces</a:t>
            </a:r>
          </a:p>
          <a:p>
            <a:pPr marL="0" indent="0">
              <a:buNone/>
            </a:pPr>
            <a:r>
              <a:rPr lang="en-US" dirty="0"/>
              <a:t/>
            </a:r>
            <a:br>
              <a:rPr lang="en-US" dirty="0"/>
            </a:br>
            <a:endParaRPr lang="en-US" dirty="0"/>
          </a:p>
        </p:txBody>
      </p:sp>
      <p:sp>
        <p:nvSpPr>
          <p:cNvPr id="2" name="Slide Number Placeholder 1">
            <a:extLst>
              <a:ext uri="{FF2B5EF4-FFF2-40B4-BE49-F238E27FC236}">
                <a16:creationId xmlns="" xmlns:a16="http://schemas.microsoft.com/office/drawing/2014/main" id="{0BA91343-CDE9-BD84-8AA8-9744F1F43DB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53</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7317658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01125C-96FE-5784-5A89-1F3BB7FC7885}"/>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73992A7B-F81D-E328-7878-D695490830CF}"/>
              </a:ext>
            </a:extLst>
          </p:cNvPr>
          <p:cNvSpPr>
            <a:spLocks noGrp="1"/>
          </p:cNvSpPr>
          <p:nvPr>
            <p:ph type="title"/>
          </p:nvPr>
        </p:nvSpPr>
        <p:spPr/>
        <p:txBody>
          <a:bodyPr vert="horz" wrap="square" lIns="92075" tIns="46038" rIns="92075" bIns="46038" anchor="t" anchorCtr="0"/>
          <a:lstStyle/>
          <a:p>
            <a:r>
              <a:rPr lang="en-GB" altLang="en-US" dirty="0"/>
              <a:t>XML Schema</a:t>
            </a:r>
          </a:p>
        </p:txBody>
      </p:sp>
      <p:sp>
        <p:nvSpPr>
          <p:cNvPr id="47107" name="Rectangle 5">
            <a:extLst>
              <a:ext uri="{FF2B5EF4-FFF2-40B4-BE49-F238E27FC236}">
                <a16:creationId xmlns="" xmlns:a16="http://schemas.microsoft.com/office/drawing/2014/main" id="{F27F49A9-7019-E79F-5A4A-794996FA58D0}"/>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One of the greatest strengths of XML Schemas is the </a:t>
            </a:r>
            <a:r>
              <a:rPr lang="en-US" b="1" dirty="0"/>
              <a:t>support for data types</a:t>
            </a:r>
            <a:r>
              <a:rPr lang="en-US" dirty="0"/>
              <a:t>:</a:t>
            </a:r>
          </a:p>
          <a:p>
            <a:endParaRPr lang="en-US" dirty="0"/>
          </a:p>
          <a:p>
            <a:pPr lvl="1"/>
            <a:r>
              <a:rPr lang="en-US" dirty="0"/>
              <a:t>It is easier to describe document content</a:t>
            </a:r>
          </a:p>
          <a:p>
            <a:pPr lvl="1"/>
            <a:r>
              <a:rPr lang="en-US" dirty="0"/>
              <a:t>It is easier to define restrictions on data</a:t>
            </a:r>
          </a:p>
          <a:p>
            <a:pPr lvl="1"/>
            <a:r>
              <a:rPr lang="en-US" dirty="0"/>
              <a:t>It is easier to validate the correctness of data</a:t>
            </a:r>
          </a:p>
          <a:p>
            <a:pPr lvl="1"/>
            <a:r>
              <a:rPr lang="en-US" dirty="0"/>
              <a:t>It is easier to convert data between different data types</a:t>
            </a:r>
            <a:br>
              <a:rPr lang="en-US" dirty="0"/>
            </a:br>
            <a:endParaRPr lang="en-US" dirty="0"/>
          </a:p>
        </p:txBody>
      </p:sp>
      <p:sp>
        <p:nvSpPr>
          <p:cNvPr id="2" name="Slide Number Placeholder 1">
            <a:extLst>
              <a:ext uri="{FF2B5EF4-FFF2-40B4-BE49-F238E27FC236}">
                <a16:creationId xmlns="" xmlns:a16="http://schemas.microsoft.com/office/drawing/2014/main" id="{0922DCB3-32BD-7E2E-2BB8-FCCE739755A4}"/>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54</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27453315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CDE4899-67F3-5C96-72E1-B3F8C18E591C}"/>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7549A92D-0611-8092-C264-56BF00BA96E6}"/>
              </a:ext>
            </a:extLst>
          </p:cNvPr>
          <p:cNvSpPr>
            <a:spLocks noGrp="1"/>
          </p:cNvSpPr>
          <p:nvPr>
            <p:ph type="title"/>
          </p:nvPr>
        </p:nvSpPr>
        <p:spPr/>
        <p:txBody>
          <a:bodyPr vert="horz" wrap="square" lIns="92075" tIns="46038" rIns="92075" bIns="46038" anchor="t" anchorCtr="0"/>
          <a:lstStyle/>
          <a:p>
            <a:r>
              <a:rPr lang="en-GB" altLang="en-US" dirty="0"/>
              <a:t>XML Schema</a:t>
            </a:r>
          </a:p>
        </p:txBody>
      </p:sp>
      <p:sp>
        <p:nvSpPr>
          <p:cNvPr id="47107" name="Rectangle 5">
            <a:extLst>
              <a:ext uri="{FF2B5EF4-FFF2-40B4-BE49-F238E27FC236}">
                <a16:creationId xmlns="" xmlns:a16="http://schemas.microsoft.com/office/drawing/2014/main" id="{AEBEAF7E-98CB-E6B4-FD8D-877DA6EBD8C9}"/>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Another great strength about XML Schemas is that they are </a:t>
            </a:r>
            <a:r>
              <a:rPr lang="en-US" b="1" dirty="0"/>
              <a:t>written in XML</a:t>
            </a:r>
            <a:r>
              <a:rPr lang="en-US" dirty="0"/>
              <a:t>:</a:t>
            </a:r>
          </a:p>
          <a:p>
            <a:pPr lvl="1"/>
            <a:r>
              <a:rPr lang="en-US" dirty="0"/>
              <a:t>You don't have to learn a new language</a:t>
            </a:r>
          </a:p>
          <a:p>
            <a:pPr lvl="1"/>
            <a:r>
              <a:rPr lang="en-US" dirty="0"/>
              <a:t>You can use your XML editor to edit your Schema files</a:t>
            </a:r>
          </a:p>
          <a:p>
            <a:pPr lvl="1"/>
            <a:r>
              <a:rPr lang="en-US" dirty="0"/>
              <a:t>You can use your XML parser to parse your Schema files</a:t>
            </a:r>
          </a:p>
          <a:p>
            <a:pPr lvl="1"/>
            <a:r>
              <a:rPr lang="en-US" dirty="0"/>
              <a:t>You can manipulate your Schemas with the XML DOM</a:t>
            </a:r>
          </a:p>
          <a:p>
            <a:pPr lvl="1"/>
            <a:r>
              <a:rPr lang="en-US" dirty="0"/>
              <a:t>You can transform your Schemas with XSLT</a:t>
            </a:r>
          </a:p>
        </p:txBody>
      </p:sp>
      <p:sp>
        <p:nvSpPr>
          <p:cNvPr id="2" name="Slide Number Placeholder 1">
            <a:extLst>
              <a:ext uri="{FF2B5EF4-FFF2-40B4-BE49-F238E27FC236}">
                <a16:creationId xmlns="" xmlns:a16="http://schemas.microsoft.com/office/drawing/2014/main" id="{F23E1E55-ABA5-73AC-AB69-A70EE1349F7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55</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52095537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778D61-893F-3F74-2981-B10CDB4BDBE1}"/>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2EBBB8DE-0197-0C62-A400-A95410E5D363}"/>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8CBE607E-DDCE-2367-28ED-257F3B83FFEC}"/>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XML Namespaces provide a method to avoid element name conflicts.</a:t>
            </a:r>
          </a:p>
          <a:p>
            <a:r>
              <a:rPr lang="en-US" dirty="0"/>
              <a:t>In XML, element names are defined by the developer. This often results in a conflict when trying to mix XML documents from different XML applications.</a:t>
            </a:r>
          </a:p>
        </p:txBody>
      </p:sp>
      <p:sp>
        <p:nvSpPr>
          <p:cNvPr id="2" name="Slide Number Placeholder 1">
            <a:extLst>
              <a:ext uri="{FF2B5EF4-FFF2-40B4-BE49-F238E27FC236}">
                <a16:creationId xmlns="" xmlns:a16="http://schemas.microsoft.com/office/drawing/2014/main" id="{CE1FA66D-BDBB-1BA0-1A97-B15863ABD93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56</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4721930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2626023-30AD-BABB-799C-BDB5D79ED252}"/>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557AAD6F-E3EA-ACF0-85D9-2A36ECDE3B7B}"/>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DF518A34-D596-E19D-F16F-612AB55A2CB1}"/>
              </a:ext>
            </a:extLst>
          </p:cNvPr>
          <p:cNvSpPr>
            <a:spLocks noGrp="1"/>
          </p:cNvSpPr>
          <p:nvPr>
            <p:ph idx="1"/>
          </p:nvPr>
        </p:nvSpPr>
        <p:spPr>
          <a:xfrm>
            <a:off x="560389" y="1052513"/>
            <a:ext cx="3960564" cy="4975225"/>
          </a:xfrm>
        </p:spPr>
        <p:txBody>
          <a:bodyPr vert="horz" wrap="square" lIns="92075" tIns="46038" rIns="92075" bIns="46038" anchor="t" anchorCtr="0"/>
          <a:lstStyle/>
          <a:p>
            <a:r>
              <a:rPr lang="en-US" sz="2400" dirty="0"/>
              <a:t>This XML carries HTML table information:</a:t>
            </a:r>
          </a:p>
        </p:txBody>
      </p:sp>
      <p:sp>
        <p:nvSpPr>
          <p:cNvPr id="3" name="TextBox 2">
            <a:extLst>
              <a:ext uri="{FF2B5EF4-FFF2-40B4-BE49-F238E27FC236}">
                <a16:creationId xmlns="" xmlns:a16="http://schemas.microsoft.com/office/drawing/2014/main" id="{42885992-625E-0071-0AEE-7427193B0AA9}"/>
              </a:ext>
            </a:extLst>
          </p:cNvPr>
          <p:cNvSpPr txBox="1"/>
          <p:nvPr/>
        </p:nvSpPr>
        <p:spPr>
          <a:xfrm>
            <a:off x="920552" y="2276872"/>
            <a:ext cx="3168352" cy="1754326"/>
          </a:xfrm>
          <a:prstGeom prst="rect">
            <a:avLst/>
          </a:prstGeom>
          <a:noFill/>
        </p:spPr>
        <p:txBody>
          <a:bodyPr wrap="square">
            <a:spAutoFit/>
          </a:bodyPr>
          <a:lstStyle/>
          <a:p>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table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Apples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Bananas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/table</a:t>
            </a:r>
            <a:r>
              <a:rPr lang="en-US" b="0" i="0" dirty="0">
                <a:solidFill>
                  <a:srgbClr val="999999"/>
                </a:solidFill>
                <a:effectLst/>
                <a:latin typeface="Consolas" panose="020B0609020204030204" pitchFamily="49" charset="0"/>
              </a:rPr>
              <a:t>&gt;</a:t>
            </a:r>
            <a:endParaRPr lang="en-IN" dirty="0"/>
          </a:p>
        </p:txBody>
      </p:sp>
      <p:sp>
        <p:nvSpPr>
          <p:cNvPr id="5" name="TextBox 4">
            <a:extLst>
              <a:ext uri="{FF2B5EF4-FFF2-40B4-BE49-F238E27FC236}">
                <a16:creationId xmlns="" xmlns:a16="http://schemas.microsoft.com/office/drawing/2014/main" id="{E265388C-960F-5483-B9F3-0200D5E35CF1}"/>
              </a:ext>
            </a:extLst>
          </p:cNvPr>
          <p:cNvSpPr txBox="1"/>
          <p:nvPr/>
        </p:nvSpPr>
        <p:spPr>
          <a:xfrm>
            <a:off x="5313040" y="2276872"/>
            <a:ext cx="4680520" cy="1477328"/>
          </a:xfrm>
          <a:prstGeom prst="rect">
            <a:avLst/>
          </a:prstGeom>
          <a:noFill/>
        </p:spPr>
        <p:txBody>
          <a:bodyPr wrap="square">
            <a:spAutoFit/>
          </a:bodyPr>
          <a:lstStyle/>
          <a:p>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table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name</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African Coffee Table</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/name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width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80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/width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length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120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/length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/table</a:t>
            </a:r>
            <a:r>
              <a:rPr lang="en-US" b="0" i="0" dirty="0">
                <a:solidFill>
                  <a:srgbClr val="999999"/>
                </a:solidFill>
                <a:effectLst/>
                <a:latin typeface="Consolas" panose="020B0609020204030204" pitchFamily="49" charset="0"/>
              </a:rPr>
              <a:t>&gt;</a:t>
            </a:r>
            <a:endParaRPr lang="en-IN" dirty="0"/>
          </a:p>
        </p:txBody>
      </p:sp>
      <p:sp>
        <p:nvSpPr>
          <p:cNvPr id="7" name="TextBox 6">
            <a:extLst>
              <a:ext uri="{FF2B5EF4-FFF2-40B4-BE49-F238E27FC236}">
                <a16:creationId xmlns="" xmlns:a16="http://schemas.microsoft.com/office/drawing/2014/main" id="{C261857D-17CD-A1F0-6A03-EFE622F17642}"/>
              </a:ext>
            </a:extLst>
          </p:cNvPr>
          <p:cNvSpPr txBox="1"/>
          <p:nvPr/>
        </p:nvSpPr>
        <p:spPr>
          <a:xfrm>
            <a:off x="5313040" y="1052513"/>
            <a:ext cx="4392488" cy="1200329"/>
          </a:xfrm>
          <a:prstGeom prst="rect">
            <a:avLst/>
          </a:prstGeom>
          <a:noFill/>
          <a:ln w="9525">
            <a:noFill/>
          </a:ln>
        </p:spPr>
        <p:txBody>
          <a:bodyPr vert="horz" wrap="square" lIns="92075" tIns="46038" rIns="92075" bIns="46038" anchor="t" anchorCtr="0"/>
          <a:lstStyle>
            <a:lvl1pPr marL="292100" indent="-292100">
              <a:spcBef>
                <a:spcPct val="20000"/>
              </a:spcBef>
              <a:buClr>
                <a:srgbClr val="640064"/>
              </a:buClr>
              <a:buSzPct val="75000"/>
              <a:buFont typeface="Wingdings" panose="05000000000000000000" pitchFamily="2" charset="2"/>
              <a:buChar char="l"/>
              <a:defRPr sz="2400">
                <a:latin typeface="+mn-lt"/>
              </a:defRPr>
            </a:lvl1pPr>
            <a:lvl2pPr marL="863600" indent="-295275">
              <a:spcBef>
                <a:spcPct val="10000"/>
              </a:spcBef>
              <a:spcAft>
                <a:spcPct val="10000"/>
              </a:spcAft>
              <a:buClr>
                <a:srgbClr val="640064"/>
              </a:buClr>
              <a:buSzPct val="75000"/>
              <a:buFont typeface="Wingdings" panose="05000000000000000000" pitchFamily="2" charset="2"/>
              <a:buChar char="l"/>
              <a:defRPr sz="2400">
                <a:latin typeface="+mn-lt"/>
              </a:defRPr>
            </a:lvl2pPr>
            <a:lvl3pPr marL="1435100" indent="-292100">
              <a:spcBef>
                <a:spcPct val="10000"/>
              </a:spcBef>
              <a:spcAft>
                <a:spcPct val="10000"/>
              </a:spcAft>
              <a:buClr>
                <a:srgbClr val="640064"/>
              </a:buClr>
              <a:buSzPct val="75000"/>
              <a:buFont typeface="Wingdings" panose="05000000000000000000" pitchFamily="2" charset="2"/>
              <a:buChar char="l"/>
              <a:defRPr sz="2000">
                <a:latin typeface="+mn-lt"/>
              </a:defRPr>
            </a:lvl3pPr>
            <a:lvl4pPr marL="2098675" indent="-377825">
              <a:spcBef>
                <a:spcPct val="10000"/>
              </a:spcBef>
              <a:spcAft>
                <a:spcPct val="10000"/>
              </a:spcAft>
              <a:buClr>
                <a:srgbClr val="640064"/>
              </a:buClr>
              <a:buSzPct val="75000"/>
              <a:buFont typeface="Wingdings" panose="05000000000000000000" pitchFamily="2" charset="2"/>
              <a:buChar char="§"/>
              <a:defRPr>
                <a:latin typeface="+mn-lt"/>
              </a:defRPr>
            </a:lvl4pPr>
            <a:lvl5pPr marL="2665730" indent="-376555">
              <a:spcBef>
                <a:spcPct val="20000"/>
              </a:spcBef>
              <a:buClr>
                <a:srgbClr val="640064"/>
              </a:buClr>
              <a:buSzPct val="75000"/>
              <a:buFont typeface="Wingdings" panose="05000000000000000000" pitchFamily="2" charset="2"/>
              <a:buChar char="l"/>
              <a:defRPr sz="2000">
                <a:latin typeface="+mn-lt"/>
              </a:defRPr>
            </a:lvl5pPr>
            <a:lvl6pPr marL="2514600" indent="-228600" eaLnBrk="1" hangingPunct="1">
              <a:lnSpc>
                <a:spcPct val="90000"/>
              </a:lnSpc>
              <a:spcBef>
                <a:spcPts val="500"/>
              </a:spcBef>
              <a:buFont typeface="Arial" panose="020B0604020202020204" pitchFamily="34" charset="0"/>
              <a:buChar char="•"/>
              <a:defRPr sz="1800">
                <a:latin typeface="+mn-lt"/>
              </a:defRPr>
            </a:lvl6pPr>
            <a:lvl7pPr marL="2971800" indent="-228600" eaLnBrk="1" hangingPunct="1">
              <a:lnSpc>
                <a:spcPct val="90000"/>
              </a:lnSpc>
              <a:spcBef>
                <a:spcPts val="500"/>
              </a:spcBef>
              <a:buFont typeface="Arial" panose="020B0604020202020204" pitchFamily="34" charset="0"/>
              <a:buChar char="•"/>
              <a:defRPr sz="1800">
                <a:latin typeface="+mn-lt"/>
              </a:defRPr>
            </a:lvl7pPr>
            <a:lvl8pPr marL="3429000" indent="-228600" eaLnBrk="1" hangingPunct="1">
              <a:lnSpc>
                <a:spcPct val="90000"/>
              </a:lnSpc>
              <a:spcBef>
                <a:spcPts val="500"/>
              </a:spcBef>
              <a:buFont typeface="Arial" panose="020B0604020202020204" pitchFamily="34" charset="0"/>
              <a:buChar char="•"/>
              <a:defRPr sz="1800">
                <a:latin typeface="+mn-lt"/>
              </a:defRPr>
            </a:lvl8pPr>
            <a:lvl9pPr marL="3886200" indent="-228600" eaLnBrk="1" hangingPunct="1">
              <a:lnSpc>
                <a:spcPct val="90000"/>
              </a:lnSpc>
              <a:spcBef>
                <a:spcPts val="500"/>
              </a:spcBef>
              <a:buFont typeface="Arial" panose="020B0604020202020204" pitchFamily="34" charset="0"/>
              <a:buChar char="•"/>
              <a:defRPr sz="1800">
                <a:latin typeface="+mn-lt"/>
              </a:defRPr>
            </a:lvl9pPr>
          </a:lstStyle>
          <a:p>
            <a:r>
              <a:rPr lang="en-US" dirty="0"/>
              <a:t>This XML carries information about a table (a piece of furniture):</a:t>
            </a:r>
            <a:endParaRPr lang="en-IN" dirty="0"/>
          </a:p>
        </p:txBody>
      </p:sp>
      <p:sp>
        <p:nvSpPr>
          <p:cNvPr id="9" name="TextBox 8">
            <a:extLst>
              <a:ext uri="{FF2B5EF4-FFF2-40B4-BE49-F238E27FC236}">
                <a16:creationId xmlns="" xmlns:a16="http://schemas.microsoft.com/office/drawing/2014/main" id="{CD66783E-BA46-5750-BDE2-8964A5584F20}"/>
              </a:ext>
            </a:extLst>
          </p:cNvPr>
          <p:cNvSpPr txBox="1"/>
          <p:nvPr/>
        </p:nvSpPr>
        <p:spPr>
          <a:xfrm>
            <a:off x="727075" y="4672345"/>
            <a:ext cx="8618536" cy="923330"/>
          </a:xfrm>
          <a:prstGeom prst="rect">
            <a:avLst/>
          </a:prstGeom>
          <a:noFill/>
          <a:ln w="9525">
            <a:noFill/>
          </a:ln>
        </p:spPr>
        <p:txBody>
          <a:bodyPr vert="horz" wrap="square" lIns="92075" tIns="46038" rIns="92075" bIns="46038" anchor="t" anchorCtr="0"/>
          <a:lstStyle>
            <a:lvl1pPr marL="292100" indent="-292100">
              <a:spcBef>
                <a:spcPct val="20000"/>
              </a:spcBef>
              <a:buClr>
                <a:srgbClr val="640064"/>
              </a:buClr>
              <a:buSzPct val="75000"/>
              <a:buFont typeface="Wingdings" panose="05000000000000000000" pitchFamily="2" charset="2"/>
              <a:buChar char="l"/>
              <a:defRPr sz="2400">
                <a:latin typeface="+mn-lt"/>
              </a:defRPr>
            </a:lvl1pPr>
            <a:lvl2pPr marL="863600" indent="-295275">
              <a:spcBef>
                <a:spcPct val="10000"/>
              </a:spcBef>
              <a:spcAft>
                <a:spcPct val="10000"/>
              </a:spcAft>
              <a:buClr>
                <a:srgbClr val="640064"/>
              </a:buClr>
              <a:buSzPct val="75000"/>
              <a:buFont typeface="Wingdings" panose="05000000000000000000" pitchFamily="2" charset="2"/>
              <a:buChar char="l"/>
              <a:defRPr sz="2400">
                <a:latin typeface="+mn-lt"/>
              </a:defRPr>
            </a:lvl2pPr>
            <a:lvl3pPr marL="1435100" indent="-292100">
              <a:spcBef>
                <a:spcPct val="10000"/>
              </a:spcBef>
              <a:spcAft>
                <a:spcPct val="10000"/>
              </a:spcAft>
              <a:buClr>
                <a:srgbClr val="640064"/>
              </a:buClr>
              <a:buSzPct val="75000"/>
              <a:buFont typeface="Wingdings" panose="05000000000000000000" pitchFamily="2" charset="2"/>
              <a:buChar char="l"/>
              <a:defRPr sz="2000">
                <a:latin typeface="+mn-lt"/>
              </a:defRPr>
            </a:lvl3pPr>
            <a:lvl4pPr marL="2098675" indent="-377825">
              <a:spcBef>
                <a:spcPct val="10000"/>
              </a:spcBef>
              <a:spcAft>
                <a:spcPct val="10000"/>
              </a:spcAft>
              <a:buClr>
                <a:srgbClr val="640064"/>
              </a:buClr>
              <a:buSzPct val="75000"/>
              <a:buFont typeface="Wingdings" panose="05000000000000000000" pitchFamily="2" charset="2"/>
              <a:buChar char="§"/>
              <a:defRPr>
                <a:latin typeface="+mn-lt"/>
              </a:defRPr>
            </a:lvl4pPr>
            <a:lvl5pPr marL="2665730" indent="-376555">
              <a:spcBef>
                <a:spcPct val="20000"/>
              </a:spcBef>
              <a:buClr>
                <a:srgbClr val="640064"/>
              </a:buClr>
              <a:buSzPct val="75000"/>
              <a:buFont typeface="Wingdings" panose="05000000000000000000" pitchFamily="2" charset="2"/>
              <a:buChar char="l"/>
              <a:defRPr sz="2000">
                <a:latin typeface="+mn-lt"/>
              </a:defRPr>
            </a:lvl5pPr>
            <a:lvl6pPr marL="2514600" indent="-228600" eaLnBrk="1" hangingPunct="1">
              <a:lnSpc>
                <a:spcPct val="90000"/>
              </a:lnSpc>
              <a:spcBef>
                <a:spcPts val="500"/>
              </a:spcBef>
              <a:buFont typeface="Arial" panose="020B0604020202020204" pitchFamily="34" charset="0"/>
              <a:buChar char="•"/>
              <a:defRPr sz="1800">
                <a:latin typeface="+mn-lt"/>
              </a:defRPr>
            </a:lvl6pPr>
            <a:lvl7pPr marL="2971800" indent="-228600" eaLnBrk="1" hangingPunct="1">
              <a:lnSpc>
                <a:spcPct val="90000"/>
              </a:lnSpc>
              <a:spcBef>
                <a:spcPts val="500"/>
              </a:spcBef>
              <a:buFont typeface="Arial" panose="020B0604020202020204" pitchFamily="34" charset="0"/>
              <a:buChar char="•"/>
              <a:defRPr sz="1800">
                <a:latin typeface="+mn-lt"/>
              </a:defRPr>
            </a:lvl7pPr>
            <a:lvl8pPr marL="3429000" indent="-228600" eaLnBrk="1" hangingPunct="1">
              <a:lnSpc>
                <a:spcPct val="90000"/>
              </a:lnSpc>
              <a:spcBef>
                <a:spcPts val="500"/>
              </a:spcBef>
              <a:buFont typeface="Arial" panose="020B0604020202020204" pitchFamily="34" charset="0"/>
              <a:buChar char="•"/>
              <a:defRPr sz="1800">
                <a:latin typeface="+mn-lt"/>
              </a:defRPr>
            </a:lvl8pPr>
            <a:lvl9pPr marL="3886200" indent="-228600" eaLnBrk="1" hangingPunct="1">
              <a:lnSpc>
                <a:spcPct val="90000"/>
              </a:lnSpc>
              <a:spcBef>
                <a:spcPts val="500"/>
              </a:spcBef>
              <a:buFont typeface="Arial" panose="020B0604020202020204" pitchFamily="34" charset="0"/>
              <a:buChar char="•"/>
              <a:defRPr sz="1800">
                <a:latin typeface="+mn-lt"/>
              </a:defRPr>
            </a:lvl9pPr>
          </a:lstStyle>
          <a:p>
            <a:r>
              <a:rPr lang="en-US" dirty="0"/>
              <a:t>If these XML fragments were added together, there would be a name conflict. Both contain a &lt;table&gt; element, but the elements have different content and meaning.</a:t>
            </a:r>
          </a:p>
          <a:p>
            <a:r>
              <a:rPr lang="en-US" dirty="0"/>
              <a:t>A user or an XML application will not know how to handle these differences.</a:t>
            </a:r>
            <a:endParaRPr lang="en-IN" dirty="0"/>
          </a:p>
        </p:txBody>
      </p:sp>
      <p:sp>
        <p:nvSpPr>
          <p:cNvPr id="10" name="Slide Number Placeholder 9">
            <a:extLst>
              <a:ext uri="{FF2B5EF4-FFF2-40B4-BE49-F238E27FC236}">
                <a16:creationId xmlns="" xmlns:a16="http://schemas.microsoft.com/office/drawing/2014/main" id="{2FA26484-58C1-86CF-341C-685F3B0B4E08}"/>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57</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0950565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BFCA21-D818-BC8C-9E35-DFA85794D127}"/>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37983997-08C7-3280-465E-794479CF816D}"/>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2D93F3E7-542D-2996-EF2E-5692E2237429}"/>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Solving the Name Conflict Using a Prefix</a:t>
            </a:r>
          </a:p>
        </p:txBody>
      </p:sp>
      <p:sp>
        <p:nvSpPr>
          <p:cNvPr id="3" name="TextBox 2">
            <a:extLst>
              <a:ext uri="{FF2B5EF4-FFF2-40B4-BE49-F238E27FC236}">
                <a16:creationId xmlns="" xmlns:a16="http://schemas.microsoft.com/office/drawing/2014/main" id="{DE4710D6-DA08-1E2B-60DB-7777C53FB920}"/>
              </a:ext>
            </a:extLst>
          </p:cNvPr>
          <p:cNvSpPr txBox="1"/>
          <p:nvPr/>
        </p:nvSpPr>
        <p:spPr>
          <a:xfrm>
            <a:off x="1496616" y="1988840"/>
            <a:ext cx="4951378" cy="3693319"/>
          </a:xfrm>
          <a:prstGeom prst="rect">
            <a:avLst/>
          </a:prstGeom>
          <a:noFill/>
        </p:spPr>
        <p:txBody>
          <a:bodyPr wrap="square">
            <a:spAutoFit/>
          </a:bodyPr>
          <a:lstStyle/>
          <a:p>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h:table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h:tr</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h:td</a:t>
            </a:r>
            <a:r>
              <a:rPr lang="en-IN" b="0" i="0" dirty="0">
                <a:solidFill>
                  <a:srgbClr val="999999"/>
                </a:solidFill>
                <a:effectLst/>
                <a:latin typeface="Consolas" panose="020B0609020204030204" pitchFamily="49" charset="0"/>
              </a:rPr>
              <a:t>&gt;</a:t>
            </a:r>
            <a:r>
              <a:rPr lang="en-IN" b="0" i="0" dirty="0">
                <a:solidFill>
                  <a:srgbClr val="000000"/>
                </a:solidFill>
                <a:effectLst/>
                <a:latin typeface="Consolas" panose="020B0609020204030204" pitchFamily="49" charset="0"/>
              </a:rPr>
              <a:t>Apples</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h:td</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h:td</a:t>
            </a:r>
            <a:r>
              <a:rPr lang="en-IN" b="0" i="0" dirty="0">
                <a:solidFill>
                  <a:srgbClr val="999999"/>
                </a:solidFill>
                <a:effectLst/>
                <a:latin typeface="Consolas" panose="020B0609020204030204" pitchFamily="49" charset="0"/>
              </a:rPr>
              <a:t>&gt;</a:t>
            </a:r>
            <a:r>
              <a:rPr lang="en-IN" b="0" i="0" dirty="0">
                <a:solidFill>
                  <a:srgbClr val="000000"/>
                </a:solidFill>
                <a:effectLst/>
                <a:latin typeface="Consolas" panose="020B0609020204030204" pitchFamily="49" charset="0"/>
              </a:rPr>
              <a:t>Bananas</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h:td</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h:tr</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h:table</a:t>
            </a:r>
            <a:r>
              <a:rPr lang="en-IN" b="0" i="0" dirty="0">
                <a:solidFill>
                  <a:srgbClr val="999999"/>
                </a:solidFill>
                <a:effectLst/>
                <a:latin typeface="Consolas" panose="020B0609020204030204" pitchFamily="49" charset="0"/>
              </a:rPr>
              <a:t>&gt;</a:t>
            </a:r>
            <a:r>
              <a:rPr lang="en-IN" dirty="0"/>
              <a:t/>
            </a:r>
            <a:br>
              <a:rPr lang="en-IN" dirty="0"/>
            </a:br>
            <a:r>
              <a:rPr lang="en-IN" dirty="0"/>
              <a:t/>
            </a:r>
            <a:br>
              <a:rPr lang="en-IN" dirty="0"/>
            </a:b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f:table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f:name</a:t>
            </a:r>
            <a:r>
              <a:rPr lang="en-IN" b="0" i="0" dirty="0">
                <a:solidFill>
                  <a:srgbClr val="999999"/>
                </a:solidFill>
                <a:effectLst/>
                <a:latin typeface="Consolas" panose="020B0609020204030204" pitchFamily="49" charset="0"/>
              </a:rPr>
              <a:t>&gt;</a:t>
            </a:r>
            <a:r>
              <a:rPr lang="en-IN" b="0" i="0" dirty="0">
                <a:solidFill>
                  <a:srgbClr val="000000"/>
                </a:solidFill>
                <a:effectLst/>
                <a:latin typeface="Consolas" panose="020B0609020204030204" pitchFamily="49" charset="0"/>
              </a:rPr>
              <a:t>African Coffee Table</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f:name</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f:width</a:t>
            </a:r>
            <a:r>
              <a:rPr lang="en-IN" b="0" i="0" dirty="0">
                <a:solidFill>
                  <a:srgbClr val="999999"/>
                </a:solidFill>
                <a:effectLst/>
                <a:latin typeface="Consolas" panose="020B0609020204030204" pitchFamily="49" charset="0"/>
              </a:rPr>
              <a:t>&gt;</a:t>
            </a:r>
            <a:r>
              <a:rPr lang="en-IN" b="0" i="0" dirty="0">
                <a:solidFill>
                  <a:srgbClr val="000000"/>
                </a:solidFill>
                <a:effectLst/>
                <a:latin typeface="Consolas" panose="020B0609020204030204" pitchFamily="49" charset="0"/>
              </a:rPr>
              <a:t>80</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f:width</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999999"/>
                </a:solidFill>
                <a:effectLst/>
                <a:latin typeface="Consolas" panose="020B0609020204030204" pitchFamily="49" charset="0"/>
              </a:rPr>
              <a:t>&lt;</a:t>
            </a:r>
            <a:r>
              <a:rPr lang="en-IN" b="0" i="0" dirty="0" err="1">
                <a:solidFill>
                  <a:srgbClr val="990055"/>
                </a:solidFill>
                <a:effectLst/>
                <a:latin typeface="Consolas" panose="020B0609020204030204" pitchFamily="49" charset="0"/>
              </a:rPr>
              <a:t>f:length</a:t>
            </a:r>
            <a:r>
              <a:rPr lang="en-IN" b="0" i="0" dirty="0">
                <a:solidFill>
                  <a:srgbClr val="999999"/>
                </a:solidFill>
                <a:effectLst/>
                <a:latin typeface="Consolas" panose="020B0609020204030204" pitchFamily="49" charset="0"/>
              </a:rPr>
              <a:t>&gt;</a:t>
            </a:r>
            <a:r>
              <a:rPr lang="en-IN" b="0" i="0" dirty="0">
                <a:solidFill>
                  <a:srgbClr val="000000"/>
                </a:solidFill>
                <a:effectLst/>
                <a:latin typeface="Consolas" panose="020B0609020204030204" pitchFamily="49" charset="0"/>
              </a:rPr>
              <a:t>120</a:t>
            </a: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f:length</a:t>
            </a:r>
            <a:r>
              <a:rPr lang="en-IN" b="0" i="0" dirty="0">
                <a:solidFill>
                  <a:srgbClr val="999999"/>
                </a:solidFill>
                <a:effectLst/>
                <a:latin typeface="Consolas" panose="020B0609020204030204" pitchFamily="49" charset="0"/>
              </a:rPr>
              <a:t>&gt;</a:t>
            </a:r>
            <a:r>
              <a:rPr lang="en-IN" dirty="0"/>
              <a:t/>
            </a:r>
            <a:br>
              <a:rPr lang="en-IN" dirty="0"/>
            </a:br>
            <a:r>
              <a:rPr lang="en-IN" b="0" i="0" dirty="0">
                <a:solidFill>
                  <a:srgbClr val="999999"/>
                </a:solidFill>
                <a:effectLst/>
                <a:latin typeface="Consolas" panose="020B0609020204030204" pitchFamily="49" charset="0"/>
              </a:rPr>
              <a:t>&lt;</a:t>
            </a:r>
            <a:r>
              <a:rPr lang="en-IN" b="0" i="0" dirty="0">
                <a:solidFill>
                  <a:srgbClr val="990055"/>
                </a:solidFill>
                <a:effectLst/>
                <a:latin typeface="Consolas" panose="020B0609020204030204" pitchFamily="49" charset="0"/>
              </a:rPr>
              <a:t>/</a:t>
            </a:r>
            <a:r>
              <a:rPr lang="en-IN" b="0" i="0" dirty="0" err="1">
                <a:solidFill>
                  <a:srgbClr val="990055"/>
                </a:solidFill>
                <a:effectLst/>
                <a:latin typeface="Consolas" panose="020B0609020204030204" pitchFamily="49" charset="0"/>
              </a:rPr>
              <a:t>f:table</a:t>
            </a:r>
            <a:r>
              <a:rPr lang="en-IN" b="0" i="0" dirty="0">
                <a:solidFill>
                  <a:srgbClr val="999999"/>
                </a:solidFill>
                <a:effectLst/>
                <a:latin typeface="Consolas" panose="020B0609020204030204" pitchFamily="49" charset="0"/>
              </a:rPr>
              <a:t>&gt;</a:t>
            </a:r>
            <a:endParaRPr lang="en-IN" dirty="0"/>
          </a:p>
        </p:txBody>
      </p:sp>
      <p:sp>
        <p:nvSpPr>
          <p:cNvPr id="4" name="Slide Number Placeholder 3">
            <a:extLst>
              <a:ext uri="{FF2B5EF4-FFF2-40B4-BE49-F238E27FC236}">
                <a16:creationId xmlns="" xmlns:a16="http://schemas.microsoft.com/office/drawing/2014/main" id="{38E7F948-D2F5-1C08-862A-B2C42598A44A}"/>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58</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28804483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821670B-7F4D-99C8-F4B8-C3301237B9A9}"/>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70F33C3A-30B7-A5FD-7AB6-7DC9450596B1}"/>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F6D1545C-2AA4-A88E-5FC3-7DDB2259825B}"/>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XML Namespaces - The </a:t>
            </a:r>
            <a:r>
              <a:rPr lang="en-US" dirty="0" err="1"/>
              <a:t>xmlns</a:t>
            </a:r>
            <a:r>
              <a:rPr lang="en-US" dirty="0"/>
              <a:t> Attribute</a:t>
            </a:r>
          </a:p>
          <a:p>
            <a:r>
              <a:rPr lang="en-US" dirty="0"/>
              <a:t>When using prefixes in XML, a </a:t>
            </a:r>
            <a:r>
              <a:rPr lang="en-US" b="1" dirty="0"/>
              <a:t>namespace</a:t>
            </a:r>
            <a:r>
              <a:rPr lang="en-US" dirty="0"/>
              <a:t> for the prefix must be defined.</a:t>
            </a:r>
          </a:p>
          <a:p>
            <a:r>
              <a:rPr lang="en-US" dirty="0"/>
              <a:t>The namespace can be defined by an </a:t>
            </a:r>
            <a:r>
              <a:rPr lang="en-US" b="1" dirty="0" err="1"/>
              <a:t>xmlns</a:t>
            </a:r>
            <a:r>
              <a:rPr lang="en-US" dirty="0"/>
              <a:t> attribute in the start tag of an element.</a:t>
            </a:r>
          </a:p>
          <a:p>
            <a:r>
              <a:rPr lang="en-US" dirty="0"/>
              <a:t>The namespace declaration has the following syntax. </a:t>
            </a:r>
            <a:r>
              <a:rPr lang="en-US" dirty="0" err="1">
                <a:highlight>
                  <a:srgbClr val="FFFF00"/>
                </a:highlight>
              </a:rPr>
              <a:t>xmlns:</a:t>
            </a:r>
            <a:r>
              <a:rPr lang="en-US" i="1" dirty="0" err="1">
                <a:highlight>
                  <a:srgbClr val="FFFF00"/>
                </a:highlight>
              </a:rPr>
              <a:t>prefix</a:t>
            </a:r>
            <a:r>
              <a:rPr lang="en-US" dirty="0">
                <a:highlight>
                  <a:srgbClr val="FFFF00"/>
                </a:highlight>
              </a:rPr>
              <a:t>="</a:t>
            </a:r>
            <a:r>
              <a:rPr lang="en-US" i="1" dirty="0">
                <a:highlight>
                  <a:srgbClr val="FFFF00"/>
                </a:highlight>
              </a:rPr>
              <a:t>URI</a:t>
            </a:r>
            <a:r>
              <a:rPr lang="en-US" dirty="0">
                <a:highlight>
                  <a:srgbClr val="FFFF00"/>
                </a:highlight>
              </a:rPr>
              <a:t>"</a:t>
            </a:r>
            <a:r>
              <a:rPr lang="en-US" dirty="0"/>
              <a:t>.</a:t>
            </a:r>
          </a:p>
        </p:txBody>
      </p:sp>
      <p:sp>
        <p:nvSpPr>
          <p:cNvPr id="2" name="Slide Number Placeholder 1">
            <a:extLst>
              <a:ext uri="{FF2B5EF4-FFF2-40B4-BE49-F238E27FC236}">
                <a16:creationId xmlns="" xmlns:a16="http://schemas.microsoft.com/office/drawing/2014/main" id="{5978F5C9-E441-7249-80E3-1DDC35518D9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59</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68552289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876BCA6-C80C-4626-FDE7-9B47008D6BC3}"/>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0586DA3E-EEAB-856E-4839-8ED77FCB5B2B}"/>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5" name="TextBox 4">
            <a:extLst>
              <a:ext uri="{FF2B5EF4-FFF2-40B4-BE49-F238E27FC236}">
                <a16:creationId xmlns="" xmlns:a16="http://schemas.microsoft.com/office/drawing/2014/main" id="{0C9BC3E1-9A30-DB9A-B24A-598F70A16C70}"/>
              </a:ext>
            </a:extLst>
          </p:cNvPr>
          <p:cNvSpPr txBox="1"/>
          <p:nvPr/>
        </p:nvSpPr>
        <p:spPr>
          <a:xfrm>
            <a:off x="1424608" y="1398687"/>
            <a:ext cx="7128792" cy="4524315"/>
          </a:xfrm>
          <a:prstGeom prst="rect">
            <a:avLst/>
          </a:prstGeom>
          <a:noFill/>
        </p:spPr>
        <p:txBody>
          <a:bodyPr wrap="square">
            <a:spAutoFit/>
          </a:bodyPr>
          <a:lstStyle/>
          <a:p>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root</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h:table</a:t>
            </a:r>
            <a:r>
              <a:rPr lang="en-US" b="0" i="0" dirty="0">
                <a:solidFill>
                  <a:srgbClr val="008000"/>
                </a:solidFill>
                <a:effectLst/>
                <a:latin typeface="Consolas" panose="020B0609020204030204" pitchFamily="49" charset="0"/>
              </a:rPr>
              <a:t> </a:t>
            </a:r>
            <a:r>
              <a:rPr lang="en-US" b="0" i="0" dirty="0" err="1">
                <a:solidFill>
                  <a:srgbClr val="008000"/>
                </a:solidFill>
                <a:effectLst/>
                <a:latin typeface="Consolas" panose="020B0609020204030204" pitchFamily="49" charset="0"/>
              </a:rPr>
              <a:t>xmlns:h</a:t>
            </a:r>
            <a:r>
              <a:rPr lang="en-US" b="0" i="0" dirty="0">
                <a:solidFill>
                  <a:srgbClr val="005CC5"/>
                </a:solidFill>
                <a:effectLst/>
                <a:latin typeface="Consolas" panose="020B0609020204030204" pitchFamily="49" charset="0"/>
              </a:rPr>
              <a:t>="http://www.w3.org/TR/html4/"</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Apples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Bananas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h:table</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f:table</a:t>
            </a:r>
            <a:r>
              <a:rPr lang="en-US" b="0" i="0" dirty="0">
                <a:solidFill>
                  <a:srgbClr val="008000"/>
                </a:solidFill>
                <a:effectLst/>
                <a:latin typeface="Consolas" panose="020B0609020204030204" pitchFamily="49" charset="0"/>
              </a:rPr>
              <a:t> </a:t>
            </a:r>
            <a:r>
              <a:rPr lang="en-US" b="0" i="0" dirty="0" err="1">
                <a:solidFill>
                  <a:srgbClr val="008000"/>
                </a:solidFill>
                <a:effectLst/>
                <a:latin typeface="Consolas" panose="020B0609020204030204" pitchFamily="49" charset="0"/>
              </a:rPr>
              <a:t>xmlns:f</a:t>
            </a:r>
            <a:r>
              <a:rPr lang="en-US" b="0" i="0" dirty="0">
                <a:solidFill>
                  <a:srgbClr val="005CC5"/>
                </a:solidFill>
                <a:effectLst/>
                <a:latin typeface="Consolas" panose="020B0609020204030204" pitchFamily="49" charset="0"/>
              </a:rPr>
              <a:t>="https://www.w3schools.com/furniture"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f:name</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African Coffee Table</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f:name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f:width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80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f:width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f:length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120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f:length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f:table</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/root</a:t>
            </a:r>
            <a:r>
              <a:rPr lang="en-US" b="0" i="0" dirty="0">
                <a:solidFill>
                  <a:srgbClr val="999999"/>
                </a:solidFill>
                <a:effectLst/>
                <a:latin typeface="Consolas" panose="020B0609020204030204" pitchFamily="49" charset="0"/>
              </a:rPr>
              <a:t>&gt;</a:t>
            </a:r>
            <a:endParaRPr lang="en-IN" dirty="0"/>
          </a:p>
        </p:txBody>
      </p:sp>
      <p:sp>
        <p:nvSpPr>
          <p:cNvPr id="6" name="Slide Number Placeholder 5">
            <a:extLst>
              <a:ext uri="{FF2B5EF4-FFF2-40B4-BE49-F238E27FC236}">
                <a16:creationId xmlns="" xmlns:a16="http://schemas.microsoft.com/office/drawing/2014/main" id="{D361544D-35B8-3BFE-083D-E8F4CB13D16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60</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6061235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0164E35-B3E1-D90F-B8EF-B7CDA9F88644}"/>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7110AA26-E9B3-5CF8-49EF-62CD1ABD8BB1}"/>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44E30B1C-78D3-147F-B1AE-436E156CBAD8}"/>
              </a:ext>
            </a:extLst>
          </p:cNvPr>
          <p:cNvSpPr>
            <a:spLocks noGrp="1"/>
          </p:cNvSpPr>
          <p:nvPr>
            <p:ph idx="1"/>
          </p:nvPr>
        </p:nvSpPr>
        <p:spPr>
          <a:xfrm>
            <a:off x="560388" y="1052513"/>
            <a:ext cx="9217025" cy="4975225"/>
          </a:xfrm>
        </p:spPr>
        <p:txBody>
          <a:bodyPr vert="horz" wrap="square" lIns="92075" tIns="46038" rIns="92075" bIns="46038" anchor="t" anchorCtr="0"/>
          <a:lstStyle/>
          <a:p>
            <a:r>
              <a:rPr lang="en-US" dirty="0"/>
              <a:t>Namespaces can also be declared in the XML root element:</a:t>
            </a:r>
          </a:p>
        </p:txBody>
      </p:sp>
      <p:sp>
        <p:nvSpPr>
          <p:cNvPr id="3" name="TextBox 2">
            <a:extLst>
              <a:ext uri="{FF2B5EF4-FFF2-40B4-BE49-F238E27FC236}">
                <a16:creationId xmlns="" xmlns:a16="http://schemas.microsoft.com/office/drawing/2014/main" id="{B29EBACC-ACF0-E929-6B47-F4DF86B11D31}"/>
              </a:ext>
            </a:extLst>
          </p:cNvPr>
          <p:cNvSpPr txBox="1"/>
          <p:nvPr/>
        </p:nvSpPr>
        <p:spPr>
          <a:xfrm>
            <a:off x="992560" y="1916832"/>
            <a:ext cx="6480720" cy="4801314"/>
          </a:xfrm>
          <a:prstGeom prst="rect">
            <a:avLst/>
          </a:prstGeom>
          <a:noFill/>
        </p:spPr>
        <p:txBody>
          <a:bodyPr wrap="square">
            <a:spAutoFit/>
          </a:bodyPr>
          <a:lstStyle/>
          <a:p>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root</a:t>
            </a:r>
            <a:r>
              <a:rPr lang="en-US" b="0" i="0" dirty="0">
                <a:solidFill>
                  <a:srgbClr val="008000"/>
                </a:solidFill>
                <a:effectLst/>
                <a:latin typeface="Consolas" panose="020B0609020204030204" pitchFamily="49" charset="0"/>
              </a:rPr>
              <a:t> </a:t>
            </a:r>
            <a:r>
              <a:rPr lang="en-US" b="0" i="0" dirty="0" err="1">
                <a:solidFill>
                  <a:srgbClr val="008000"/>
                </a:solidFill>
                <a:effectLst/>
                <a:latin typeface="Consolas" panose="020B0609020204030204" pitchFamily="49" charset="0"/>
              </a:rPr>
              <a:t>xmlns:h</a:t>
            </a:r>
            <a:r>
              <a:rPr lang="en-US" b="0" i="0" dirty="0">
                <a:solidFill>
                  <a:srgbClr val="005CC5"/>
                </a:solidFill>
                <a:effectLst/>
                <a:latin typeface="Consolas" panose="020B0609020204030204" pitchFamily="49" charset="0"/>
              </a:rPr>
              <a:t>="http://www.w3.org/TR/html4/"</a:t>
            </a:r>
            <a:r>
              <a:rPr lang="en-US" b="0" i="0" dirty="0">
                <a:solidFill>
                  <a:srgbClr val="008000"/>
                </a:solidFill>
                <a:effectLst/>
                <a:latin typeface="Consolas" panose="020B0609020204030204" pitchFamily="49" charset="0"/>
              </a:rPr>
              <a:t/>
            </a:r>
            <a:br>
              <a:rPr lang="en-US" b="0" i="0" dirty="0">
                <a:solidFill>
                  <a:srgbClr val="008000"/>
                </a:solidFill>
                <a:effectLst/>
                <a:latin typeface="Consolas" panose="020B0609020204030204" pitchFamily="49" charset="0"/>
              </a:rPr>
            </a:br>
            <a:r>
              <a:rPr lang="en-US" b="0" i="0" dirty="0" err="1">
                <a:solidFill>
                  <a:srgbClr val="008000"/>
                </a:solidFill>
                <a:effectLst/>
                <a:latin typeface="Consolas" panose="020B0609020204030204" pitchFamily="49" charset="0"/>
              </a:rPr>
              <a:t>xmlns:f</a:t>
            </a:r>
            <a:r>
              <a:rPr lang="en-US" b="0" i="0" dirty="0">
                <a:solidFill>
                  <a:srgbClr val="005CC5"/>
                </a:solidFill>
                <a:effectLst/>
                <a:latin typeface="Consolas" panose="020B0609020204030204" pitchFamily="49" charset="0"/>
              </a:rPr>
              <a:t>="https://www.w3schools.com/furniture"</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h:table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Apples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Bananas</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h:td</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h:tr</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h:table</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f:table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f:name</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African Coffee Table</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f:name</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f:width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80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f:width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&lt;</a:t>
            </a:r>
            <a:r>
              <a:rPr lang="en-US" b="0" i="0" dirty="0" err="1">
                <a:solidFill>
                  <a:srgbClr val="990055"/>
                </a:solidFill>
                <a:effectLst/>
                <a:latin typeface="Consolas" panose="020B0609020204030204" pitchFamily="49" charset="0"/>
              </a:rPr>
              <a:t>f:length</a:t>
            </a:r>
            <a:r>
              <a:rPr lang="en-US" b="0" i="0" dirty="0">
                <a:solidFill>
                  <a:srgbClr val="999999"/>
                </a:solidFill>
                <a:effectLst/>
                <a:latin typeface="Consolas" panose="020B0609020204030204" pitchFamily="49" charset="0"/>
              </a:rPr>
              <a:t>&gt;</a:t>
            </a:r>
            <a:r>
              <a:rPr lang="en-US" b="0" i="0" dirty="0">
                <a:solidFill>
                  <a:srgbClr val="000000"/>
                </a:solidFill>
                <a:effectLst/>
                <a:latin typeface="Consolas" panose="020B0609020204030204" pitchFamily="49" charset="0"/>
              </a:rPr>
              <a:t>120</a:t>
            </a: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f:length</a:t>
            </a:r>
            <a:r>
              <a:rPr lang="en-US" b="0" i="0" dirty="0">
                <a:solidFill>
                  <a:srgbClr val="999999"/>
                </a:solidFill>
                <a:effectLst/>
                <a:latin typeface="Consolas" panose="020B0609020204030204" pitchFamily="49" charset="0"/>
              </a:rPr>
              <a:t>&gt;</a:t>
            </a: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a:t>
            </a:r>
            <a:r>
              <a:rPr lang="en-US" b="0" i="0" dirty="0" err="1">
                <a:solidFill>
                  <a:srgbClr val="990055"/>
                </a:solidFill>
                <a:effectLst/>
                <a:latin typeface="Consolas" panose="020B0609020204030204" pitchFamily="49" charset="0"/>
              </a:rPr>
              <a:t>f:table</a:t>
            </a:r>
            <a:r>
              <a:rPr lang="en-US" b="0" i="0" dirty="0">
                <a:solidFill>
                  <a:srgbClr val="999999"/>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999999"/>
                </a:solidFill>
                <a:effectLst/>
                <a:latin typeface="Consolas" panose="020B0609020204030204" pitchFamily="49" charset="0"/>
              </a:rPr>
              <a:t>&lt;</a:t>
            </a:r>
            <a:r>
              <a:rPr lang="en-US" b="0" i="0" dirty="0">
                <a:solidFill>
                  <a:srgbClr val="990055"/>
                </a:solidFill>
                <a:effectLst/>
                <a:latin typeface="Consolas" panose="020B0609020204030204" pitchFamily="49" charset="0"/>
              </a:rPr>
              <a:t>/root</a:t>
            </a:r>
            <a:r>
              <a:rPr lang="en-US" b="0" i="0" dirty="0">
                <a:solidFill>
                  <a:srgbClr val="999999"/>
                </a:solidFill>
                <a:effectLst/>
                <a:latin typeface="Consolas" panose="020B0609020204030204" pitchFamily="49" charset="0"/>
              </a:rPr>
              <a:t>&gt;</a:t>
            </a:r>
            <a:endParaRPr lang="en-IN" dirty="0"/>
          </a:p>
        </p:txBody>
      </p:sp>
      <p:sp>
        <p:nvSpPr>
          <p:cNvPr id="4" name="Slide Number Placeholder 3">
            <a:extLst>
              <a:ext uri="{FF2B5EF4-FFF2-40B4-BE49-F238E27FC236}">
                <a16:creationId xmlns="" xmlns:a16="http://schemas.microsoft.com/office/drawing/2014/main" id="{5B8FAAAD-FA22-D7C0-4708-AF69CC4FF1A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61</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0091466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67917D-98A3-7EE5-A38B-5351DDC0CC13}"/>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CB35B9E7-B93A-288A-79F9-3AA98A725C81}"/>
              </a:ext>
            </a:extLst>
          </p:cNvPr>
          <p:cNvSpPr>
            <a:spLocks noGrp="1"/>
          </p:cNvSpPr>
          <p:nvPr>
            <p:ph type="title"/>
          </p:nvPr>
        </p:nvSpPr>
        <p:spPr/>
        <p:txBody>
          <a:bodyPr vert="horz" wrap="square" lIns="92075" tIns="46038" rIns="92075" bIns="46038" anchor="t" anchorCtr="0"/>
          <a:lstStyle/>
          <a:p>
            <a:r>
              <a:rPr lang="en-GB" altLang="en-US" dirty="0"/>
              <a:t>XML Namespaces</a:t>
            </a:r>
          </a:p>
        </p:txBody>
      </p:sp>
      <p:sp>
        <p:nvSpPr>
          <p:cNvPr id="47107" name="Rectangle 5">
            <a:extLst>
              <a:ext uri="{FF2B5EF4-FFF2-40B4-BE49-F238E27FC236}">
                <a16:creationId xmlns="" xmlns:a16="http://schemas.microsoft.com/office/drawing/2014/main" id="{4749F556-C119-6B5D-3E09-591BCADAC8D2}"/>
              </a:ext>
            </a:extLst>
          </p:cNvPr>
          <p:cNvSpPr>
            <a:spLocks noGrp="1"/>
          </p:cNvSpPr>
          <p:nvPr>
            <p:ph idx="1"/>
          </p:nvPr>
        </p:nvSpPr>
        <p:spPr>
          <a:xfrm>
            <a:off x="560388" y="1052513"/>
            <a:ext cx="9217025" cy="4975225"/>
          </a:xfrm>
        </p:spPr>
        <p:txBody>
          <a:bodyPr vert="horz" wrap="square" lIns="92075" tIns="46038" rIns="92075" bIns="46038" anchor="t" anchorCtr="0"/>
          <a:lstStyle/>
          <a:p>
            <a:pPr marL="0" indent="0">
              <a:buNone/>
            </a:pPr>
            <a:r>
              <a:rPr lang="en-US" dirty="0"/>
              <a:t>Uniform Resource Identifier (URI)</a:t>
            </a:r>
          </a:p>
          <a:p>
            <a:r>
              <a:rPr lang="en-US" dirty="0"/>
              <a:t>A </a:t>
            </a:r>
            <a:r>
              <a:rPr lang="en-US" b="1" dirty="0"/>
              <a:t>Uniform Resource Identifier</a:t>
            </a:r>
            <a:r>
              <a:rPr lang="en-US" dirty="0"/>
              <a:t> (URI) is a string of characters which identifies an Internet Resource.</a:t>
            </a:r>
          </a:p>
          <a:p>
            <a:r>
              <a:rPr lang="en-US" dirty="0"/>
              <a:t>The most common URI is the </a:t>
            </a:r>
            <a:r>
              <a:rPr lang="en-US" b="1" dirty="0"/>
              <a:t>Uniform Resource Locator</a:t>
            </a:r>
            <a:r>
              <a:rPr lang="en-US" dirty="0"/>
              <a:t> (URL) which identifies an Internet domain address. Another, not so common type of URI is the </a:t>
            </a:r>
            <a:r>
              <a:rPr lang="en-US" b="1" dirty="0"/>
              <a:t>Uniform Resource Name</a:t>
            </a:r>
            <a:r>
              <a:rPr lang="en-US" dirty="0"/>
              <a:t> (URN).</a:t>
            </a:r>
          </a:p>
        </p:txBody>
      </p:sp>
      <p:sp>
        <p:nvSpPr>
          <p:cNvPr id="2" name="Slide Number Placeholder 1">
            <a:extLst>
              <a:ext uri="{FF2B5EF4-FFF2-40B4-BE49-F238E27FC236}">
                <a16:creationId xmlns="" xmlns:a16="http://schemas.microsoft.com/office/drawing/2014/main" id="{F339BD8B-2E46-1658-54E4-B562C19BBF98}"/>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62</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87888951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9AF281-6ABC-1135-D376-C62F8EFC00B3}"/>
            </a:ext>
          </a:extLst>
        </p:cNvPr>
        <p:cNvGrpSpPr/>
        <p:nvPr/>
      </p:nvGrpSpPr>
      <p:grpSpPr>
        <a:xfrm>
          <a:off x="0" y="0"/>
          <a:ext cx="0" cy="0"/>
          <a:chOff x="0" y="0"/>
          <a:chExt cx="0" cy="0"/>
        </a:xfrm>
      </p:grpSpPr>
      <p:sp>
        <p:nvSpPr>
          <p:cNvPr id="47106" name="Rectangle 4">
            <a:extLst>
              <a:ext uri="{FF2B5EF4-FFF2-40B4-BE49-F238E27FC236}">
                <a16:creationId xmlns="" xmlns:a16="http://schemas.microsoft.com/office/drawing/2014/main" id="{243DF2F2-21A2-2DBC-656C-04D7C6A307DB}"/>
              </a:ext>
            </a:extLst>
          </p:cNvPr>
          <p:cNvSpPr>
            <a:spLocks noGrp="1"/>
          </p:cNvSpPr>
          <p:nvPr>
            <p:ph type="title"/>
          </p:nvPr>
        </p:nvSpPr>
        <p:spPr>
          <a:xfrm>
            <a:off x="758425" y="2682875"/>
            <a:ext cx="8391525" cy="746125"/>
          </a:xfrm>
        </p:spPr>
        <p:txBody>
          <a:bodyPr vert="horz" wrap="square" lIns="92075" tIns="46038" rIns="92075" bIns="46038" anchor="t" anchorCtr="0"/>
          <a:lstStyle/>
          <a:p>
            <a:pPr algn="ctr"/>
            <a:r>
              <a:rPr lang="en-GB" altLang="en-US" sz="6000" dirty="0"/>
              <a:t>AJAX</a:t>
            </a:r>
          </a:p>
        </p:txBody>
      </p:sp>
      <p:sp>
        <p:nvSpPr>
          <p:cNvPr id="2" name="Slide Number Placeholder 1">
            <a:extLst>
              <a:ext uri="{FF2B5EF4-FFF2-40B4-BE49-F238E27FC236}">
                <a16:creationId xmlns="" xmlns:a16="http://schemas.microsoft.com/office/drawing/2014/main" id="{81670F8D-CFE9-63C1-BBA1-DB52C9B842E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63</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27852936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p:nvPr/>
        </p:nvSpPr>
        <p:spPr>
          <a:xfrm>
            <a:off x="560512" y="1104900"/>
            <a:ext cx="8712968" cy="5262979"/>
          </a:xfrm>
          <a:prstGeom prst="rect">
            <a:avLst/>
          </a:prstGeom>
          <a:noFill/>
          <a:ln w="9525">
            <a:noFill/>
          </a:ln>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AJAX is an acronym for </a:t>
            </a:r>
            <a:r>
              <a:rPr lang="en-US" altLang="en-US" sz="2400" b="1" dirty="0">
                <a:latin typeface="Times New Roman" panose="02020603050405020304" pitchFamily="18" charset="0"/>
                <a:cs typeface="Times New Roman" panose="02020603050405020304" pitchFamily="18" charset="0"/>
              </a:rPr>
              <a:t>Asynchronous JavaScript and XML</a:t>
            </a:r>
            <a:r>
              <a:rPr lang="en-US" altLang="en-US" sz="2400" dirty="0">
                <a:latin typeface="Times New Roman" panose="02020603050405020304" pitchFamily="18" charset="0"/>
                <a:cs typeface="Times New Roman" panose="02020603050405020304" pitchFamily="18" charset="0"/>
              </a:rPr>
              <a:t>. It is a group of inter-related technologies like JavaScript, DOM, XML, HTML/ XHTML, CSS, XMLHttpRequest etc.</a:t>
            </a:r>
          </a:p>
          <a:p>
            <a:pPr marL="342900" indent="-342900" algn="jus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AJAX allows you to send and receive data asynchronously without reloading the web page. So, it is fast.</a:t>
            </a: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AJAX allows you to send only important information to the server not the entire page. So only valuable data from the client side is routed to the server side. It makes your application interactive and faster.</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b="1" dirty="0">
                <a:latin typeface="Times New Roman" panose="02020603050405020304" pitchFamily="18" charset="0"/>
                <a:cs typeface="Times New Roman" panose="02020603050405020304" pitchFamily="18" charset="0"/>
              </a:rPr>
              <a:t>Where it is used?</a:t>
            </a:r>
          </a:p>
          <a:p>
            <a:pPr algn="just"/>
            <a:r>
              <a:rPr lang="en-US" altLang="en-US" sz="2400" dirty="0">
                <a:latin typeface="Times New Roman" panose="02020603050405020304" pitchFamily="18" charset="0"/>
                <a:cs typeface="Times New Roman" panose="02020603050405020304" pitchFamily="18" charset="0"/>
              </a:rPr>
              <a:t>There are too many web applications running on the web that are using ajax technology like </a:t>
            </a:r>
            <a:r>
              <a:rPr lang="en-US" altLang="en-US" sz="2400" b="1" dirty="0">
                <a:latin typeface="Times New Roman" panose="02020603050405020304" pitchFamily="18" charset="0"/>
                <a:cs typeface="Times New Roman" panose="02020603050405020304" pitchFamily="18" charset="0"/>
              </a:rPr>
              <a:t>gmail</a:t>
            </a:r>
            <a:r>
              <a:rPr lang="en-US" altLang="en-US" sz="2400"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facebook</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twitter</a:t>
            </a:r>
            <a:r>
              <a:rPr lang="en-US" altLang="en-US" sz="2400" dirty="0">
                <a:latin typeface="Times New Roman" panose="02020603050405020304" pitchFamily="18" charset="0"/>
                <a:cs typeface="Times New Roman" panose="02020603050405020304" pitchFamily="18" charset="0"/>
              </a:rPr>
              <a:t>,</a:t>
            </a:r>
            <a:r>
              <a:rPr lang="en-US" altLang="en-US" sz="2400" b="1" dirty="0">
                <a:latin typeface="Times New Roman" panose="02020603050405020304" pitchFamily="18" charset="0"/>
                <a:cs typeface="Times New Roman" panose="02020603050405020304" pitchFamily="18" charset="0"/>
              </a:rPr>
              <a:t> google map</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youtube</a:t>
            </a:r>
            <a:r>
              <a:rPr lang="en-US" altLang="en-US" sz="2400" dirty="0">
                <a:latin typeface="Times New Roman" panose="02020603050405020304" pitchFamily="18" charset="0"/>
                <a:cs typeface="Times New Roman" panose="02020603050405020304" pitchFamily="18" charset="0"/>
              </a:rPr>
              <a:t> etc.</a:t>
            </a:r>
            <a:endParaRPr lang="en-US" altLang="en-US" sz="2400" dirty="0">
              <a:latin typeface="Times New Roman" panose="02020603050405020304" pitchFamily="18" charset="0"/>
              <a:ea typeface="Times New Roman" panose="02020603050405020304" pitchFamily="18" charset="0"/>
            </a:endParaRPr>
          </a:p>
        </p:txBody>
      </p:sp>
      <p:sp>
        <p:nvSpPr>
          <p:cNvPr id="4" name="Rectangle 3"/>
          <p:cNvSpPr/>
          <p:nvPr/>
        </p:nvSpPr>
        <p:spPr>
          <a:xfrm>
            <a:off x="3430588" y="228600"/>
            <a:ext cx="3044825" cy="647700"/>
          </a:xfrm>
          <a:prstGeom prst="rect">
            <a:avLst/>
          </a:prstGeom>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61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What is AJAX</a:t>
            </a:r>
          </a:p>
        </p:txBody>
      </p:sp>
      <p:sp>
        <p:nvSpPr>
          <p:cNvPr id="2" name="Slide Number Placeholder 1">
            <a:extLst>
              <a:ext uri="{FF2B5EF4-FFF2-40B4-BE49-F238E27FC236}">
                <a16:creationId xmlns="" xmlns:a16="http://schemas.microsoft.com/office/drawing/2014/main" id="{55EA4500-C40A-E49A-98B5-36FB555DF12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64</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0738" y="0"/>
            <a:ext cx="8264525" cy="1065213"/>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Famous web applications that make use of AJAX</a:t>
            </a:r>
          </a:p>
        </p:txBody>
      </p:sp>
      <p:sp>
        <p:nvSpPr>
          <p:cNvPr id="50179" name="Rectangle 2"/>
          <p:cNvSpPr/>
          <p:nvPr/>
        </p:nvSpPr>
        <p:spPr>
          <a:xfrm>
            <a:off x="820738" y="1019175"/>
            <a:ext cx="8178800" cy="4246563"/>
          </a:xfrm>
          <a:prstGeom prst="rect">
            <a:avLst/>
          </a:prstGeom>
          <a:noFill/>
          <a:ln w="9525">
            <a:noFill/>
          </a:ln>
        </p:spPr>
        <p:txBody>
          <a:bodyPr>
            <a:spAutoFit/>
          </a:bodyPr>
          <a:lstStyle/>
          <a:p>
            <a:r>
              <a:rPr lang="en-US" altLang="en-US" sz="3000" b="1" dirty="0">
                <a:latin typeface="Times New Roman" panose="02020603050405020304" pitchFamily="18" charset="0"/>
                <a:cs typeface="Times New Roman" panose="02020603050405020304" pitchFamily="18" charset="0"/>
              </a:rPr>
              <a:t>Google Maps:</a:t>
            </a:r>
            <a:r>
              <a:rPr lang="en-US" altLang="en-US" sz="3000" dirty="0">
                <a:latin typeface="Times New Roman" panose="02020603050405020304" pitchFamily="18" charset="0"/>
                <a:cs typeface="Times New Roman" panose="02020603050405020304" pitchFamily="18" charset="0"/>
              </a:rPr>
              <a:t> A user can drag an entire map by using the mouse, rather than clicking on a button.</a:t>
            </a:r>
          </a:p>
          <a:p>
            <a:r>
              <a:rPr lang="en-US" altLang="en-US" sz="3000" b="1" dirty="0">
                <a:latin typeface="Times New Roman" panose="02020603050405020304" pitchFamily="18" charset="0"/>
                <a:cs typeface="Times New Roman" panose="02020603050405020304" pitchFamily="18" charset="0"/>
              </a:rPr>
              <a:t>Google Suggest: </a:t>
            </a:r>
            <a:r>
              <a:rPr lang="en-US" altLang="en-US" sz="3000" dirty="0">
                <a:latin typeface="Times New Roman" panose="02020603050405020304" pitchFamily="18" charset="0"/>
                <a:cs typeface="Times New Roman" panose="02020603050405020304" pitchFamily="18" charset="0"/>
              </a:rPr>
              <a:t>As you type, Google offers suggestions. Use the arrow keys to navigate the results.</a:t>
            </a:r>
          </a:p>
          <a:p>
            <a:r>
              <a:rPr lang="en-US" altLang="en-US" sz="3000" b="1" dirty="0">
                <a:latin typeface="Times New Roman" panose="02020603050405020304" pitchFamily="18" charset="0"/>
                <a:cs typeface="Times New Roman" panose="02020603050405020304" pitchFamily="18" charset="0"/>
              </a:rPr>
              <a:t>Gmail:</a:t>
            </a:r>
            <a:r>
              <a:rPr lang="en-US" altLang="en-US" sz="3000" dirty="0">
                <a:latin typeface="Times New Roman" panose="02020603050405020304" pitchFamily="18" charset="0"/>
                <a:cs typeface="Times New Roman" panose="02020603050405020304" pitchFamily="18" charset="0"/>
              </a:rPr>
              <a:t> Gmail is a webmail built on the idea that emails can be more intuitive, efficient, and useful.</a:t>
            </a:r>
          </a:p>
          <a:p>
            <a:r>
              <a:rPr lang="en-US" altLang="en-US" sz="3000" b="1" dirty="0">
                <a:latin typeface="Times New Roman" panose="02020603050405020304" pitchFamily="18" charset="0"/>
                <a:cs typeface="Times New Roman" panose="02020603050405020304" pitchFamily="18" charset="0"/>
              </a:rPr>
              <a:t>Yahoo Maps (new):</a:t>
            </a:r>
            <a:r>
              <a:rPr lang="en-US" altLang="en-US" sz="3000" dirty="0">
                <a:latin typeface="Times New Roman" panose="02020603050405020304" pitchFamily="18" charset="0"/>
                <a:cs typeface="Times New Roman" panose="02020603050405020304" pitchFamily="18" charset="0"/>
              </a:rPr>
              <a:t> Now it's even easier and more fun to get where you're going!</a:t>
            </a:r>
            <a:endParaRPr lang="en-US" altLang="en-US" sz="3000"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 xmlns:a16="http://schemas.microsoft.com/office/drawing/2014/main" id="{19F74F60-507C-FD84-D928-6823755F386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65</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object 2"/>
          <p:cNvPicPr>
            <a:picLocks noChangeAspect="1"/>
          </p:cNvPicPr>
          <p:nvPr/>
        </p:nvPicPr>
        <p:blipFill>
          <a:blip r:embed="rId2"/>
          <a:srcRect r="1270" b="6526"/>
          <a:stretch>
            <a:fillRect/>
          </a:stretch>
        </p:blipFill>
        <p:spPr>
          <a:xfrm>
            <a:off x="376238" y="0"/>
            <a:ext cx="9037637" cy="6410325"/>
          </a:xfrm>
          <a:prstGeom prst="rect">
            <a:avLst/>
          </a:prstGeom>
          <a:noFill/>
          <a:ln w="9525">
            <a:noFill/>
          </a:ln>
        </p:spPr>
      </p:pic>
      <p:sp>
        <p:nvSpPr>
          <p:cNvPr id="2" name="Slide Number Placeholder 1">
            <a:extLst>
              <a:ext uri="{FF2B5EF4-FFF2-40B4-BE49-F238E27FC236}">
                <a16:creationId xmlns="" xmlns:a16="http://schemas.microsoft.com/office/drawing/2014/main" id="{8F5029DA-9E95-41DB-F122-BB1DA5C2EB9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66</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object 2"/>
          <p:cNvPicPr>
            <a:picLocks noChangeAspect="1"/>
          </p:cNvPicPr>
          <p:nvPr/>
        </p:nvPicPr>
        <p:blipFill>
          <a:blip r:embed="rId2"/>
          <a:srcRect r="3413" b="7237"/>
          <a:stretch>
            <a:fillRect/>
          </a:stretch>
        </p:blipFill>
        <p:spPr>
          <a:xfrm>
            <a:off x="376238" y="0"/>
            <a:ext cx="8988425" cy="6467475"/>
          </a:xfrm>
          <a:prstGeom prst="rect">
            <a:avLst/>
          </a:prstGeom>
          <a:noFill/>
          <a:ln w="9525">
            <a:noFill/>
          </a:ln>
        </p:spPr>
      </p:pic>
      <p:sp>
        <p:nvSpPr>
          <p:cNvPr id="2" name="Slide Number Placeholder 1">
            <a:extLst>
              <a:ext uri="{FF2B5EF4-FFF2-40B4-BE49-F238E27FC236}">
                <a16:creationId xmlns="" xmlns:a16="http://schemas.microsoft.com/office/drawing/2014/main" id="{2824D08C-9D4C-7835-52A4-78DC2723611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67</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object 2"/>
          <p:cNvPicPr>
            <a:picLocks noChangeAspect="1"/>
          </p:cNvPicPr>
          <p:nvPr/>
        </p:nvPicPr>
        <p:blipFill>
          <a:blip r:embed="rId2"/>
          <a:srcRect r="1164" b="9053"/>
          <a:stretch>
            <a:fillRect/>
          </a:stretch>
        </p:blipFill>
        <p:spPr>
          <a:xfrm>
            <a:off x="376238" y="0"/>
            <a:ext cx="9047162" cy="6237288"/>
          </a:xfrm>
          <a:prstGeom prst="rect">
            <a:avLst/>
          </a:prstGeom>
          <a:noFill/>
          <a:ln w="9525">
            <a:noFill/>
          </a:ln>
        </p:spPr>
      </p:pic>
      <p:sp>
        <p:nvSpPr>
          <p:cNvPr id="2" name="Slide Number Placeholder 1">
            <a:extLst>
              <a:ext uri="{FF2B5EF4-FFF2-40B4-BE49-F238E27FC236}">
                <a16:creationId xmlns="" xmlns:a16="http://schemas.microsoft.com/office/drawing/2014/main" id="{020DB648-B3C7-43D5-ED80-9EEFD2C465B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68</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object 2"/>
          <p:cNvPicPr>
            <a:picLocks noChangeAspect="1"/>
          </p:cNvPicPr>
          <p:nvPr/>
        </p:nvPicPr>
        <p:blipFill>
          <a:blip r:embed="rId2"/>
          <a:srcRect r="1270" b="11157"/>
          <a:stretch>
            <a:fillRect/>
          </a:stretch>
        </p:blipFill>
        <p:spPr>
          <a:xfrm>
            <a:off x="376238" y="344488"/>
            <a:ext cx="9037637" cy="5786437"/>
          </a:xfrm>
          <a:prstGeom prst="rect">
            <a:avLst/>
          </a:prstGeom>
          <a:noFill/>
          <a:ln w="9525">
            <a:noFill/>
          </a:ln>
        </p:spPr>
      </p:pic>
      <p:sp>
        <p:nvSpPr>
          <p:cNvPr id="2" name="Slide Number Placeholder 1">
            <a:extLst>
              <a:ext uri="{FF2B5EF4-FFF2-40B4-BE49-F238E27FC236}">
                <a16:creationId xmlns="" xmlns:a16="http://schemas.microsoft.com/office/drawing/2014/main" id="{8A96DE46-5A94-CEE3-64E1-B10074B5373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69</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6463" y="1620838"/>
            <a:ext cx="8005763" cy="4494213"/>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 describe earlier, Ajax is not a technology but group of inter-related technologies. AJAX technologies includes:</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87350" marR="0" lvl="0" indent="-387350" algn="l" defTabSz="914400" rtl="0" eaLnBrk="0" fontAlgn="base" latinLnBrk="0" hangingPunct="0">
              <a:lnSpc>
                <a:spcPct val="100000"/>
              </a:lnSpc>
              <a:spcBef>
                <a:spcPct val="0"/>
              </a:spcBef>
              <a:spcAft>
                <a:spcPct val="0"/>
              </a:spcAft>
              <a:buClrTx/>
              <a:buSzTx/>
              <a:buFont typeface="+mj-lt"/>
              <a:buAutoNum type="arabicPeriod"/>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HTML/XHTML and CSS-</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These technologies are used for displaying content and style. It is mainly used for presentation.</a:t>
            </a:r>
          </a:p>
          <a:p>
            <a:pPr marL="387350" marR="0" lvl="0" indent="-387350" algn="l" defTabSz="914400" rtl="0" eaLnBrk="0" fontAlgn="base" latinLnBrk="0" hangingPunct="0">
              <a:lnSpc>
                <a:spcPct val="100000"/>
              </a:lnSpc>
              <a:spcBef>
                <a:spcPct val="0"/>
              </a:spcBef>
              <a:spcAft>
                <a:spcPct val="0"/>
              </a:spcAft>
              <a:buClrTx/>
              <a:buSzTx/>
              <a:buFont typeface="+mj-lt"/>
              <a:buAutoNum type="arabicPeriod"/>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DOM-</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It is used for dynamic display and interaction with data.</a:t>
            </a:r>
          </a:p>
          <a:p>
            <a:pPr marL="387350" marR="0" lvl="0" indent="-387350" algn="l" defTabSz="914400" rtl="0" eaLnBrk="0" fontAlgn="base" latinLnBrk="0" hangingPunct="0">
              <a:lnSpc>
                <a:spcPct val="100000"/>
              </a:lnSpc>
              <a:spcBef>
                <a:spcPct val="0"/>
              </a:spcBef>
              <a:spcAft>
                <a:spcPct val="0"/>
              </a:spcAft>
              <a:buClrTx/>
              <a:buSzTx/>
              <a:buFont typeface="+mj-lt"/>
              <a:buAutoNum type="arabicPeriod"/>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XML or JSON-</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For carrying data to and from server. JSON (</a:t>
            </a:r>
            <a:r>
              <a:rPr kumimoji="0" lang="en-US" sz="22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Javascript</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Object Notation) is like XML but short and faster than XML.</a:t>
            </a:r>
          </a:p>
          <a:p>
            <a:pPr marL="387350" marR="0" lvl="0" indent="-387350" algn="l" defTabSz="914400" rtl="0" eaLnBrk="0" fontAlgn="base" latinLnBrk="0" hangingPunct="0">
              <a:lnSpc>
                <a:spcPct val="100000"/>
              </a:lnSpc>
              <a:spcBef>
                <a:spcPct val="0"/>
              </a:spcBef>
              <a:spcAft>
                <a:spcPct val="0"/>
              </a:spcAft>
              <a:buClrTx/>
              <a:buSzTx/>
              <a:buFont typeface="+mj-lt"/>
              <a:buAutoNum type="arabicPeriod"/>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XMLHttpRequest-</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For asynchronous communication between client and server. </a:t>
            </a:r>
          </a:p>
          <a:p>
            <a:pPr marL="387350" marR="0" lvl="0" indent="-387350" algn="l" defTabSz="914400" rtl="0" eaLnBrk="0" fontAlgn="base" latinLnBrk="0" hangingPunct="0">
              <a:lnSpc>
                <a:spcPct val="100000"/>
              </a:lnSpc>
              <a:spcBef>
                <a:spcPct val="0"/>
              </a:spcBef>
              <a:spcAft>
                <a:spcPct val="0"/>
              </a:spcAft>
              <a:buClrTx/>
              <a:buSzTx/>
              <a:buFont typeface="+mj-lt"/>
              <a:buAutoNum type="arabicPeriod"/>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JavaScript-</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It is used to bring above technologies together. Independently, it is used mainly for client-side validation.</a:t>
            </a:r>
          </a:p>
        </p:txBody>
      </p:sp>
      <p:sp>
        <p:nvSpPr>
          <p:cNvPr id="5" name="Rectangle 4"/>
          <p:cNvSpPr/>
          <p:nvPr/>
        </p:nvSpPr>
        <p:spPr>
          <a:xfrm>
            <a:off x="3163888" y="760413"/>
            <a:ext cx="3578225" cy="57943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rPr>
              <a:t>AJAX Technologies</a:t>
            </a:r>
          </a:p>
        </p:txBody>
      </p:sp>
      <p:sp>
        <p:nvSpPr>
          <p:cNvPr id="2" name="Slide Number Placeholder 1">
            <a:extLst>
              <a:ext uri="{FF2B5EF4-FFF2-40B4-BE49-F238E27FC236}">
                <a16:creationId xmlns="" xmlns:a16="http://schemas.microsoft.com/office/drawing/2014/main" id="{122C539E-41C1-EC40-36DD-509BDA5B1CE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70</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p:nvPr/>
        </p:nvSpPr>
        <p:spPr>
          <a:xfrm>
            <a:off x="820738" y="4405313"/>
            <a:ext cx="8278812" cy="2032000"/>
          </a:xfrm>
          <a:prstGeom prst="rect">
            <a:avLst/>
          </a:prstGeom>
          <a:noFill/>
          <a:ln w="9525">
            <a:noFill/>
          </a:ln>
        </p:spPr>
        <p:txBody>
          <a:bodyPr>
            <a:spAutoFit/>
          </a:bodyPr>
          <a:lstStyle/>
          <a:p>
            <a:r>
              <a:rPr lang="en-US" altLang="en-US" dirty="0">
                <a:latin typeface="Times New Roman" panose="02020603050405020304" pitchFamily="18" charset="0"/>
                <a:cs typeface="Times New Roman" panose="02020603050405020304" pitchFamily="18" charset="0"/>
              </a:rPr>
              <a:t>1. An event occurs in a web page (the page is loaded, a button is clicked)</a:t>
            </a:r>
          </a:p>
          <a:p>
            <a:r>
              <a:rPr lang="en-US" altLang="en-US" dirty="0">
                <a:latin typeface="Times New Roman" panose="02020603050405020304" pitchFamily="18" charset="0"/>
                <a:cs typeface="Times New Roman" panose="02020603050405020304" pitchFamily="18" charset="0"/>
              </a:rPr>
              <a:t>2. An XMLHttpRequest object is created by JavaScript</a:t>
            </a:r>
          </a:p>
          <a:p>
            <a:r>
              <a:rPr lang="en-US" altLang="en-US" dirty="0">
                <a:latin typeface="Times New Roman" panose="02020603050405020304" pitchFamily="18" charset="0"/>
                <a:cs typeface="Times New Roman" panose="02020603050405020304" pitchFamily="18" charset="0"/>
              </a:rPr>
              <a:t>3. The XMLHttpRequest object sends a request to a web server</a:t>
            </a:r>
          </a:p>
          <a:p>
            <a:r>
              <a:rPr lang="en-US" altLang="en-US" dirty="0">
                <a:latin typeface="Times New Roman" panose="02020603050405020304" pitchFamily="18" charset="0"/>
                <a:cs typeface="Times New Roman" panose="02020603050405020304" pitchFamily="18" charset="0"/>
              </a:rPr>
              <a:t>4. The server processes the request</a:t>
            </a:r>
          </a:p>
          <a:p>
            <a:r>
              <a:rPr lang="en-US" altLang="en-US" dirty="0">
                <a:latin typeface="Times New Roman" panose="02020603050405020304" pitchFamily="18" charset="0"/>
                <a:cs typeface="Times New Roman" panose="02020603050405020304" pitchFamily="18" charset="0"/>
              </a:rPr>
              <a:t>5. The server sends a response back to the web page</a:t>
            </a:r>
          </a:p>
          <a:p>
            <a:r>
              <a:rPr lang="en-US" altLang="en-US" dirty="0">
                <a:latin typeface="Times New Roman" panose="02020603050405020304" pitchFamily="18" charset="0"/>
                <a:cs typeface="Times New Roman" panose="02020603050405020304" pitchFamily="18" charset="0"/>
              </a:rPr>
              <a:t>6. The response is read by JavaScript</a:t>
            </a:r>
          </a:p>
          <a:p>
            <a:r>
              <a:rPr lang="en-US" altLang="en-US" dirty="0">
                <a:latin typeface="Times New Roman" panose="02020603050405020304" pitchFamily="18" charset="0"/>
                <a:cs typeface="Times New Roman" panose="02020603050405020304" pitchFamily="18" charset="0"/>
              </a:rPr>
              <a:t>7. Proper action (like page update) is performed by JavaScript</a:t>
            </a:r>
            <a:endParaRPr lang="en-US" altLang="en-US" dirty="0">
              <a:latin typeface="Times New Roman" panose="02020603050405020304" pitchFamily="18" charset="0"/>
              <a:ea typeface="Times New Roman" panose="02020603050405020304" pitchFamily="18" charset="0"/>
            </a:endParaRPr>
          </a:p>
        </p:txBody>
      </p:sp>
      <p:sp>
        <p:nvSpPr>
          <p:cNvPr id="4" name="Rectangle 3"/>
          <p:cNvSpPr/>
          <p:nvPr/>
        </p:nvSpPr>
        <p:spPr>
          <a:xfrm>
            <a:off x="3251200" y="-14287"/>
            <a:ext cx="3403600" cy="579438"/>
          </a:xfrm>
          <a:prstGeom prst="rect">
            <a:avLst/>
          </a:prstGeom>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How AJAX Works</a:t>
            </a:r>
          </a:p>
        </p:txBody>
      </p:sp>
      <p:pic>
        <p:nvPicPr>
          <p:cNvPr id="56324" name="Picture 2"/>
          <p:cNvPicPr>
            <a:picLocks noChangeAspect="1"/>
          </p:cNvPicPr>
          <p:nvPr/>
        </p:nvPicPr>
        <p:blipFill>
          <a:blip r:embed="rId2"/>
          <a:stretch>
            <a:fillRect/>
          </a:stretch>
        </p:blipFill>
        <p:spPr>
          <a:xfrm>
            <a:off x="1250950" y="506413"/>
            <a:ext cx="7145338" cy="3925887"/>
          </a:xfrm>
          <a:prstGeom prst="rect">
            <a:avLst/>
          </a:prstGeom>
          <a:noFill/>
          <a:ln w="9525">
            <a:noFill/>
          </a:ln>
        </p:spPr>
      </p:pic>
      <p:sp>
        <p:nvSpPr>
          <p:cNvPr id="2" name="Slide Number Placeholder 1">
            <a:extLst>
              <a:ext uri="{FF2B5EF4-FFF2-40B4-BE49-F238E27FC236}">
                <a16:creationId xmlns="" xmlns:a16="http://schemas.microsoft.com/office/drawing/2014/main" id="{5EB29C65-B885-9F97-4D12-E0411236A4D5}"/>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71</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object 2"/>
          <p:cNvPicPr>
            <a:picLocks noChangeAspect="1"/>
          </p:cNvPicPr>
          <p:nvPr/>
        </p:nvPicPr>
        <p:blipFill>
          <a:blip r:embed="rId2"/>
          <a:srcRect l="-2" r="-517" b="6686"/>
          <a:stretch>
            <a:fillRect/>
          </a:stretch>
        </p:blipFill>
        <p:spPr>
          <a:xfrm>
            <a:off x="376238" y="563563"/>
            <a:ext cx="9201150" cy="6078537"/>
          </a:xfrm>
          <a:prstGeom prst="rect">
            <a:avLst/>
          </a:prstGeom>
          <a:noFill/>
          <a:ln w="9525">
            <a:noFill/>
          </a:ln>
        </p:spPr>
      </p:pic>
      <p:sp>
        <p:nvSpPr>
          <p:cNvPr id="3" name="Rectangle 2"/>
          <p:cNvSpPr/>
          <p:nvPr/>
        </p:nvSpPr>
        <p:spPr>
          <a:xfrm>
            <a:off x="3168650" y="-14287"/>
            <a:ext cx="3568700" cy="579438"/>
          </a:xfrm>
          <a:prstGeom prst="rect">
            <a:avLst/>
          </a:prstGeom>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How AJAX Works</a:t>
            </a:r>
          </a:p>
        </p:txBody>
      </p:sp>
      <p:sp>
        <p:nvSpPr>
          <p:cNvPr id="2" name="Slide Number Placeholder 1">
            <a:extLst>
              <a:ext uri="{FF2B5EF4-FFF2-40B4-BE49-F238E27FC236}">
                <a16:creationId xmlns="" xmlns:a16="http://schemas.microsoft.com/office/drawing/2014/main" id="{A6D33458-F7C4-68F0-ADAD-FA16F0B3E632}"/>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72</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2775" y="260350"/>
            <a:ext cx="3671888" cy="579438"/>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How AJAX Works</a:t>
            </a:r>
          </a:p>
        </p:txBody>
      </p:sp>
      <p:sp>
        <p:nvSpPr>
          <p:cNvPr id="4" name="Rectangle 3"/>
          <p:cNvSpPr/>
          <p:nvPr/>
        </p:nvSpPr>
        <p:spPr>
          <a:xfrm>
            <a:off x="849312" y="1268413"/>
            <a:ext cx="8568183" cy="3139321"/>
          </a:xfrm>
          <a:prstGeom prst="rect">
            <a:avLst/>
          </a:prstGeom>
        </p:spPr>
        <p:txBody>
          <a:bodyPr wrap="square">
            <a:spAutoFit/>
          </a:bodyPr>
          <a:lstStyle/>
          <a:p>
            <a:pPr marL="457200" indent="-457200">
              <a:buFont typeface="Arial" panose="020B0604020202020204" pitchFamily="34" charset="0"/>
              <a:buChar char="•"/>
            </a:pPr>
            <a:r>
              <a:rPr lang="en-US" sz="2800" dirty="0"/>
              <a:t>Update a web page without reloading the page</a:t>
            </a:r>
          </a:p>
          <a:p>
            <a:pPr marL="457200" indent="-457200">
              <a:buFont typeface="Arial" panose="020B0604020202020204" pitchFamily="34" charset="0"/>
              <a:buChar char="•"/>
            </a:pPr>
            <a:r>
              <a:rPr lang="en-US" sz="2800" dirty="0"/>
              <a:t>Request data from a server - after the page has loaded</a:t>
            </a:r>
          </a:p>
          <a:p>
            <a:pPr marL="457200" indent="-457200">
              <a:buFont typeface="Arial" panose="020B0604020202020204" pitchFamily="34" charset="0"/>
              <a:buChar char="•"/>
            </a:pPr>
            <a:r>
              <a:rPr lang="en-US" sz="2800" dirty="0"/>
              <a:t>Receive data from a server - after the page has loaded</a:t>
            </a:r>
          </a:p>
          <a:p>
            <a:pPr marL="457200" indent="-457200">
              <a:buFont typeface="Arial" panose="020B0604020202020204" pitchFamily="34" charset="0"/>
              <a:buChar char="•"/>
            </a:pPr>
            <a:r>
              <a:rPr lang="en-US" sz="2800" dirty="0"/>
              <a:t>Send data to a server - in the background</a:t>
            </a:r>
          </a:p>
          <a:p>
            <a:pPr marL="322580" marR="0" lvl="0" indent="-32258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endPar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3" name="Slide Number Placeholder 2">
            <a:extLst>
              <a:ext uri="{FF2B5EF4-FFF2-40B4-BE49-F238E27FC236}">
                <a16:creationId xmlns="" xmlns:a16="http://schemas.microsoft.com/office/drawing/2014/main" id="{179FB1CD-5BCE-41A9-FC43-5CD554ECF19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73</a:t>
            </a:fld>
            <a:endParaRPr lang="en-GB"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779BE90-0DBF-7FE0-8AEC-0024FE1C6EC8}"/>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34770565-3EF4-5B9E-0792-6FB80727CD16}"/>
              </a:ext>
            </a:extLst>
          </p:cNvPr>
          <p:cNvSpPr/>
          <p:nvPr/>
        </p:nvSpPr>
        <p:spPr>
          <a:xfrm>
            <a:off x="3152775" y="260350"/>
            <a:ext cx="3671888" cy="579438"/>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How AJAX Works</a:t>
            </a:r>
          </a:p>
        </p:txBody>
      </p:sp>
      <p:sp>
        <p:nvSpPr>
          <p:cNvPr id="4" name="Rectangle 3">
            <a:extLst>
              <a:ext uri="{FF2B5EF4-FFF2-40B4-BE49-F238E27FC236}">
                <a16:creationId xmlns="" xmlns:a16="http://schemas.microsoft.com/office/drawing/2014/main" id="{D480FC9D-9EFC-BDD2-3E4D-CD299FF6CC84}"/>
              </a:ext>
            </a:extLst>
          </p:cNvPr>
          <p:cNvSpPr/>
          <p:nvPr/>
        </p:nvSpPr>
        <p:spPr>
          <a:xfrm>
            <a:off x="6813843" y="3282156"/>
            <a:ext cx="2891686" cy="923330"/>
          </a:xfrm>
          <a:prstGeom prst="rect">
            <a:avLst/>
          </a:prstGeom>
        </p:spPr>
        <p:txBody>
          <a:bodyPr wrap="square">
            <a:spAutoFit/>
          </a:bodyPr>
          <a:lstStyle/>
          <a:p>
            <a:r>
              <a:rPr lang="en-US" sz="2400" dirty="0"/>
              <a:t>Result</a:t>
            </a:r>
          </a:p>
          <a:p>
            <a:pPr marL="322580" marR="0" lvl="0" indent="-32258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5" name="TextBox 4">
            <a:extLst>
              <a:ext uri="{FF2B5EF4-FFF2-40B4-BE49-F238E27FC236}">
                <a16:creationId xmlns="" xmlns:a16="http://schemas.microsoft.com/office/drawing/2014/main" id="{CBDDE8E8-B977-0A87-CF5A-C2725C00565B}"/>
              </a:ext>
            </a:extLst>
          </p:cNvPr>
          <p:cNvSpPr txBox="1"/>
          <p:nvPr/>
        </p:nvSpPr>
        <p:spPr>
          <a:xfrm>
            <a:off x="632521" y="1273733"/>
            <a:ext cx="5472608" cy="5693866"/>
          </a:xfrm>
          <a:prstGeom prst="rect">
            <a:avLst/>
          </a:prstGeom>
          <a:noFill/>
        </p:spPr>
        <p:txBody>
          <a:bodyPr wrap="square">
            <a:spAutoFit/>
          </a:bodyPr>
          <a:lstStyle/>
          <a:p>
            <a:r>
              <a:rPr lang="en-IN" sz="1400" dirty="0"/>
              <a:t>&lt;!DOCTYPE html&gt;</a:t>
            </a:r>
          </a:p>
          <a:p>
            <a:r>
              <a:rPr lang="en-IN" sz="1400" dirty="0"/>
              <a:t>&lt;html&gt;</a:t>
            </a:r>
          </a:p>
          <a:p>
            <a:r>
              <a:rPr lang="en-IN" sz="1400" dirty="0"/>
              <a:t>&lt;body&gt;</a:t>
            </a:r>
          </a:p>
          <a:p>
            <a:endParaRPr lang="en-IN" sz="1400" dirty="0"/>
          </a:p>
          <a:p>
            <a:r>
              <a:rPr lang="en-IN" sz="1400" dirty="0"/>
              <a:t>&lt;div id="demo"&gt;</a:t>
            </a:r>
          </a:p>
          <a:p>
            <a:r>
              <a:rPr lang="en-IN" sz="1400" dirty="0"/>
              <a:t>&lt;h1&gt;The </a:t>
            </a:r>
            <a:r>
              <a:rPr lang="en-IN" sz="1400" dirty="0" err="1"/>
              <a:t>XMLHttpRequest</a:t>
            </a:r>
            <a:r>
              <a:rPr lang="en-IN" sz="1400" dirty="0"/>
              <a:t> Object&lt;/h1&gt;</a:t>
            </a:r>
          </a:p>
          <a:p>
            <a:r>
              <a:rPr lang="en-IN" sz="1400" dirty="0"/>
              <a:t>&lt;button type="button" onclick="</a:t>
            </a:r>
            <a:r>
              <a:rPr lang="en-IN" sz="1400" dirty="0" err="1"/>
              <a:t>loadDoc</a:t>
            </a:r>
            <a:r>
              <a:rPr lang="en-IN" sz="1400" dirty="0"/>
              <a:t>()"&gt;Change Content&lt;/button&gt;</a:t>
            </a:r>
          </a:p>
          <a:p>
            <a:r>
              <a:rPr lang="en-IN" sz="1400" dirty="0"/>
              <a:t>&lt;/div&gt;</a:t>
            </a:r>
          </a:p>
          <a:p>
            <a:endParaRPr lang="en-IN" sz="1400" dirty="0"/>
          </a:p>
          <a:p>
            <a:r>
              <a:rPr lang="en-IN" sz="1400" dirty="0"/>
              <a:t>&lt;script&gt;</a:t>
            </a:r>
          </a:p>
          <a:p>
            <a:r>
              <a:rPr lang="en-IN" sz="1400" dirty="0">
                <a:highlight>
                  <a:srgbClr val="FFFF00"/>
                </a:highlight>
              </a:rPr>
              <a:t>function </a:t>
            </a:r>
            <a:r>
              <a:rPr lang="en-IN" sz="1400" dirty="0" err="1">
                <a:highlight>
                  <a:srgbClr val="FFFF00"/>
                </a:highlight>
              </a:rPr>
              <a:t>loadDoc</a:t>
            </a:r>
            <a:r>
              <a:rPr lang="en-IN" sz="1400" dirty="0">
                <a:highlight>
                  <a:srgbClr val="FFFF00"/>
                </a:highlight>
              </a:rPr>
              <a:t>() </a:t>
            </a:r>
            <a:r>
              <a:rPr lang="en-IN" sz="1400" dirty="0"/>
              <a:t>{</a:t>
            </a:r>
          </a:p>
          <a:p>
            <a:r>
              <a:rPr lang="en-IN" sz="1400" dirty="0"/>
              <a:t>  var </a:t>
            </a:r>
            <a:r>
              <a:rPr lang="en-IN" sz="1400" dirty="0" err="1"/>
              <a:t>xhttp</a:t>
            </a:r>
            <a:r>
              <a:rPr lang="en-IN" sz="1400" dirty="0"/>
              <a:t> = new </a:t>
            </a:r>
            <a:r>
              <a:rPr lang="en-IN" sz="1400" dirty="0" err="1"/>
              <a:t>XMLHttpRequest</a:t>
            </a:r>
            <a:r>
              <a:rPr lang="en-IN" sz="1400" dirty="0"/>
              <a:t>();</a:t>
            </a:r>
          </a:p>
          <a:p>
            <a:r>
              <a:rPr lang="en-IN" sz="1400" dirty="0"/>
              <a:t>  </a:t>
            </a:r>
            <a:r>
              <a:rPr lang="en-IN" sz="1400" dirty="0" err="1"/>
              <a:t>xhttp.onreadystatechange</a:t>
            </a:r>
            <a:r>
              <a:rPr lang="en-IN" sz="1400" dirty="0"/>
              <a:t> = function() {</a:t>
            </a:r>
          </a:p>
          <a:p>
            <a:r>
              <a:rPr lang="en-IN" sz="1400" dirty="0"/>
              <a:t>    if (</a:t>
            </a:r>
            <a:r>
              <a:rPr lang="en-IN" sz="1400" dirty="0" err="1"/>
              <a:t>this.readyState</a:t>
            </a:r>
            <a:r>
              <a:rPr lang="en-IN" sz="1400" dirty="0"/>
              <a:t> == 4 &amp;&amp; </a:t>
            </a:r>
            <a:r>
              <a:rPr lang="en-IN" sz="1400" dirty="0" err="1"/>
              <a:t>this.status</a:t>
            </a:r>
            <a:r>
              <a:rPr lang="en-IN" sz="1400" dirty="0"/>
              <a:t> == 200) {</a:t>
            </a:r>
          </a:p>
          <a:p>
            <a:r>
              <a:rPr lang="en-IN" sz="1400" dirty="0"/>
              <a:t>      </a:t>
            </a:r>
            <a:r>
              <a:rPr lang="en-IN" sz="1400" dirty="0" err="1"/>
              <a:t>document.getElementById</a:t>
            </a:r>
            <a:r>
              <a:rPr lang="en-IN" sz="1400" dirty="0"/>
              <a:t>("demo").</a:t>
            </a:r>
            <a:r>
              <a:rPr lang="en-IN" sz="1400" dirty="0" err="1"/>
              <a:t>innerHTML</a:t>
            </a:r>
            <a:r>
              <a:rPr lang="en-IN" sz="1400" dirty="0"/>
              <a:t> =</a:t>
            </a:r>
          </a:p>
          <a:p>
            <a:r>
              <a:rPr lang="en-IN" sz="1400" dirty="0"/>
              <a:t>      </a:t>
            </a:r>
            <a:r>
              <a:rPr lang="en-IN" sz="1400" dirty="0" err="1"/>
              <a:t>this.responseText</a:t>
            </a:r>
            <a:r>
              <a:rPr lang="en-IN" sz="1400" dirty="0"/>
              <a:t>;</a:t>
            </a:r>
          </a:p>
          <a:p>
            <a:r>
              <a:rPr lang="en-IN" sz="1400" dirty="0"/>
              <a:t>    }</a:t>
            </a:r>
          </a:p>
          <a:p>
            <a:r>
              <a:rPr lang="en-IN" sz="1400" dirty="0"/>
              <a:t>  };</a:t>
            </a:r>
          </a:p>
          <a:p>
            <a:r>
              <a:rPr lang="en-IN" sz="1400" dirty="0"/>
              <a:t>  </a:t>
            </a:r>
            <a:r>
              <a:rPr lang="en-IN" sz="1400" dirty="0" err="1">
                <a:highlight>
                  <a:srgbClr val="FFFF00"/>
                </a:highlight>
              </a:rPr>
              <a:t>xhttp.open</a:t>
            </a:r>
            <a:r>
              <a:rPr lang="en-IN" sz="1400" dirty="0">
                <a:highlight>
                  <a:srgbClr val="FFFF00"/>
                </a:highlight>
              </a:rPr>
              <a:t>("GET", "ajax_info.txt", true);</a:t>
            </a:r>
          </a:p>
          <a:p>
            <a:r>
              <a:rPr lang="en-IN" sz="1400" dirty="0"/>
              <a:t>  </a:t>
            </a:r>
            <a:r>
              <a:rPr lang="en-IN" sz="1400" dirty="0" err="1"/>
              <a:t>xhttp.send</a:t>
            </a:r>
            <a:r>
              <a:rPr lang="en-IN" sz="1400" dirty="0"/>
              <a:t>();</a:t>
            </a:r>
          </a:p>
          <a:p>
            <a:r>
              <a:rPr lang="en-IN" sz="1400" dirty="0"/>
              <a:t>}</a:t>
            </a:r>
          </a:p>
          <a:p>
            <a:r>
              <a:rPr lang="en-IN" sz="1400" dirty="0"/>
              <a:t>&lt;/script&gt;</a:t>
            </a:r>
          </a:p>
          <a:p>
            <a:endParaRPr lang="en-IN" sz="1400" dirty="0"/>
          </a:p>
          <a:p>
            <a:r>
              <a:rPr lang="en-IN" sz="1400" dirty="0"/>
              <a:t>&lt;/body&gt;</a:t>
            </a:r>
          </a:p>
          <a:p>
            <a:r>
              <a:rPr lang="en-IN" sz="1400" dirty="0"/>
              <a:t>&lt;/html&gt;</a:t>
            </a:r>
          </a:p>
        </p:txBody>
      </p:sp>
      <p:pic>
        <p:nvPicPr>
          <p:cNvPr id="7" name="Picture 6">
            <a:extLst>
              <a:ext uri="{FF2B5EF4-FFF2-40B4-BE49-F238E27FC236}">
                <a16:creationId xmlns="" xmlns:a16="http://schemas.microsoft.com/office/drawing/2014/main" id="{99746413-386B-47A4-67EB-8EF5E2E9DA33}"/>
              </a:ext>
            </a:extLst>
          </p:cNvPr>
          <p:cNvPicPr>
            <a:picLocks noChangeAspect="1"/>
          </p:cNvPicPr>
          <p:nvPr/>
        </p:nvPicPr>
        <p:blipFill>
          <a:blip r:embed="rId2"/>
          <a:srcRect l="49274" t="27891" r="4204" b="55539"/>
          <a:stretch>
            <a:fillRect/>
          </a:stretch>
        </p:blipFill>
        <p:spPr>
          <a:xfrm>
            <a:off x="6465168" y="3853247"/>
            <a:ext cx="3312368" cy="923330"/>
          </a:xfrm>
          <a:prstGeom prst="rect">
            <a:avLst/>
          </a:prstGeom>
        </p:spPr>
      </p:pic>
      <p:pic>
        <p:nvPicPr>
          <p:cNvPr id="9" name="Picture 8">
            <a:extLst>
              <a:ext uri="{FF2B5EF4-FFF2-40B4-BE49-F238E27FC236}">
                <a16:creationId xmlns="" xmlns:a16="http://schemas.microsoft.com/office/drawing/2014/main" id="{EF16E672-DA7F-9D99-94AA-7A511C4C522F}"/>
              </a:ext>
            </a:extLst>
          </p:cNvPr>
          <p:cNvPicPr>
            <a:picLocks noChangeAspect="1"/>
          </p:cNvPicPr>
          <p:nvPr/>
        </p:nvPicPr>
        <p:blipFill>
          <a:blip r:embed="rId3"/>
          <a:srcRect l="49273" t="27891" r="6385" b="47415"/>
          <a:stretch>
            <a:fillRect/>
          </a:stretch>
        </p:blipFill>
        <p:spPr>
          <a:xfrm>
            <a:off x="5513512" y="5437423"/>
            <a:ext cx="4392488" cy="1375953"/>
          </a:xfrm>
          <a:prstGeom prst="rect">
            <a:avLst/>
          </a:prstGeom>
        </p:spPr>
      </p:pic>
      <p:sp>
        <p:nvSpPr>
          <p:cNvPr id="11" name="TextBox 10">
            <a:extLst>
              <a:ext uri="{FF2B5EF4-FFF2-40B4-BE49-F238E27FC236}">
                <a16:creationId xmlns="" xmlns:a16="http://schemas.microsoft.com/office/drawing/2014/main" id="{C3FA2C63-2112-8AB4-2D64-CF0CAF1DEFBE}"/>
              </a:ext>
            </a:extLst>
          </p:cNvPr>
          <p:cNvSpPr txBox="1"/>
          <p:nvPr/>
        </p:nvSpPr>
        <p:spPr>
          <a:xfrm>
            <a:off x="5241031" y="1130654"/>
            <a:ext cx="4464497" cy="2308324"/>
          </a:xfrm>
          <a:prstGeom prst="rect">
            <a:avLst/>
          </a:prstGeom>
          <a:noFill/>
        </p:spPr>
        <p:txBody>
          <a:bodyPr wrap="square">
            <a:spAutoFit/>
          </a:bodyPr>
          <a:lstStyle/>
          <a:p>
            <a:pPr algn="l">
              <a:buNone/>
            </a:pPr>
            <a:r>
              <a:rPr lang="en-US" b="0" i="0" dirty="0">
                <a:solidFill>
                  <a:srgbClr val="000000"/>
                </a:solidFill>
                <a:effectLst/>
                <a:latin typeface="Segoe UI" panose="020B0502040204020203" pitchFamily="34" charset="0"/>
              </a:rPr>
              <a:t>The HTML page contains a &lt;div&gt; section and a &lt;button&gt;.</a:t>
            </a:r>
          </a:p>
          <a:p>
            <a:pPr algn="l">
              <a:buNone/>
            </a:pPr>
            <a:r>
              <a:rPr lang="en-US" b="0" i="0" dirty="0">
                <a:solidFill>
                  <a:srgbClr val="000000"/>
                </a:solidFill>
                <a:effectLst/>
                <a:latin typeface="Segoe UI" panose="020B0502040204020203" pitchFamily="34" charset="0"/>
              </a:rPr>
              <a:t>The &lt;div&gt; section is used to display information from a server.</a:t>
            </a:r>
          </a:p>
          <a:p>
            <a:pPr algn="l">
              <a:buNone/>
            </a:pPr>
            <a:r>
              <a:rPr lang="en-US" b="0" i="0" dirty="0">
                <a:solidFill>
                  <a:srgbClr val="000000"/>
                </a:solidFill>
                <a:effectLst/>
                <a:latin typeface="Segoe UI" panose="020B0502040204020203" pitchFamily="34" charset="0"/>
              </a:rPr>
              <a:t>The &lt;button&gt; calls a function (if it is clicked).</a:t>
            </a:r>
          </a:p>
          <a:p>
            <a:pPr algn="l">
              <a:buNone/>
            </a:pPr>
            <a:r>
              <a:rPr lang="en-US" b="0" i="0" dirty="0">
                <a:solidFill>
                  <a:srgbClr val="000000"/>
                </a:solidFill>
                <a:effectLst/>
                <a:latin typeface="Segoe UI" panose="020B0502040204020203" pitchFamily="34" charset="0"/>
              </a:rPr>
              <a:t>The function requests data from a web server and displays it:</a:t>
            </a:r>
          </a:p>
        </p:txBody>
      </p:sp>
      <p:sp>
        <p:nvSpPr>
          <p:cNvPr id="12" name="Slide Number Placeholder 11">
            <a:extLst>
              <a:ext uri="{FF2B5EF4-FFF2-40B4-BE49-F238E27FC236}">
                <a16:creationId xmlns="" xmlns:a16="http://schemas.microsoft.com/office/drawing/2014/main" id="{C3B3B25D-2176-77AD-2AE0-96863941634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74</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29115341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C496FB-07C6-BC19-5A15-720C31552AAB}"/>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C252AC74-30D0-B069-0F33-E105DC277AE0}"/>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165"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XMLHttpRequest</a:t>
            </a:r>
            <a:r>
              <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Object</a:t>
            </a:r>
          </a:p>
        </p:txBody>
      </p:sp>
      <p:sp>
        <p:nvSpPr>
          <p:cNvPr id="4" name="Rectangle 3">
            <a:extLst>
              <a:ext uri="{FF2B5EF4-FFF2-40B4-BE49-F238E27FC236}">
                <a16:creationId xmlns="" xmlns:a16="http://schemas.microsoft.com/office/drawing/2014/main" id="{3466F4DF-539B-3A99-7AE8-AD47D51B0563}"/>
              </a:ext>
            </a:extLst>
          </p:cNvPr>
          <p:cNvSpPr/>
          <p:nvPr/>
        </p:nvSpPr>
        <p:spPr>
          <a:xfrm>
            <a:off x="849313" y="1268413"/>
            <a:ext cx="7920038" cy="424815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Understanding XMLHttpRequest</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An object of XMLHttpRequest is used for asynchronous communication between client and server.</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It performs following operations:</a:t>
            </a:r>
          </a:p>
          <a:p>
            <a:pPr marL="322580" marR="0" lvl="0" indent="-32258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Sends data from the client in the background</a:t>
            </a:r>
          </a:p>
          <a:p>
            <a:pPr marL="322580" marR="0" lvl="0" indent="-32258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Receives the data from the server</a:t>
            </a:r>
          </a:p>
          <a:p>
            <a:pPr marL="322580" marR="0" lvl="0" indent="-32258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30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Updates the webpage without reloading it.</a:t>
            </a:r>
          </a:p>
        </p:txBody>
      </p:sp>
      <p:sp>
        <p:nvSpPr>
          <p:cNvPr id="3" name="Slide Number Placeholder 2">
            <a:extLst>
              <a:ext uri="{FF2B5EF4-FFF2-40B4-BE49-F238E27FC236}">
                <a16:creationId xmlns="" xmlns:a16="http://schemas.microsoft.com/office/drawing/2014/main" id="{4B5A37C8-CE94-6937-A317-0B8A56E1C518}"/>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75</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90418808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AAB91A-9BB4-1BD9-0EBA-804E0A2EC06E}"/>
            </a:ext>
          </a:extLst>
        </p:cNvPr>
        <p:cNvGrpSpPr/>
        <p:nvPr/>
      </p:nvGrpSpPr>
      <p:grpSpPr>
        <a:xfrm>
          <a:off x="0" y="0"/>
          <a:ext cx="0" cy="0"/>
          <a:chOff x="0" y="0"/>
          <a:chExt cx="0" cy="0"/>
        </a:xfrm>
      </p:grpSpPr>
      <p:sp>
        <p:nvSpPr>
          <p:cNvPr id="4" name="Rectangle 3">
            <a:extLst>
              <a:ext uri="{FF2B5EF4-FFF2-40B4-BE49-F238E27FC236}">
                <a16:creationId xmlns="" xmlns:a16="http://schemas.microsoft.com/office/drawing/2014/main" id="{58CD09EF-F964-9B74-5872-9100695A42AF}"/>
              </a:ext>
            </a:extLst>
          </p:cNvPr>
          <p:cNvSpPr/>
          <p:nvPr/>
        </p:nvSpPr>
        <p:spPr>
          <a:xfrm>
            <a:off x="992981" y="373356"/>
            <a:ext cx="7920038" cy="584775"/>
          </a:xfrm>
          <a:prstGeom prst="rect">
            <a:avLst/>
          </a:prstGeom>
        </p:spPr>
        <p:txBody>
          <a:bodyPr>
            <a:spAutoFit/>
          </a:bodyPr>
          <a:lstStyle/>
          <a:p>
            <a:r>
              <a:rPr lang="en-IN" sz="3200" dirty="0" err="1"/>
              <a:t>XMLHttpRequest</a:t>
            </a:r>
            <a:r>
              <a:rPr lang="en-IN" sz="3200" dirty="0"/>
              <a:t> Object Methods</a:t>
            </a:r>
          </a:p>
        </p:txBody>
      </p:sp>
      <p:graphicFrame>
        <p:nvGraphicFramePr>
          <p:cNvPr id="3" name="Table 2">
            <a:extLst>
              <a:ext uri="{FF2B5EF4-FFF2-40B4-BE49-F238E27FC236}">
                <a16:creationId xmlns="" xmlns:a16="http://schemas.microsoft.com/office/drawing/2014/main" id="{23A92E1B-9DB1-2BA9-9FC9-1A938AA4C410}"/>
              </a:ext>
            </a:extLst>
          </p:cNvPr>
          <p:cNvGraphicFramePr>
            <a:graphicFrameLocks noGrp="1"/>
          </p:cNvGraphicFramePr>
          <p:nvPr>
            <p:extLst>
              <p:ext uri="{D42A27DB-BD31-4B8C-83A1-F6EECF244321}">
                <p14:modId xmlns="" xmlns:p14="http://schemas.microsoft.com/office/powerpoint/2010/main" val="2192683107"/>
              </p:ext>
            </p:extLst>
          </p:nvPr>
        </p:nvGraphicFramePr>
        <p:xfrm>
          <a:off x="992982" y="1095958"/>
          <a:ext cx="7992466" cy="4822059"/>
        </p:xfrm>
        <a:graphic>
          <a:graphicData uri="http://schemas.openxmlformats.org/drawingml/2006/table">
            <a:tbl>
              <a:tblPr/>
              <a:tblGrid>
                <a:gridCol w="2797292">
                  <a:extLst>
                    <a:ext uri="{9D8B030D-6E8A-4147-A177-3AD203B41FA5}">
                      <a16:colId xmlns="" xmlns:a16="http://schemas.microsoft.com/office/drawing/2014/main" val="1925162596"/>
                    </a:ext>
                  </a:extLst>
                </a:gridCol>
                <a:gridCol w="5195174">
                  <a:extLst>
                    <a:ext uri="{9D8B030D-6E8A-4147-A177-3AD203B41FA5}">
                      <a16:colId xmlns="" xmlns:a16="http://schemas.microsoft.com/office/drawing/2014/main" val="582220975"/>
                    </a:ext>
                  </a:extLst>
                </a:gridCol>
              </a:tblGrid>
              <a:tr h="299393">
                <a:tc>
                  <a:txBody>
                    <a:bodyPr/>
                    <a:lstStyle/>
                    <a:p>
                      <a:pPr algn="l" fontAlgn="t">
                        <a:buNone/>
                      </a:pPr>
                      <a:r>
                        <a:rPr lang="en-IN" sz="1400" b="1">
                          <a:effectLst/>
                        </a:rPr>
                        <a:t>Method</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t">
                        <a:buNone/>
                      </a:pPr>
                      <a:r>
                        <a:rPr lang="en-IN" sz="1400" b="1" dirty="0">
                          <a:effectLst/>
                        </a:rPr>
                        <a:t>Description</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 xmlns:a16="http://schemas.microsoft.com/office/drawing/2014/main" val="782003975"/>
                  </a:ext>
                </a:extLst>
              </a:tr>
              <a:tr h="299393">
                <a:tc>
                  <a:txBody>
                    <a:bodyPr/>
                    <a:lstStyle/>
                    <a:p>
                      <a:pPr algn="l" fontAlgn="t">
                        <a:buNone/>
                      </a:pPr>
                      <a:r>
                        <a:rPr lang="en-IN" sz="1400">
                          <a:effectLst/>
                        </a:rPr>
                        <a:t>new XMLHttpRequest()</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tc>
                  <a:txBody>
                    <a:bodyPr/>
                    <a:lstStyle/>
                    <a:p>
                      <a:pPr algn="l" fontAlgn="t">
                        <a:buNone/>
                      </a:pPr>
                      <a:r>
                        <a:rPr lang="en-US" sz="1400">
                          <a:effectLst/>
                        </a:rPr>
                        <a:t>Creates a new XMLHttpRequest object</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extLst>
                  <a:ext uri="{0D108BD9-81ED-4DB2-BD59-A6C34878D82A}">
                    <a16:rowId xmlns="" xmlns:a16="http://schemas.microsoft.com/office/drawing/2014/main" val="2916738108"/>
                  </a:ext>
                </a:extLst>
              </a:tr>
              <a:tr h="299393">
                <a:tc>
                  <a:txBody>
                    <a:bodyPr/>
                    <a:lstStyle/>
                    <a:p>
                      <a:pPr algn="l" fontAlgn="t">
                        <a:buNone/>
                      </a:pPr>
                      <a:r>
                        <a:rPr lang="en-IN" sz="1400">
                          <a:effectLst/>
                        </a:rPr>
                        <a:t>abort()</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IN" sz="1400">
                          <a:effectLst/>
                        </a:rPr>
                        <a:t>Cancels the current request</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364622549"/>
                  </a:ext>
                </a:extLst>
              </a:tr>
              <a:tr h="506666">
                <a:tc>
                  <a:txBody>
                    <a:bodyPr/>
                    <a:lstStyle/>
                    <a:p>
                      <a:pPr algn="l" fontAlgn="t">
                        <a:buNone/>
                      </a:pPr>
                      <a:r>
                        <a:rPr lang="en-IN" sz="1400" dirty="0" err="1">
                          <a:effectLst/>
                        </a:rPr>
                        <a:t>getAllResponseHeaders</a:t>
                      </a:r>
                      <a:r>
                        <a:rPr lang="en-IN" sz="1400" dirty="0">
                          <a:effectLst/>
                        </a:rPr>
                        <a:t>()</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tc>
                  <a:txBody>
                    <a:bodyPr/>
                    <a:lstStyle/>
                    <a:p>
                      <a:pPr algn="l" fontAlgn="t">
                        <a:buNone/>
                      </a:pPr>
                      <a:r>
                        <a:rPr lang="en-IN" sz="1400">
                          <a:effectLst/>
                        </a:rPr>
                        <a:t>Returns header information</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extLst>
                  <a:ext uri="{0D108BD9-81ED-4DB2-BD59-A6C34878D82A}">
                    <a16:rowId xmlns="" xmlns:a16="http://schemas.microsoft.com/office/drawing/2014/main" val="1294230693"/>
                  </a:ext>
                </a:extLst>
              </a:tr>
              <a:tr h="299393">
                <a:tc>
                  <a:txBody>
                    <a:bodyPr/>
                    <a:lstStyle/>
                    <a:p>
                      <a:pPr algn="l" fontAlgn="t">
                        <a:buNone/>
                      </a:pPr>
                      <a:r>
                        <a:rPr lang="en-IN" sz="1400">
                          <a:effectLst/>
                        </a:rPr>
                        <a:t>getResponseHeader()</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IN" sz="1400">
                          <a:effectLst/>
                        </a:rPr>
                        <a:t>Returns specific header information</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254638566"/>
                  </a:ext>
                </a:extLst>
              </a:tr>
              <a:tr h="1750299">
                <a:tc>
                  <a:txBody>
                    <a:bodyPr/>
                    <a:lstStyle/>
                    <a:p>
                      <a:pPr algn="l" fontAlgn="t">
                        <a:buNone/>
                      </a:pPr>
                      <a:r>
                        <a:rPr lang="en-IN" sz="1400">
                          <a:effectLst/>
                        </a:rPr>
                        <a:t>open(</a:t>
                      </a:r>
                      <a:r>
                        <a:rPr lang="en-IN" sz="1400" i="1">
                          <a:effectLst/>
                        </a:rPr>
                        <a:t>method,url,async,user,psw</a:t>
                      </a:r>
                      <a:r>
                        <a:rPr lang="en-IN" sz="1400">
                          <a:effectLst/>
                        </a:rPr>
                        <a:t>)</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tc>
                  <a:txBody>
                    <a:bodyPr/>
                    <a:lstStyle/>
                    <a:p>
                      <a:pPr algn="l" fontAlgn="t">
                        <a:buNone/>
                      </a:pPr>
                      <a:r>
                        <a:rPr lang="en-US" sz="1400">
                          <a:effectLst/>
                        </a:rPr>
                        <a:t>Specifies the request</a:t>
                      </a:r>
                      <a:br>
                        <a:rPr lang="en-US" sz="1400">
                          <a:effectLst/>
                        </a:rPr>
                      </a:br>
                      <a:r>
                        <a:rPr lang="en-US" sz="1400">
                          <a:effectLst/>
                        </a:rPr>
                        <a:t/>
                      </a:r>
                      <a:br>
                        <a:rPr lang="en-US" sz="1400">
                          <a:effectLst/>
                        </a:rPr>
                      </a:br>
                      <a:r>
                        <a:rPr lang="en-US" sz="1400" i="1">
                          <a:effectLst/>
                        </a:rPr>
                        <a:t>method</a:t>
                      </a:r>
                      <a:r>
                        <a:rPr lang="en-US" sz="1400">
                          <a:effectLst/>
                        </a:rPr>
                        <a:t>: the request type GET or POST</a:t>
                      </a:r>
                      <a:br>
                        <a:rPr lang="en-US" sz="1400">
                          <a:effectLst/>
                        </a:rPr>
                      </a:br>
                      <a:r>
                        <a:rPr lang="en-US" sz="1400" i="1">
                          <a:effectLst/>
                        </a:rPr>
                        <a:t>url</a:t>
                      </a:r>
                      <a:r>
                        <a:rPr lang="en-US" sz="1400">
                          <a:effectLst/>
                        </a:rPr>
                        <a:t>: the file location</a:t>
                      </a:r>
                      <a:br>
                        <a:rPr lang="en-US" sz="1400">
                          <a:effectLst/>
                        </a:rPr>
                      </a:br>
                      <a:r>
                        <a:rPr lang="en-US" sz="1400" i="1">
                          <a:effectLst/>
                        </a:rPr>
                        <a:t>async</a:t>
                      </a:r>
                      <a:r>
                        <a:rPr lang="en-US" sz="1400">
                          <a:effectLst/>
                        </a:rPr>
                        <a:t>: true (asynchronous) or false (synchronous)</a:t>
                      </a:r>
                      <a:br>
                        <a:rPr lang="en-US" sz="1400">
                          <a:effectLst/>
                        </a:rPr>
                      </a:br>
                      <a:r>
                        <a:rPr lang="en-US" sz="1400" i="1">
                          <a:effectLst/>
                        </a:rPr>
                        <a:t>user</a:t>
                      </a:r>
                      <a:r>
                        <a:rPr lang="en-US" sz="1400">
                          <a:effectLst/>
                        </a:rPr>
                        <a:t>: optional user name</a:t>
                      </a:r>
                      <a:br>
                        <a:rPr lang="en-US" sz="1400">
                          <a:effectLst/>
                        </a:rPr>
                      </a:br>
                      <a:r>
                        <a:rPr lang="en-US" sz="1400" i="1">
                          <a:effectLst/>
                        </a:rPr>
                        <a:t>psw</a:t>
                      </a:r>
                      <a:r>
                        <a:rPr lang="en-US" sz="1400">
                          <a:effectLst/>
                        </a:rPr>
                        <a:t>: optional password</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extLst>
                  <a:ext uri="{0D108BD9-81ED-4DB2-BD59-A6C34878D82A}">
                    <a16:rowId xmlns="" xmlns:a16="http://schemas.microsoft.com/office/drawing/2014/main" val="1629214439"/>
                  </a:ext>
                </a:extLst>
              </a:tr>
              <a:tr h="506666">
                <a:tc>
                  <a:txBody>
                    <a:bodyPr/>
                    <a:lstStyle/>
                    <a:p>
                      <a:pPr algn="l" fontAlgn="t">
                        <a:buNone/>
                      </a:pPr>
                      <a:r>
                        <a:rPr lang="en-IN" sz="1400">
                          <a:effectLst/>
                        </a:rPr>
                        <a:t>send()</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US" sz="1400">
                          <a:effectLst/>
                        </a:rPr>
                        <a:t>Sends the request to the server</a:t>
                      </a:r>
                      <a:br>
                        <a:rPr lang="en-US" sz="1400">
                          <a:effectLst/>
                        </a:rPr>
                      </a:br>
                      <a:r>
                        <a:rPr lang="en-US" sz="1400">
                          <a:effectLst/>
                        </a:rPr>
                        <a:t>Used for GET requests</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35138097"/>
                  </a:ext>
                </a:extLst>
              </a:tr>
              <a:tr h="506666">
                <a:tc>
                  <a:txBody>
                    <a:bodyPr/>
                    <a:lstStyle/>
                    <a:p>
                      <a:pPr algn="l" fontAlgn="t">
                        <a:buNone/>
                      </a:pPr>
                      <a:r>
                        <a:rPr lang="en-IN" sz="1400">
                          <a:effectLst/>
                        </a:rPr>
                        <a:t>send(</a:t>
                      </a:r>
                      <a:r>
                        <a:rPr lang="en-IN" sz="1400" i="1">
                          <a:effectLst/>
                        </a:rPr>
                        <a:t>string</a:t>
                      </a:r>
                      <a:r>
                        <a:rPr lang="en-IN" sz="1400">
                          <a:effectLst/>
                        </a:rPr>
                        <a:t>)</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tc>
                  <a:txBody>
                    <a:bodyPr/>
                    <a:lstStyle/>
                    <a:p>
                      <a:pPr algn="l" fontAlgn="t">
                        <a:buNone/>
                      </a:pPr>
                      <a:r>
                        <a:rPr lang="en-US" sz="1400">
                          <a:effectLst/>
                        </a:rPr>
                        <a:t>Sends the request to the server.</a:t>
                      </a:r>
                      <a:br>
                        <a:rPr lang="en-US" sz="1400">
                          <a:effectLst/>
                        </a:rPr>
                      </a:br>
                      <a:r>
                        <a:rPr lang="en-US" sz="1400">
                          <a:effectLst/>
                        </a:rPr>
                        <a:t>Used for POST requests</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9EB"/>
                    </a:solidFill>
                  </a:tcPr>
                </a:tc>
                <a:extLst>
                  <a:ext uri="{0D108BD9-81ED-4DB2-BD59-A6C34878D82A}">
                    <a16:rowId xmlns="" xmlns:a16="http://schemas.microsoft.com/office/drawing/2014/main" val="1142798198"/>
                  </a:ext>
                </a:extLst>
              </a:tr>
              <a:tr h="299393">
                <a:tc>
                  <a:txBody>
                    <a:bodyPr/>
                    <a:lstStyle/>
                    <a:p>
                      <a:pPr algn="l" fontAlgn="t">
                        <a:buNone/>
                      </a:pPr>
                      <a:r>
                        <a:rPr lang="en-IN" sz="1400">
                          <a:effectLst/>
                        </a:rPr>
                        <a:t>setRequestHeader()</a:t>
                      </a:r>
                    </a:p>
                  </a:txBody>
                  <a:tcPr marL="9212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US" sz="1400" dirty="0">
                          <a:effectLst/>
                        </a:rPr>
                        <a:t>Adds a label/value pair to the header to be sent</a:t>
                      </a:r>
                    </a:p>
                  </a:txBody>
                  <a:tcPr marL="46061" marR="46061" marT="46061" marB="460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11602226"/>
                  </a:ext>
                </a:extLst>
              </a:tr>
            </a:tbl>
          </a:graphicData>
        </a:graphic>
      </p:graphicFrame>
      <p:sp>
        <p:nvSpPr>
          <p:cNvPr id="5" name="Slide Number Placeholder 4">
            <a:extLst>
              <a:ext uri="{FF2B5EF4-FFF2-40B4-BE49-F238E27FC236}">
                <a16:creationId xmlns="" xmlns:a16="http://schemas.microsoft.com/office/drawing/2014/main" id="{627DE06D-E9C6-21BC-2DB6-1D99F5EDE14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76</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97801381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C5E608-BF98-18F9-714A-6CE5A76EC3DE}"/>
            </a:ext>
          </a:extLst>
        </p:cNvPr>
        <p:cNvGrpSpPr/>
        <p:nvPr/>
      </p:nvGrpSpPr>
      <p:grpSpPr>
        <a:xfrm>
          <a:off x="0" y="0"/>
          <a:ext cx="0" cy="0"/>
          <a:chOff x="0" y="0"/>
          <a:chExt cx="0" cy="0"/>
        </a:xfrm>
      </p:grpSpPr>
      <p:sp>
        <p:nvSpPr>
          <p:cNvPr id="4" name="Rectangle 3">
            <a:extLst>
              <a:ext uri="{FF2B5EF4-FFF2-40B4-BE49-F238E27FC236}">
                <a16:creationId xmlns="" xmlns:a16="http://schemas.microsoft.com/office/drawing/2014/main" id="{578973B1-D8F8-D598-9E28-67E7F193355F}"/>
              </a:ext>
            </a:extLst>
          </p:cNvPr>
          <p:cNvSpPr/>
          <p:nvPr/>
        </p:nvSpPr>
        <p:spPr>
          <a:xfrm>
            <a:off x="992981" y="373356"/>
            <a:ext cx="7920038" cy="584775"/>
          </a:xfrm>
          <a:prstGeom prst="rect">
            <a:avLst/>
          </a:prstGeom>
        </p:spPr>
        <p:txBody>
          <a:bodyPr>
            <a:spAutoFit/>
          </a:bodyPr>
          <a:lstStyle/>
          <a:p>
            <a:r>
              <a:rPr lang="en-IN" sz="3200" dirty="0" err="1"/>
              <a:t>XMLHttpRequest</a:t>
            </a:r>
            <a:r>
              <a:rPr lang="en-IN" sz="3200" dirty="0"/>
              <a:t> Object Properties</a:t>
            </a:r>
          </a:p>
        </p:txBody>
      </p:sp>
      <p:graphicFrame>
        <p:nvGraphicFramePr>
          <p:cNvPr id="2" name="Table 1">
            <a:extLst>
              <a:ext uri="{FF2B5EF4-FFF2-40B4-BE49-F238E27FC236}">
                <a16:creationId xmlns="" xmlns:a16="http://schemas.microsoft.com/office/drawing/2014/main" id="{1A52EFC3-5592-9700-44AB-FFE8D6780D11}"/>
              </a:ext>
            </a:extLst>
          </p:cNvPr>
          <p:cNvGraphicFramePr>
            <a:graphicFrameLocks noGrp="1"/>
          </p:cNvGraphicFramePr>
          <p:nvPr>
            <p:extLst>
              <p:ext uri="{D42A27DB-BD31-4B8C-83A1-F6EECF244321}">
                <p14:modId xmlns="" xmlns:p14="http://schemas.microsoft.com/office/powerpoint/2010/main" val="4154975632"/>
              </p:ext>
            </p:extLst>
          </p:nvPr>
        </p:nvGraphicFramePr>
        <p:xfrm>
          <a:off x="1136576" y="1248265"/>
          <a:ext cx="8208912" cy="4783064"/>
        </p:xfrm>
        <a:graphic>
          <a:graphicData uri="http://schemas.openxmlformats.org/drawingml/2006/table">
            <a:tbl>
              <a:tblPr/>
              <a:tblGrid>
                <a:gridCol w="2873045">
                  <a:extLst>
                    <a:ext uri="{9D8B030D-6E8A-4147-A177-3AD203B41FA5}">
                      <a16:colId xmlns="" xmlns:a16="http://schemas.microsoft.com/office/drawing/2014/main" val="1515410785"/>
                    </a:ext>
                  </a:extLst>
                </a:gridCol>
                <a:gridCol w="5335867">
                  <a:extLst>
                    <a:ext uri="{9D8B030D-6E8A-4147-A177-3AD203B41FA5}">
                      <a16:colId xmlns="" xmlns:a16="http://schemas.microsoft.com/office/drawing/2014/main" val="3931980214"/>
                    </a:ext>
                  </a:extLst>
                </a:gridCol>
              </a:tblGrid>
              <a:tr h="350138">
                <a:tc>
                  <a:txBody>
                    <a:bodyPr/>
                    <a:lstStyle/>
                    <a:p>
                      <a:pPr algn="l" fontAlgn="t">
                        <a:buNone/>
                      </a:pPr>
                      <a:r>
                        <a:rPr lang="en-IN" sz="1600" b="1" dirty="0">
                          <a:effectLst/>
                        </a:rPr>
                        <a:t>Property</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IN" sz="1600" b="1" dirty="0">
                          <a:effectLst/>
                        </a:rPr>
                        <a:t>Description</a:t>
                      </a: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845793622"/>
                  </a:ext>
                </a:extLst>
              </a:tr>
              <a:tr h="592541">
                <a:tc>
                  <a:txBody>
                    <a:bodyPr/>
                    <a:lstStyle/>
                    <a:p>
                      <a:pPr algn="l" fontAlgn="t">
                        <a:buNone/>
                      </a:pPr>
                      <a:r>
                        <a:rPr lang="en-IN" sz="1600">
                          <a:effectLst/>
                        </a:rPr>
                        <a:t>onreadystatechange</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buNone/>
                      </a:pPr>
                      <a:r>
                        <a:rPr lang="en-US" sz="1600">
                          <a:effectLst/>
                        </a:rPr>
                        <a:t>Defines a function to be called when the readyState property changes</a:t>
                      </a: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871242735"/>
                  </a:ext>
                </a:extLst>
              </a:tr>
              <a:tr h="1562154">
                <a:tc>
                  <a:txBody>
                    <a:bodyPr/>
                    <a:lstStyle/>
                    <a:p>
                      <a:pPr algn="l" fontAlgn="t">
                        <a:buNone/>
                      </a:pPr>
                      <a:r>
                        <a:rPr lang="en-IN" sz="1600">
                          <a:effectLst/>
                        </a:rPr>
                        <a:t>readyState</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US" sz="1600">
                          <a:effectLst/>
                        </a:rPr>
                        <a:t>Holds the status of the XMLHttpRequest.</a:t>
                      </a:r>
                      <a:br>
                        <a:rPr lang="en-US" sz="1600">
                          <a:effectLst/>
                        </a:rPr>
                      </a:br>
                      <a:r>
                        <a:rPr lang="en-US" sz="1600">
                          <a:effectLst/>
                        </a:rPr>
                        <a:t>0: request not initialized</a:t>
                      </a:r>
                      <a:br>
                        <a:rPr lang="en-US" sz="1600">
                          <a:effectLst/>
                        </a:rPr>
                      </a:br>
                      <a:r>
                        <a:rPr lang="en-US" sz="1600">
                          <a:effectLst/>
                        </a:rPr>
                        <a:t>1: server connection established</a:t>
                      </a:r>
                      <a:br>
                        <a:rPr lang="en-US" sz="1600">
                          <a:effectLst/>
                        </a:rPr>
                      </a:br>
                      <a:r>
                        <a:rPr lang="en-US" sz="1600">
                          <a:effectLst/>
                        </a:rPr>
                        <a:t>2: request received</a:t>
                      </a:r>
                      <a:br>
                        <a:rPr lang="en-US" sz="1600">
                          <a:effectLst/>
                        </a:rPr>
                      </a:br>
                      <a:r>
                        <a:rPr lang="en-US" sz="1600">
                          <a:effectLst/>
                        </a:rPr>
                        <a:t>3: processing request</a:t>
                      </a:r>
                      <a:br>
                        <a:rPr lang="en-US" sz="1600">
                          <a:effectLst/>
                        </a:rPr>
                      </a:br>
                      <a:r>
                        <a:rPr lang="en-US" sz="1600">
                          <a:effectLst/>
                        </a:rPr>
                        <a:t>4: request finished and response is ready</a:t>
                      </a: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3855373217"/>
                  </a:ext>
                </a:extLst>
              </a:tr>
              <a:tr h="350138">
                <a:tc>
                  <a:txBody>
                    <a:bodyPr/>
                    <a:lstStyle/>
                    <a:p>
                      <a:pPr algn="l" fontAlgn="t">
                        <a:buNone/>
                      </a:pPr>
                      <a:r>
                        <a:rPr lang="en-IN" sz="1600">
                          <a:effectLst/>
                        </a:rPr>
                        <a:t>responseText</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buNone/>
                      </a:pPr>
                      <a:r>
                        <a:rPr lang="en-US" sz="1600">
                          <a:effectLst/>
                        </a:rPr>
                        <a:t>Returns the response data as a string</a:t>
                      </a: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727760578"/>
                  </a:ext>
                </a:extLst>
              </a:tr>
              <a:tr h="350138">
                <a:tc>
                  <a:txBody>
                    <a:bodyPr/>
                    <a:lstStyle/>
                    <a:p>
                      <a:pPr algn="l" fontAlgn="t">
                        <a:buNone/>
                      </a:pPr>
                      <a:r>
                        <a:rPr lang="en-IN" sz="1600">
                          <a:effectLst/>
                        </a:rPr>
                        <a:t>responseXML</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US" sz="1600">
                          <a:effectLst/>
                        </a:rPr>
                        <a:t>Returns the response data as XML data</a:t>
                      </a: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2300880525"/>
                  </a:ext>
                </a:extLst>
              </a:tr>
              <a:tr h="1562154">
                <a:tc>
                  <a:txBody>
                    <a:bodyPr/>
                    <a:lstStyle/>
                    <a:p>
                      <a:pPr algn="l" fontAlgn="t">
                        <a:buNone/>
                      </a:pPr>
                      <a:r>
                        <a:rPr lang="en-IN" sz="1600">
                          <a:effectLst/>
                        </a:rPr>
                        <a:t>status</a:t>
                      </a:r>
                    </a:p>
                  </a:txBody>
                  <a:tcPr marL="107735"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tc>
                  <a:txBody>
                    <a:bodyPr/>
                    <a:lstStyle/>
                    <a:p>
                      <a:pPr algn="l" fontAlgn="t">
                        <a:buNone/>
                      </a:pPr>
                      <a:r>
                        <a:rPr lang="en-US" sz="1600" dirty="0">
                          <a:effectLst/>
                        </a:rPr>
                        <a:t>Returns the status-number of a request</a:t>
                      </a:r>
                      <a:br>
                        <a:rPr lang="en-US" sz="1600" dirty="0">
                          <a:effectLst/>
                        </a:rPr>
                      </a:br>
                      <a:r>
                        <a:rPr lang="en-US" sz="1600" dirty="0">
                          <a:effectLst/>
                        </a:rPr>
                        <a:t>200: "OK"</a:t>
                      </a:r>
                      <a:br>
                        <a:rPr lang="en-US" sz="1600" dirty="0">
                          <a:effectLst/>
                        </a:rPr>
                      </a:br>
                      <a:r>
                        <a:rPr lang="en-US" sz="1600" dirty="0">
                          <a:effectLst/>
                        </a:rPr>
                        <a:t>403: "Forbidden"</a:t>
                      </a:r>
                      <a:br>
                        <a:rPr lang="en-US" sz="1600" dirty="0">
                          <a:effectLst/>
                        </a:rPr>
                      </a:br>
                      <a:r>
                        <a:rPr lang="en-US" sz="1600" dirty="0">
                          <a:effectLst/>
                        </a:rPr>
                        <a:t>404: "Not Found"</a:t>
                      </a:r>
                      <a:br>
                        <a:rPr lang="en-US" sz="1600" dirty="0">
                          <a:effectLst/>
                        </a:rPr>
                      </a:br>
                      <a:r>
                        <a:rPr lang="en-US" sz="1600" dirty="0">
                          <a:effectLst/>
                        </a:rPr>
                        <a:t>For a complete list go to the </a:t>
                      </a:r>
                      <a:r>
                        <a:rPr lang="en-US" sz="1600" dirty="0">
                          <a:solidFill>
                            <a:srgbClr val="059862"/>
                          </a:solidFill>
                          <a:effectLst/>
                          <a:hlinkClick r:id="rId2"/>
                        </a:rPr>
                        <a:t>Http Messages Reference</a:t>
                      </a:r>
                      <a:endParaRPr lang="en-US" sz="1600" dirty="0">
                        <a:effectLst/>
                      </a:endParaRPr>
                    </a:p>
                  </a:txBody>
                  <a:tcPr marL="53867" marR="53867" marT="53867" marB="53867">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extLst>
                  <a:ext uri="{0D108BD9-81ED-4DB2-BD59-A6C34878D82A}">
                    <a16:rowId xmlns="" xmlns:a16="http://schemas.microsoft.com/office/drawing/2014/main" val="161678119"/>
                  </a:ext>
                </a:extLst>
              </a:tr>
            </a:tbl>
          </a:graphicData>
        </a:graphic>
      </p:graphicFrame>
      <p:sp>
        <p:nvSpPr>
          <p:cNvPr id="5" name="Slide Number Placeholder 4">
            <a:extLst>
              <a:ext uri="{FF2B5EF4-FFF2-40B4-BE49-F238E27FC236}">
                <a16:creationId xmlns="" xmlns:a16="http://schemas.microsoft.com/office/drawing/2014/main" id="{BA8CC22D-E361-DC41-2F26-EC6B09ECDA3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77</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5462015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CCF7AA8-209F-AEFD-0095-1A5C055C136E}"/>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BA2EE5BA-4A97-CA6B-8153-B7FC2336E5C4}"/>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Request</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D0E86C96-6FDE-9D52-ACC9-281787819768}"/>
              </a:ext>
            </a:extLst>
          </p:cNvPr>
          <p:cNvSpPr/>
          <p:nvPr/>
        </p:nvSpPr>
        <p:spPr>
          <a:xfrm>
            <a:off x="416496" y="1268413"/>
            <a:ext cx="9000999" cy="2308324"/>
          </a:xfrm>
          <a:prstGeom prst="rect">
            <a:avLst/>
          </a:prstGeom>
        </p:spPr>
        <p:txBody>
          <a:bodyPr wrap="square">
            <a:spAutoFit/>
          </a:bodyPr>
          <a:lstStyle/>
          <a:p>
            <a:pPr marL="342900" indent="-342900">
              <a:buFont typeface="Arial" panose="020B0604020202020204" pitchFamily="34" charset="0"/>
              <a:buChar char="•"/>
            </a:pPr>
            <a:r>
              <a:rPr lang="en-US" sz="2400" dirty="0"/>
              <a:t>The </a:t>
            </a:r>
            <a:r>
              <a:rPr lang="en-US" sz="2400" dirty="0" err="1"/>
              <a:t>XMLHttpRequest</a:t>
            </a:r>
            <a:r>
              <a:rPr lang="en-US" sz="2400" dirty="0"/>
              <a:t> object is used to exchange data with a server.</a:t>
            </a:r>
          </a:p>
          <a:p>
            <a:pPr marL="342900" indent="-342900">
              <a:buFont typeface="Arial" panose="020B0604020202020204" pitchFamily="34" charset="0"/>
              <a:buChar char="•"/>
            </a:pPr>
            <a:r>
              <a:rPr lang="en-US" sz="2400" b="1" dirty="0"/>
              <a:t>To send a request to a server, we use the </a:t>
            </a:r>
            <a:r>
              <a:rPr lang="en-US" sz="2400" b="1" dirty="0">
                <a:solidFill>
                  <a:srgbClr val="FF0000"/>
                </a:solidFill>
              </a:rPr>
              <a:t>open() </a:t>
            </a:r>
            <a:r>
              <a:rPr lang="en-US" sz="2400" b="1" dirty="0"/>
              <a:t>and </a:t>
            </a:r>
            <a:r>
              <a:rPr lang="en-US" sz="2400" b="1" dirty="0">
                <a:solidFill>
                  <a:srgbClr val="FF0000"/>
                </a:solidFill>
              </a:rPr>
              <a:t>send() </a:t>
            </a:r>
            <a:r>
              <a:rPr lang="en-US" sz="2400" b="1" dirty="0"/>
              <a:t>methods of the </a:t>
            </a:r>
            <a:r>
              <a:rPr lang="en-US" sz="2400" b="1" dirty="0" err="1"/>
              <a:t>XMLHttpRequest</a:t>
            </a:r>
            <a:r>
              <a:rPr lang="en-US" sz="2400" b="1" dirty="0"/>
              <a:t> object.</a:t>
            </a:r>
          </a:p>
          <a:p>
            <a:pPr marL="342900" indent="-342900">
              <a:buFont typeface="Arial" panose="020B0604020202020204" pitchFamily="34" charset="0"/>
              <a:buChar char="•"/>
            </a:pPr>
            <a:r>
              <a:rPr lang="en-US" sz="2400" b="1" dirty="0"/>
              <a:t>Ex: </a:t>
            </a:r>
            <a:br>
              <a:rPr lang="en-US" sz="2400" b="1" dirty="0"/>
            </a:br>
            <a:endParaRPr kumimoji="0" lang="en-US" sz="2400" b="1"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5" name="TextBox 4">
            <a:extLst>
              <a:ext uri="{FF2B5EF4-FFF2-40B4-BE49-F238E27FC236}">
                <a16:creationId xmlns="" xmlns:a16="http://schemas.microsoft.com/office/drawing/2014/main" id="{E0E90F9E-EA13-F789-8F0D-8D185A4A4B90}"/>
              </a:ext>
            </a:extLst>
          </p:cNvPr>
          <p:cNvSpPr txBox="1"/>
          <p:nvPr/>
        </p:nvSpPr>
        <p:spPr>
          <a:xfrm>
            <a:off x="1928664" y="3214766"/>
            <a:ext cx="5642419" cy="646331"/>
          </a:xfrm>
          <a:prstGeom prst="rect">
            <a:avLst/>
          </a:prstGeom>
          <a:noFill/>
        </p:spPr>
        <p:txBody>
          <a:bodyPr wrap="square">
            <a:spAutoFit/>
          </a:bodyPr>
          <a:lstStyle/>
          <a:p>
            <a:r>
              <a:rPr lang="en-IN" b="0" i="0" dirty="0" err="1">
                <a:solidFill>
                  <a:srgbClr val="000000"/>
                </a:solidFill>
                <a:effectLst/>
                <a:latin typeface="Consolas" panose="020B0609020204030204" pitchFamily="49" charset="0"/>
              </a:rPr>
              <a:t>xhttp.open</a:t>
            </a:r>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"GET"</a:t>
            </a:r>
            <a:r>
              <a:rPr lang="en-IN" b="0" i="0" dirty="0">
                <a:solidFill>
                  <a:srgbClr val="000000"/>
                </a:solidFill>
                <a:effectLst/>
                <a:latin typeface="Consolas" panose="020B0609020204030204" pitchFamily="49" charset="0"/>
              </a:rPr>
              <a:t>, </a:t>
            </a:r>
            <a:r>
              <a:rPr lang="en-IN" b="0" i="0" dirty="0">
                <a:solidFill>
                  <a:srgbClr val="008000"/>
                </a:solidFill>
                <a:effectLst/>
                <a:latin typeface="Consolas" panose="020B0609020204030204" pitchFamily="49" charset="0"/>
              </a:rPr>
              <a:t>"ajax_info.txt"</a:t>
            </a: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true</a:t>
            </a:r>
            <a:r>
              <a:rPr lang="en-IN" b="0" i="0" dirty="0">
                <a:solidFill>
                  <a:srgbClr val="000000"/>
                </a:solidFill>
                <a:effectLst/>
                <a:latin typeface="Consolas" panose="020B0609020204030204" pitchFamily="49" charset="0"/>
              </a:rPr>
              <a:t>);</a:t>
            </a:r>
            <a:r>
              <a:rPr lang="en-IN" dirty="0"/>
              <a:t/>
            </a:r>
            <a:br>
              <a:rPr lang="en-IN" dirty="0"/>
            </a:br>
            <a:r>
              <a:rPr lang="en-IN" b="0" i="0" dirty="0" err="1">
                <a:solidFill>
                  <a:srgbClr val="000000"/>
                </a:solidFill>
                <a:effectLst/>
                <a:latin typeface="Consolas" panose="020B0609020204030204" pitchFamily="49" charset="0"/>
              </a:rPr>
              <a:t>xhttp.send</a:t>
            </a:r>
            <a:r>
              <a:rPr lang="en-IN" b="0" i="0" dirty="0">
                <a:solidFill>
                  <a:srgbClr val="000000"/>
                </a:solidFill>
                <a:effectLst/>
                <a:latin typeface="Consolas" panose="020B0609020204030204" pitchFamily="49" charset="0"/>
              </a:rPr>
              <a:t>();</a:t>
            </a:r>
            <a:endParaRPr lang="en-IN" dirty="0"/>
          </a:p>
        </p:txBody>
      </p:sp>
      <p:graphicFrame>
        <p:nvGraphicFramePr>
          <p:cNvPr id="6" name="Table 5">
            <a:extLst>
              <a:ext uri="{FF2B5EF4-FFF2-40B4-BE49-F238E27FC236}">
                <a16:creationId xmlns="" xmlns:a16="http://schemas.microsoft.com/office/drawing/2014/main" id="{F432B19A-08DE-998C-594C-4DA499CFC690}"/>
              </a:ext>
            </a:extLst>
          </p:cNvPr>
          <p:cNvGraphicFramePr>
            <a:graphicFrameLocks noGrp="1"/>
          </p:cNvGraphicFramePr>
          <p:nvPr>
            <p:extLst>
              <p:ext uri="{D42A27DB-BD31-4B8C-83A1-F6EECF244321}">
                <p14:modId xmlns="" xmlns:p14="http://schemas.microsoft.com/office/powerpoint/2010/main" val="2659832816"/>
              </p:ext>
            </p:extLst>
          </p:nvPr>
        </p:nvGraphicFramePr>
        <p:xfrm>
          <a:off x="776536" y="4077072"/>
          <a:ext cx="8424936" cy="2194560"/>
        </p:xfrm>
        <a:graphic>
          <a:graphicData uri="http://schemas.openxmlformats.org/drawingml/2006/table">
            <a:tbl>
              <a:tblPr/>
              <a:tblGrid>
                <a:gridCol w="2525439">
                  <a:extLst>
                    <a:ext uri="{9D8B030D-6E8A-4147-A177-3AD203B41FA5}">
                      <a16:colId xmlns="" xmlns:a16="http://schemas.microsoft.com/office/drawing/2014/main" val="1056258143"/>
                    </a:ext>
                  </a:extLst>
                </a:gridCol>
                <a:gridCol w="5899497">
                  <a:extLst>
                    <a:ext uri="{9D8B030D-6E8A-4147-A177-3AD203B41FA5}">
                      <a16:colId xmlns="" xmlns:a16="http://schemas.microsoft.com/office/drawing/2014/main" val="1367731394"/>
                    </a:ext>
                  </a:extLst>
                </a:gridCol>
              </a:tblGrid>
              <a:tr h="0">
                <a:tc>
                  <a:txBody>
                    <a:bodyPr/>
                    <a:lstStyle/>
                    <a:p>
                      <a:pPr algn="l" fontAlgn="t">
                        <a:buNone/>
                      </a:pPr>
                      <a:r>
                        <a:rPr lang="en-IN" sz="1400" b="1" dirty="0">
                          <a:effectLst/>
                        </a:rPr>
                        <a:t>Method</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IN" sz="1400" b="1" dirty="0">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4029650246"/>
                  </a:ext>
                </a:extLst>
              </a:tr>
              <a:tr h="0">
                <a:tc>
                  <a:txBody>
                    <a:bodyPr/>
                    <a:lstStyle/>
                    <a:p>
                      <a:pPr algn="l" fontAlgn="t">
                        <a:buNone/>
                      </a:pPr>
                      <a:r>
                        <a:rPr lang="en-IN" sz="1400" dirty="0">
                          <a:effectLst/>
                        </a:rPr>
                        <a:t>open(</a:t>
                      </a:r>
                      <a:r>
                        <a:rPr lang="en-IN" sz="1400" i="1" dirty="0">
                          <a:effectLst/>
                        </a:rPr>
                        <a:t>method, </a:t>
                      </a:r>
                      <a:r>
                        <a:rPr lang="en-IN" sz="1400" i="1" dirty="0" err="1">
                          <a:effectLst/>
                        </a:rPr>
                        <a:t>url</a:t>
                      </a:r>
                      <a:r>
                        <a:rPr lang="en-IN" sz="1400" i="1" dirty="0">
                          <a:effectLst/>
                        </a:rPr>
                        <a:t>, async</a:t>
                      </a:r>
                      <a:r>
                        <a:rPr lang="en-IN" sz="1400" dirty="0">
                          <a:effectLst/>
                        </a:rPr>
                        <a: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buNone/>
                      </a:pPr>
                      <a:r>
                        <a:rPr lang="en-US" sz="1400">
                          <a:effectLst/>
                        </a:rPr>
                        <a:t>Specifies the type of request</a:t>
                      </a:r>
                      <a:br>
                        <a:rPr lang="en-US" sz="1400">
                          <a:effectLst/>
                        </a:rPr>
                      </a:br>
                      <a:r>
                        <a:rPr lang="en-US" sz="1400">
                          <a:effectLst/>
                        </a:rPr>
                        <a:t/>
                      </a:r>
                      <a:br>
                        <a:rPr lang="en-US" sz="1400">
                          <a:effectLst/>
                        </a:rPr>
                      </a:br>
                      <a:r>
                        <a:rPr lang="en-US" sz="1400" i="1">
                          <a:effectLst/>
                        </a:rPr>
                        <a:t>method</a:t>
                      </a:r>
                      <a:r>
                        <a:rPr lang="en-US" sz="1400">
                          <a:effectLst/>
                        </a:rPr>
                        <a:t>: the type of request: GET or POST</a:t>
                      </a:r>
                      <a:br>
                        <a:rPr lang="en-US" sz="1400">
                          <a:effectLst/>
                        </a:rPr>
                      </a:br>
                      <a:r>
                        <a:rPr lang="en-US" sz="1400" i="1">
                          <a:effectLst/>
                        </a:rPr>
                        <a:t>url</a:t>
                      </a:r>
                      <a:r>
                        <a:rPr lang="en-US" sz="1400">
                          <a:effectLst/>
                        </a:rPr>
                        <a:t>: the server (file) location</a:t>
                      </a:r>
                      <a:br>
                        <a:rPr lang="en-US" sz="1400">
                          <a:effectLst/>
                        </a:rPr>
                      </a:br>
                      <a:r>
                        <a:rPr lang="en-US" sz="1400" i="1">
                          <a:effectLst/>
                        </a:rPr>
                        <a:t>async</a:t>
                      </a:r>
                      <a:r>
                        <a:rPr lang="en-US" sz="1400">
                          <a:effectLst/>
                        </a:rPr>
                        <a:t>: true (asynchronous) or false (synchronous)</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316019089"/>
                  </a:ext>
                </a:extLst>
              </a:tr>
              <a:tr h="0">
                <a:tc>
                  <a:txBody>
                    <a:bodyPr/>
                    <a:lstStyle/>
                    <a:p>
                      <a:pPr algn="l" fontAlgn="t">
                        <a:buNone/>
                      </a:pPr>
                      <a:r>
                        <a:rPr lang="en-IN" sz="1400">
                          <a:effectLst/>
                        </a:rPr>
                        <a:t>send()</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US" sz="1400">
                          <a:effectLst/>
                        </a:rPr>
                        <a:t>Sends the request to the server (used for GET)</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3173121720"/>
                  </a:ext>
                </a:extLst>
              </a:tr>
              <a:tr h="0">
                <a:tc>
                  <a:txBody>
                    <a:bodyPr/>
                    <a:lstStyle/>
                    <a:p>
                      <a:pPr algn="l" fontAlgn="t">
                        <a:buNone/>
                      </a:pPr>
                      <a:r>
                        <a:rPr lang="en-IN" sz="1400">
                          <a:effectLst/>
                        </a:rPr>
                        <a:t>send(</a:t>
                      </a:r>
                      <a:r>
                        <a:rPr lang="en-IN" sz="1400" i="1">
                          <a:effectLst/>
                        </a:rPr>
                        <a:t>string</a:t>
                      </a:r>
                      <a:r>
                        <a:rPr lang="en-IN" sz="1400">
                          <a:effectLst/>
                        </a:rPr>
                        <a: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tc>
                  <a:txBody>
                    <a:bodyPr/>
                    <a:lstStyle/>
                    <a:p>
                      <a:pPr algn="l" fontAlgn="t">
                        <a:buNone/>
                      </a:pPr>
                      <a:r>
                        <a:rPr lang="en-US" sz="1400" dirty="0">
                          <a:effectLst/>
                        </a:rPr>
                        <a:t>Sends the request to the server (used for POST)</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extLst>
                  <a:ext uri="{0D108BD9-81ED-4DB2-BD59-A6C34878D82A}">
                    <a16:rowId xmlns="" xmlns:a16="http://schemas.microsoft.com/office/drawing/2014/main" val="2348529815"/>
                  </a:ext>
                </a:extLst>
              </a:tr>
            </a:tbl>
          </a:graphicData>
        </a:graphic>
      </p:graphicFrame>
      <p:sp>
        <p:nvSpPr>
          <p:cNvPr id="7" name="Slide Number Placeholder 6">
            <a:extLst>
              <a:ext uri="{FF2B5EF4-FFF2-40B4-BE49-F238E27FC236}">
                <a16:creationId xmlns="" xmlns:a16="http://schemas.microsoft.com/office/drawing/2014/main" id="{DABED179-F590-444F-C034-C0867619DB1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78</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98883020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179589D-4F89-415D-1F94-70ADFC0FD934}"/>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BBF132AC-B36B-3157-477E-051A9960F3F4}"/>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Request</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A0D77F7A-2321-97A1-7443-FFE153770265}"/>
              </a:ext>
            </a:extLst>
          </p:cNvPr>
          <p:cNvSpPr/>
          <p:nvPr/>
        </p:nvSpPr>
        <p:spPr>
          <a:xfrm>
            <a:off x="416496" y="1268413"/>
            <a:ext cx="9000999" cy="4154984"/>
          </a:xfrm>
          <a:prstGeom prst="rect">
            <a:avLst/>
          </a:prstGeom>
        </p:spPr>
        <p:txBody>
          <a:bodyPr wrap="square">
            <a:spAutoFit/>
          </a:bodyPr>
          <a:lstStyle/>
          <a:p>
            <a:r>
              <a:rPr lang="en-IN" sz="2400" dirty="0"/>
              <a:t>GET or POST?</a:t>
            </a:r>
          </a:p>
          <a:p>
            <a:pPr marL="342900" indent="-342900">
              <a:buFont typeface="Arial" panose="020B0604020202020204" pitchFamily="34" charset="0"/>
              <a:buChar char="•"/>
            </a:pPr>
            <a:r>
              <a:rPr lang="en-US" sz="2400" dirty="0"/>
              <a:t>GET is simpler and faster than POST, and can be used in most cases.</a:t>
            </a:r>
          </a:p>
          <a:p>
            <a:pPr marL="342900" indent="-342900">
              <a:buFont typeface="Arial" panose="020B0604020202020204" pitchFamily="34" charset="0"/>
              <a:buChar char="•"/>
            </a:pPr>
            <a:r>
              <a:rPr lang="en-US" sz="2400" dirty="0"/>
              <a:t>However, always use POST requests when:</a:t>
            </a:r>
          </a:p>
          <a:p>
            <a:pPr marL="800100" lvl="1" indent="-342900">
              <a:buFont typeface="Arial" panose="020B0604020202020204" pitchFamily="34" charset="0"/>
              <a:buChar char="•"/>
            </a:pPr>
            <a:r>
              <a:rPr lang="en-US" sz="2400" dirty="0"/>
              <a:t>A cached file is not an option (update a file or database on the server).</a:t>
            </a:r>
          </a:p>
          <a:p>
            <a:pPr marL="800100" lvl="1" indent="-342900">
              <a:buFont typeface="Arial" panose="020B0604020202020204" pitchFamily="34" charset="0"/>
              <a:buChar char="•"/>
            </a:pPr>
            <a:r>
              <a:rPr lang="en-US" sz="2400" dirty="0"/>
              <a:t>Sending a large amount of data to the server (POST has no size limitations).</a:t>
            </a:r>
          </a:p>
          <a:p>
            <a:pPr marL="800100" lvl="1" indent="-342900">
              <a:buFont typeface="Arial" panose="020B0604020202020204" pitchFamily="34" charset="0"/>
              <a:buChar char="•"/>
            </a:pPr>
            <a:r>
              <a:rPr lang="en-US" sz="2400" dirty="0"/>
              <a:t>Sending user input (which can contain unknown characters), POST is more robust and secure than GET.</a:t>
            </a:r>
          </a:p>
          <a:p>
            <a:endParaRPr lang="en-IN" sz="2400" dirty="0"/>
          </a:p>
        </p:txBody>
      </p:sp>
      <p:sp>
        <p:nvSpPr>
          <p:cNvPr id="3" name="Slide Number Placeholder 2">
            <a:extLst>
              <a:ext uri="{FF2B5EF4-FFF2-40B4-BE49-F238E27FC236}">
                <a16:creationId xmlns="" xmlns:a16="http://schemas.microsoft.com/office/drawing/2014/main" id="{002460C1-2952-D3E5-5A2F-267FAA8ABB3A}"/>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79</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60289604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5877A8-AB8A-11EA-BAD7-0487CAB60E18}"/>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E98E32E0-ACDF-973F-F6B3-88294DEDCB37}"/>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Request</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C2AEB8BD-7B03-4F43-30EF-152A16B2EA73}"/>
              </a:ext>
            </a:extLst>
          </p:cNvPr>
          <p:cNvSpPr/>
          <p:nvPr/>
        </p:nvSpPr>
        <p:spPr>
          <a:xfrm>
            <a:off x="416496" y="1268413"/>
            <a:ext cx="9000999" cy="5262979"/>
          </a:xfrm>
          <a:prstGeom prst="rect">
            <a:avLst/>
          </a:prstGeom>
        </p:spPr>
        <p:txBody>
          <a:bodyPr wrap="square">
            <a:spAutoFit/>
          </a:bodyPr>
          <a:lstStyle/>
          <a:p>
            <a:r>
              <a:rPr lang="en-US" sz="2400" dirty="0"/>
              <a:t>Ex: A simple GET request:</a:t>
            </a:r>
          </a:p>
          <a:p>
            <a:endParaRPr lang="en-US" sz="2400" dirty="0"/>
          </a:p>
          <a:p>
            <a:endParaRPr lang="en-US" sz="2400" dirty="0"/>
          </a:p>
          <a:p>
            <a:endParaRPr lang="en-US" sz="2400" dirty="0"/>
          </a:p>
          <a:p>
            <a:endParaRPr lang="en-US" sz="2400" dirty="0"/>
          </a:p>
          <a:p>
            <a:endParaRPr lang="en-US" sz="2400" dirty="0"/>
          </a:p>
          <a:p>
            <a:pPr marL="342900" indent="-342900">
              <a:buFont typeface="Arial" panose="020B0604020202020204" pitchFamily="34" charset="0"/>
              <a:buChar char="•"/>
            </a:pPr>
            <a:r>
              <a:rPr lang="en-US" sz="2400" dirty="0"/>
              <a:t>In the example above, you may get a cached result. To avoid this, </a:t>
            </a:r>
            <a:r>
              <a:rPr lang="en-US" sz="2400" b="1" dirty="0"/>
              <a:t>add a unique ID to the URL .</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To send information with the GET method, add the information to the URL</a:t>
            </a:r>
            <a:endParaRPr lang="en-US" sz="2400" b="1" dirty="0"/>
          </a:p>
          <a:p>
            <a:endParaRPr lang="en-US" sz="2400" b="1" dirty="0"/>
          </a:p>
          <a:p>
            <a:endParaRPr lang="en-IN" sz="2400" dirty="0"/>
          </a:p>
        </p:txBody>
      </p:sp>
      <p:sp>
        <p:nvSpPr>
          <p:cNvPr id="9" name="TextBox 8">
            <a:extLst>
              <a:ext uri="{FF2B5EF4-FFF2-40B4-BE49-F238E27FC236}">
                <a16:creationId xmlns="" xmlns:a16="http://schemas.microsoft.com/office/drawing/2014/main" id="{95AFE981-6B9E-6171-962F-A72127569A4F}"/>
              </a:ext>
            </a:extLst>
          </p:cNvPr>
          <p:cNvSpPr txBox="1"/>
          <p:nvPr/>
        </p:nvSpPr>
        <p:spPr>
          <a:xfrm>
            <a:off x="1352600" y="1772816"/>
            <a:ext cx="5599450" cy="646331"/>
          </a:xfrm>
          <a:prstGeom prst="rect">
            <a:avLst/>
          </a:prstGeom>
          <a:noFill/>
        </p:spPr>
        <p:txBody>
          <a:bodyPr wrap="square">
            <a:spAutoFit/>
          </a:bodyPr>
          <a:lstStyle/>
          <a:p>
            <a:r>
              <a:rPr lang="en-IN" b="0" i="0" dirty="0" err="1">
                <a:solidFill>
                  <a:srgbClr val="000000"/>
                </a:solidFill>
                <a:effectLst/>
                <a:latin typeface="Consolas" panose="020B0609020204030204" pitchFamily="49" charset="0"/>
              </a:rPr>
              <a:t>xhttp.open</a:t>
            </a:r>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"GET"</a:t>
            </a:r>
            <a:r>
              <a:rPr lang="en-IN" b="0" i="0" dirty="0">
                <a:solidFill>
                  <a:srgbClr val="000000"/>
                </a:solidFill>
                <a:effectLst/>
                <a:latin typeface="Consolas" panose="020B0609020204030204" pitchFamily="49" charset="0"/>
              </a:rPr>
              <a:t>, </a:t>
            </a:r>
            <a:r>
              <a:rPr lang="en-IN" b="0" i="0" dirty="0">
                <a:solidFill>
                  <a:srgbClr val="008000"/>
                </a:solidFill>
                <a:effectLst/>
                <a:latin typeface="Consolas" panose="020B0609020204030204" pitchFamily="49" charset="0"/>
              </a:rPr>
              <a:t>"</a:t>
            </a:r>
            <a:r>
              <a:rPr lang="en-IN" b="0" i="0" dirty="0">
                <a:solidFill>
                  <a:srgbClr val="008000"/>
                </a:solidFill>
                <a:effectLst/>
                <a:highlight>
                  <a:srgbClr val="FFFF00"/>
                </a:highlight>
                <a:latin typeface="Consolas" panose="020B0609020204030204" pitchFamily="49" charset="0"/>
              </a:rPr>
              <a:t>demo_get.asp</a:t>
            </a:r>
            <a:r>
              <a:rPr lang="en-IN" b="0" i="0" dirty="0">
                <a:solidFill>
                  <a:srgbClr val="008000"/>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true</a:t>
            </a:r>
            <a:r>
              <a:rPr lang="en-IN" b="0" i="0" dirty="0">
                <a:solidFill>
                  <a:srgbClr val="000000"/>
                </a:solidFill>
                <a:effectLst/>
                <a:latin typeface="Consolas" panose="020B0609020204030204" pitchFamily="49" charset="0"/>
              </a:rPr>
              <a:t>);</a:t>
            </a:r>
            <a:r>
              <a:rPr lang="en-IN" dirty="0"/>
              <a:t/>
            </a:r>
            <a:br>
              <a:rPr lang="en-IN" dirty="0"/>
            </a:br>
            <a:r>
              <a:rPr lang="en-IN" b="0" i="0" dirty="0" err="1">
                <a:solidFill>
                  <a:srgbClr val="000000"/>
                </a:solidFill>
                <a:effectLst/>
                <a:latin typeface="Consolas" panose="020B0609020204030204" pitchFamily="49" charset="0"/>
              </a:rPr>
              <a:t>xhttp.send</a:t>
            </a:r>
            <a:r>
              <a:rPr lang="en-IN" b="0" i="0" dirty="0">
                <a:solidFill>
                  <a:srgbClr val="000000"/>
                </a:solidFill>
                <a:effectLst/>
                <a:latin typeface="Consolas" panose="020B0609020204030204" pitchFamily="49" charset="0"/>
              </a:rPr>
              <a:t>();</a:t>
            </a:r>
            <a:endParaRPr lang="en-IN" dirty="0"/>
          </a:p>
        </p:txBody>
      </p:sp>
      <p:pic>
        <p:nvPicPr>
          <p:cNvPr id="11" name="Picture 10">
            <a:extLst>
              <a:ext uri="{FF2B5EF4-FFF2-40B4-BE49-F238E27FC236}">
                <a16:creationId xmlns="" xmlns:a16="http://schemas.microsoft.com/office/drawing/2014/main" id="{696A183B-D1F6-E7BB-4FAC-6C076D1FA157}"/>
              </a:ext>
            </a:extLst>
          </p:cNvPr>
          <p:cNvPicPr>
            <a:picLocks noChangeAspect="1"/>
          </p:cNvPicPr>
          <p:nvPr/>
        </p:nvPicPr>
        <p:blipFill>
          <a:blip r:embed="rId2"/>
          <a:srcRect l="50001" t="28031" r="4931" b="50000"/>
          <a:stretch>
            <a:fillRect/>
          </a:stretch>
        </p:blipFill>
        <p:spPr>
          <a:xfrm>
            <a:off x="5241032" y="2204864"/>
            <a:ext cx="4464495" cy="1224136"/>
          </a:xfrm>
          <a:prstGeom prst="rect">
            <a:avLst/>
          </a:prstGeom>
        </p:spPr>
      </p:pic>
      <p:sp>
        <p:nvSpPr>
          <p:cNvPr id="13" name="TextBox 12">
            <a:extLst>
              <a:ext uri="{FF2B5EF4-FFF2-40B4-BE49-F238E27FC236}">
                <a16:creationId xmlns="" xmlns:a16="http://schemas.microsoft.com/office/drawing/2014/main" id="{B662D75A-261E-CE67-F63E-B9A984724643}"/>
              </a:ext>
            </a:extLst>
          </p:cNvPr>
          <p:cNvSpPr txBox="1"/>
          <p:nvPr/>
        </p:nvSpPr>
        <p:spPr>
          <a:xfrm>
            <a:off x="1064567" y="4294837"/>
            <a:ext cx="7704856" cy="646331"/>
          </a:xfrm>
          <a:prstGeom prst="rect">
            <a:avLst/>
          </a:prstGeom>
          <a:noFill/>
        </p:spPr>
        <p:txBody>
          <a:bodyPr wrap="square">
            <a:spAutoFit/>
          </a:bodyPr>
          <a:lstStyle/>
          <a:p>
            <a:r>
              <a:rPr lang="en-IN" b="0" i="0" dirty="0" err="1">
                <a:solidFill>
                  <a:srgbClr val="000000"/>
                </a:solidFill>
                <a:effectLst/>
                <a:latin typeface="Consolas" panose="020B0609020204030204" pitchFamily="49" charset="0"/>
              </a:rPr>
              <a:t>xhttp.open</a:t>
            </a:r>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"GET"</a:t>
            </a:r>
            <a:r>
              <a:rPr lang="en-IN" b="0" i="0" dirty="0">
                <a:solidFill>
                  <a:srgbClr val="000000"/>
                </a:solidFill>
                <a:effectLst/>
                <a:latin typeface="Consolas" panose="020B0609020204030204" pitchFamily="49" charset="0"/>
              </a:rPr>
              <a:t>, </a:t>
            </a:r>
            <a:r>
              <a:rPr lang="en-IN" b="0" i="0" dirty="0">
                <a:solidFill>
                  <a:srgbClr val="008000"/>
                </a:solidFill>
                <a:effectLst/>
                <a:latin typeface="Consolas" panose="020B0609020204030204" pitchFamily="49" charset="0"/>
              </a:rPr>
              <a:t>"</a:t>
            </a:r>
            <a:r>
              <a:rPr lang="en-IN" b="0" i="0" dirty="0" err="1">
                <a:solidFill>
                  <a:srgbClr val="008000"/>
                </a:solidFill>
                <a:effectLst/>
                <a:latin typeface="Consolas" panose="020B0609020204030204" pitchFamily="49" charset="0"/>
              </a:rPr>
              <a:t>demo_get.asp?t</a:t>
            </a:r>
            <a:r>
              <a:rPr lang="en-IN" b="0" i="0" dirty="0">
                <a:solidFill>
                  <a:srgbClr val="008000"/>
                </a:solidFill>
                <a:effectLst/>
                <a:latin typeface="Consolas" panose="020B0609020204030204" pitchFamily="49" charset="0"/>
              </a:rPr>
              <a:t>="</a:t>
            </a:r>
            <a:r>
              <a:rPr lang="en-IN" b="0" i="0" dirty="0">
                <a:solidFill>
                  <a:srgbClr val="000000"/>
                </a:solidFill>
                <a:effectLst/>
                <a:latin typeface="Consolas" panose="020B0609020204030204" pitchFamily="49" charset="0"/>
              </a:rPr>
              <a:t> + </a:t>
            </a:r>
            <a:r>
              <a:rPr lang="en-IN" b="0" i="0" dirty="0" err="1">
                <a:solidFill>
                  <a:srgbClr val="000000"/>
                </a:solidFill>
                <a:effectLst/>
                <a:latin typeface="Consolas" panose="020B0609020204030204" pitchFamily="49" charset="0"/>
              </a:rPr>
              <a:t>Math.random</a:t>
            </a: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true</a:t>
            </a:r>
            <a:r>
              <a:rPr lang="en-IN" b="0" i="0" dirty="0">
                <a:solidFill>
                  <a:srgbClr val="000000"/>
                </a:solidFill>
                <a:effectLst/>
                <a:latin typeface="Consolas" panose="020B0609020204030204" pitchFamily="49" charset="0"/>
              </a:rPr>
              <a:t>);</a:t>
            </a:r>
            <a:r>
              <a:rPr lang="en-IN" dirty="0"/>
              <a:t/>
            </a:r>
            <a:br>
              <a:rPr lang="en-IN" dirty="0"/>
            </a:br>
            <a:r>
              <a:rPr lang="en-IN" b="0" i="0" dirty="0" err="1">
                <a:solidFill>
                  <a:srgbClr val="000000"/>
                </a:solidFill>
                <a:effectLst/>
                <a:latin typeface="Consolas" panose="020B0609020204030204" pitchFamily="49" charset="0"/>
              </a:rPr>
              <a:t>xhttp.send</a:t>
            </a:r>
            <a:r>
              <a:rPr lang="en-IN" b="0" i="0" dirty="0">
                <a:solidFill>
                  <a:srgbClr val="000000"/>
                </a:solidFill>
                <a:effectLst/>
                <a:latin typeface="Consolas" panose="020B0609020204030204" pitchFamily="49" charset="0"/>
              </a:rPr>
              <a:t>();</a:t>
            </a:r>
            <a:endParaRPr lang="en-IN" dirty="0"/>
          </a:p>
        </p:txBody>
      </p:sp>
      <p:sp>
        <p:nvSpPr>
          <p:cNvPr id="15" name="TextBox 14">
            <a:extLst>
              <a:ext uri="{FF2B5EF4-FFF2-40B4-BE49-F238E27FC236}">
                <a16:creationId xmlns="" xmlns:a16="http://schemas.microsoft.com/office/drawing/2014/main" id="{BBCDDC03-C2A9-C0F1-536E-2E63F690C9D0}"/>
              </a:ext>
            </a:extLst>
          </p:cNvPr>
          <p:cNvSpPr txBox="1"/>
          <p:nvPr/>
        </p:nvSpPr>
        <p:spPr>
          <a:xfrm>
            <a:off x="1064567" y="5807005"/>
            <a:ext cx="8320341" cy="646331"/>
          </a:xfrm>
          <a:prstGeom prst="rect">
            <a:avLst/>
          </a:prstGeom>
          <a:noFill/>
        </p:spPr>
        <p:txBody>
          <a:bodyPr wrap="square">
            <a:spAutoFit/>
          </a:bodyPr>
          <a:lstStyle/>
          <a:p>
            <a:r>
              <a:rPr lang="en-IN" b="0" i="0" dirty="0" err="1">
                <a:solidFill>
                  <a:srgbClr val="000000"/>
                </a:solidFill>
                <a:effectLst/>
                <a:latin typeface="Consolas" panose="020B0609020204030204" pitchFamily="49" charset="0"/>
              </a:rPr>
              <a:t>xhttp.open</a:t>
            </a:r>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"GET"</a:t>
            </a:r>
            <a:r>
              <a:rPr lang="en-IN" b="0" i="0" dirty="0">
                <a:solidFill>
                  <a:srgbClr val="000000"/>
                </a:solidFill>
                <a:effectLst/>
                <a:latin typeface="Consolas" panose="020B0609020204030204" pitchFamily="49" charset="0"/>
              </a:rPr>
              <a:t>, </a:t>
            </a:r>
            <a:r>
              <a:rPr lang="en-IN" b="0" i="0" dirty="0">
                <a:solidFill>
                  <a:srgbClr val="008000"/>
                </a:solidFill>
                <a:effectLst/>
                <a:latin typeface="Consolas" panose="020B0609020204030204" pitchFamily="49" charset="0"/>
              </a:rPr>
              <a:t>"demo_get2.asp?fname=</a:t>
            </a:r>
            <a:r>
              <a:rPr lang="en-IN" b="0" i="0" dirty="0" err="1">
                <a:solidFill>
                  <a:srgbClr val="008000"/>
                </a:solidFill>
                <a:effectLst/>
                <a:latin typeface="Consolas" panose="020B0609020204030204" pitchFamily="49" charset="0"/>
              </a:rPr>
              <a:t>Henry&amp;lname</a:t>
            </a:r>
            <a:r>
              <a:rPr lang="en-IN" b="0" i="0" dirty="0">
                <a:solidFill>
                  <a:srgbClr val="008000"/>
                </a:solidFill>
                <a:effectLst/>
                <a:latin typeface="Consolas" panose="020B0609020204030204" pitchFamily="49" charset="0"/>
              </a:rPr>
              <a:t>=Ford"</a:t>
            </a: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true</a:t>
            </a:r>
            <a:r>
              <a:rPr lang="en-IN" b="0" i="0" dirty="0">
                <a:solidFill>
                  <a:srgbClr val="000000"/>
                </a:solidFill>
                <a:effectLst/>
                <a:latin typeface="Consolas" panose="020B0609020204030204" pitchFamily="49" charset="0"/>
              </a:rPr>
              <a:t>);</a:t>
            </a:r>
            <a:r>
              <a:rPr lang="en-IN" dirty="0"/>
              <a:t/>
            </a:r>
            <a:br>
              <a:rPr lang="en-IN" dirty="0"/>
            </a:br>
            <a:r>
              <a:rPr lang="en-IN" b="0" i="0" dirty="0" err="1">
                <a:solidFill>
                  <a:srgbClr val="000000"/>
                </a:solidFill>
                <a:effectLst/>
                <a:latin typeface="Consolas" panose="020B0609020204030204" pitchFamily="49" charset="0"/>
              </a:rPr>
              <a:t>xhttp.send</a:t>
            </a:r>
            <a:r>
              <a:rPr lang="en-IN" b="0" i="0" dirty="0">
                <a:solidFill>
                  <a:srgbClr val="000000"/>
                </a:solidFill>
                <a:effectLst/>
                <a:latin typeface="Consolas" panose="020B0609020204030204" pitchFamily="49" charset="0"/>
              </a:rPr>
              <a:t>();</a:t>
            </a:r>
            <a:endParaRPr lang="en-IN" dirty="0"/>
          </a:p>
        </p:txBody>
      </p:sp>
      <p:sp>
        <p:nvSpPr>
          <p:cNvPr id="16" name="Slide Number Placeholder 15">
            <a:extLst>
              <a:ext uri="{FF2B5EF4-FFF2-40B4-BE49-F238E27FC236}">
                <a16:creationId xmlns="" xmlns:a16="http://schemas.microsoft.com/office/drawing/2014/main" id="{EF80F042-8CA0-C427-1D86-F76BD550793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80</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35819247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4F1F331-217F-FD2E-80F3-44CA9801BB0D}"/>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EAB4472A-BC31-A3CE-F195-0EBC616CBE49}"/>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Response</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0A69A741-7FBD-93BE-04CC-9E7A3B638743}"/>
              </a:ext>
            </a:extLst>
          </p:cNvPr>
          <p:cNvSpPr/>
          <p:nvPr/>
        </p:nvSpPr>
        <p:spPr>
          <a:xfrm>
            <a:off x="416496" y="1268413"/>
            <a:ext cx="9000999" cy="2677656"/>
          </a:xfrm>
          <a:prstGeom prst="rect">
            <a:avLst/>
          </a:prstGeom>
        </p:spPr>
        <p:txBody>
          <a:bodyPr wrap="square">
            <a:spAutoFit/>
          </a:bodyPr>
          <a:lstStyle/>
          <a:p>
            <a:pPr marL="342900" indent="-342900" algn="just">
              <a:buFont typeface="Arial" panose="020B0604020202020204" pitchFamily="34" charset="0"/>
              <a:buChar char="•"/>
            </a:pPr>
            <a:r>
              <a:rPr lang="en-US" sz="2400" dirty="0"/>
              <a:t>The </a:t>
            </a:r>
            <a:r>
              <a:rPr lang="en-US" sz="2400" b="1" dirty="0" err="1">
                <a:solidFill>
                  <a:srgbClr val="FF0000"/>
                </a:solidFill>
              </a:rPr>
              <a:t>readyState</a:t>
            </a:r>
            <a:r>
              <a:rPr lang="en-US" sz="2400" b="1" dirty="0">
                <a:solidFill>
                  <a:srgbClr val="FF0000"/>
                </a:solidFill>
              </a:rPr>
              <a:t> </a:t>
            </a:r>
            <a:r>
              <a:rPr lang="en-US" sz="2400" dirty="0"/>
              <a:t>property</a:t>
            </a:r>
            <a:r>
              <a:rPr lang="en-US" sz="2400" b="1" dirty="0">
                <a:solidFill>
                  <a:srgbClr val="FF0000"/>
                </a:solidFill>
              </a:rPr>
              <a:t> </a:t>
            </a:r>
            <a:r>
              <a:rPr lang="en-US" sz="2400" dirty="0"/>
              <a:t>holds the status of the </a:t>
            </a:r>
            <a:r>
              <a:rPr lang="en-US" sz="2400" dirty="0" err="1"/>
              <a:t>XMLHttpRequest</a:t>
            </a:r>
            <a:r>
              <a:rPr lang="en-US" sz="2400" dirty="0"/>
              <a:t>.</a:t>
            </a:r>
          </a:p>
          <a:p>
            <a:pPr marL="342900" indent="-342900" algn="just">
              <a:buFont typeface="Arial" panose="020B0604020202020204" pitchFamily="34" charset="0"/>
              <a:buChar char="•"/>
            </a:pPr>
            <a:r>
              <a:rPr lang="en-US" sz="2400" dirty="0"/>
              <a:t>The </a:t>
            </a:r>
            <a:r>
              <a:rPr lang="en-US" sz="2400" b="1" dirty="0" err="1">
                <a:solidFill>
                  <a:srgbClr val="FF0000"/>
                </a:solidFill>
              </a:rPr>
              <a:t>onreadystatechange</a:t>
            </a:r>
            <a:r>
              <a:rPr lang="en-US" sz="2400" dirty="0">
                <a:solidFill>
                  <a:srgbClr val="FF0000"/>
                </a:solidFill>
              </a:rPr>
              <a:t> </a:t>
            </a:r>
            <a:r>
              <a:rPr lang="en-US" sz="2400" dirty="0"/>
              <a:t>property defines a function to be executed when the </a:t>
            </a:r>
            <a:r>
              <a:rPr lang="en-US" sz="2400" dirty="0" err="1"/>
              <a:t>readyState</a:t>
            </a:r>
            <a:r>
              <a:rPr lang="en-US" sz="2400" dirty="0"/>
              <a:t> changes.</a:t>
            </a:r>
          </a:p>
          <a:p>
            <a:pPr marL="342900" indent="-342900" algn="just">
              <a:buFont typeface="Arial" panose="020B0604020202020204" pitchFamily="34" charset="0"/>
              <a:buChar char="•"/>
            </a:pPr>
            <a:r>
              <a:rPr lang="en-US" sz="2400" dirty="0"/>
              <a:t>The </a:t>
            </a:r>
            <a:r>
              <a:rPr lang="en-US" sz="2400" b="1" dirty="0">
                <a:solidFill>
                  <a:srgbClr val="FF0000"/>
                </a:solidFill>
              </a:rPr>
              <a:t>status</a:t>
            </a:r>
            <a:r>
              <a:rPr lang="en-US" sz="2400" dirty="0"/>
              <a:t> property and the </a:t>
            </a:r>
            <a:r>
              <a:rPr lang="en-US" sz="2400" b="1" dirty="0" err="1">
                <a:solidFill>
                  <a:srgbClr val="FF0000"/>
                </a:solidFill>
              </a:rPr>
              <a:t>statusText</a:t>
            </a:r>
            <a:r>
              <a:rPr lang="en-US" sz="2400" dirty="0"/>
              <a:t> property holds the status of the </a:t>
            </a:r>
            <a:r>
              <a:rPr lang="en-US" sz="2400" dirty="0" err="1"/>
              <a:t>XMLHttpRequest</a:t>
            </a:r>
            <a:r>
              <a:rPr lang="en-US" sz="2400" dirty="0"/>
              <a:t> object.</a:t>
            </a:r>
            <a:endParaRPr lang="en-US" sz="2400" b="1" dirty="0"/>
          </a:p>
          <a:p>
            <a:pPr algn="just"/>
            <a:endParaRPr lang="en-IN" sz="2400" dirty="0"/>
          </a:p>
        </p:txBody>
      </p:sp>
      <p:sp>
        <p:nvSpPr>
          <p:cNvPr id="5" name="Slide Number Placeholder 4">
            <a:extLst>
              <a:ext uri="{FF2B5EF4-FFF2-40B4-BE49-F238E27FC236}">
                <a16:creationId xmlns="" xmlns:a16="http://schemas.microsoft.com/office/drawing/2014/main" id="{8B22A13E-54AD-F47D-DD8A-AAE83FDB9C13}"/>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81</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2772092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8ED5F9D-051E-3571-5DAC-C8FF75EE9C20}"/>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E518F452-6B5F-7F2A-9DBF-22ACB0A9F79B}"/>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Response</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 xmlns:a16="http://schemas.microsoft.com/office/drawing/2014/main" id="{F76E3F3E-3A30-D7F6-8B5D-305BD1B022FB}"/>
              </a:ext>
            </a:extLst>
          </p:cNvPr>
          <p:cNvGraphicFramePr>
            <a:graphicFrameLocks noGrp="1"/>
          </p:cNvGraphicFramePr>
          <p:nvPr>
            <p:extLst>
              <p:ext uri="{D42A27DB-BD31-4B8C-83A1-F6EECF244321}">
                <p14:modId xmlns="" xmlns:p14="http://schemas.microsoft.com/office/powerpoint/2010/main" val="133622140"/>
              </p:ext>
            </p:extLst>
          </p:nvPr>
        </p:nvGraphicFramePr>
        <p:xfrm>
          <a:off x="776536" y="1402080"/>
          <a:ext cx="8496944" cy="4053840"/>
        </p:xfrm>
        <a:graphic>
          <a:graphicData uri="http://schemas.openxmlformats.org/drawingml/2006/table">
            <a:tbl>
              <a:tblPr/>
              <a:tblGrid>
                <a:gridCol w="1698043">
                  <a:extLst>
                    <a:ext uri="{9D8B030D-6E8A-4147-A177-3AD203B41FA5}">
                      <a16:colId xmlns="" xmlns:a16="http://schemas.microsoft.com/office/drawing/2014/main" val="3535000043"/>
                    </a:ext>
                  </a:extLst>
                </a:gridCol>
                <a:gridCol w="6798901">
                  <a:extLst>
                    <a:ext uri="{9D8B030D-6E8A-4147-A177-3AD203B41FA5}">
                      <a16:colId xmlns="" xmlns:a16="http://schemas.microsoft.com/office/drawing/2014/main" val="177143559"/>
                    </a:ext>
                  </a:extLst>
                </a:gridCol>
              </a:tblGrid>
              <a:tr h="0">
                <a:tc>
                  <a:txBody>
                    <a:bodyPr/>
                    <a:lstStyle/>
                    <a:p>
                      <a:pPr algn="l" fontAlgn="t">
                        <a:buNone/>
                      </a:pPr>
                      <a:r>
                        <a:rPr lang="en-IN" b="1">
                          <a:effectLst/>
                        </a:rPr>
                        <a:t>Property</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IN" b="1" dirty="0">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3267674206"/>
                  </a:ext>
                </a:extLst>
              </a:tr>
              <a:tr h="0">
                <a:tc>
                  <a:txBody>
                    <a:bodyPr/>
                    <a:lstStyle/>
                    <a:p>
                      <a:pPr algn="l" fontAlgn="t">
                        <a:buNone/>
                      </a:pPr>
                      <a:r>
                        <a:rPr lang="en-IN">
                          <a:effectLst/>
                        </a:rPr>
                        <a:t>onreadystatechange</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buNone/>
                      </a:pPr>
                      <a:r>
                        <a:rPr lang="en-US">
                          <a:effectLst/>
                        </a:rPr>
                        <a:t>Defines a function to be called when the readyState property changes</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676937297"/>
                  </a:ext>
                </a:extLst>
              </a:tr>
              <a:tr h="0">
                <a:tc>
                  <a:txBody>
                    <a:bodyPr/>
                    <a:lstStyle/>
                    <a:p>
                      <a:pPr algn="l" fontAlgn="t">
                        <a:buNone/>
                      </a:pPr>
                      <a:r>
                        <a:rPr lang="en-IN">
                          <a:effectLst/>
                        </a:rPr>
                        <a:t>readyState</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buNone/>
                      </a:pPr>
                      <a:r>
                        <a:rPr lang="en-US">
                          <a:effectLst/>
                        </a:rPr>
                        <a:t>Holds the status of the XMLHttpRequest.</a:t>
                      </a:r>
                      <a:br>
                        <a:rPr lang="en-US">
                          <a:effectLst/>
                        </a:rPr>
                      </a:br>
                      <a:r>
                        <a:rPr lang="en-US">
                          <a:effectLst/>
                        </a:rPr>
                        <a:t>0: request not initialized</a:t>
                      </a:r>
                      <a:br>
                        <a:rPr lang="en-US">
                          <a:effectLst/>
                        </a:rPr>
                      </a:br>
                      <a:r>
                        <a:rPr lang="en-US">
                          <a:effectLst/>
                        </a:rPr>
                        <a:t>1: server connection established</a:t>
                      </a:r>
                      <a:br>
                        <a:rPr lang="en-US">
                          <a:effectLst/>
                        </a:rPr>
                      </a:br>
                      <a:r>
                        <a:rPr lang="en-US">
                          <a:effectLst/>
                        </a:rPr>
                        <a:t>2: request received</a:t>
                      </a:r>
                      <a:br>
                        <a:rPr lang="en-US">
                          <a:effectLst/>
                        </a:rPr>
                      </a:br>
                      <a:r>
                        <a:rPr lang="en-US">
                          <a:effectLst/>
                        </a:rPr>
                        <a:t>3: processing request</a:t>
                      </a:r>
                      <a:br>
                        <a:rPr lang="en-US">
                          <a:effectLst/>
                        </a:rPr>
                      </a:br>
                      <a:r>
                        <a:rPr lang="en-US">
                          <a:effectLst/>
                        </a:rPr>
                        <a:t>4: request finished and response is ready</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3372124360"/>
                  </a:ext>
                </a:extLst>
              </a:tr>
              <a:tr h="0">
                <a:tc>
                  <a:txBody>
                    <a:bodyPr/>
                    <a:lstStyle/>
                    <a:p>
                      <a:pPr algn="l" fontAlgn="t">
                        <a:buNone/>
                      </a:pPr>
                      <a:r>
                        <a:rPr lang="en-IN">
                          <a:effectLst/>
                        </a:rPr>
                        <a:t>status</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tc>
                  <a:txBody>
                    <a:bodyPr/>
                    <a:lstStyle/>
                    <a:p>
                      <a:pPr algn="l" fontAlgn="t">
                        <a:buNone/>
                      </a:pPr>
                      <a:r>
                        <a:rPr lang="en-US" dirty="0">
                          <a:effectLst/>
                        </a:rPr>
                        <a:t>200: "OK"</a:t>
                      </a:r>
                      <a:br>
                        <a:rPr lang="en-US" dirty="0">
                          <a:effectLst/>
                        </a:rPr>
                      </a:br>
                      <a:r>
                        <a:rPr lang="en-US" dirty="0">
                          <a:effectLst/>
                        </a:rPr>
                        <a:t>403: "Forbidden"</a:t>
                      </a:r>
                      <a:br>
                        <a:rPr lang="en-US" dirty="0">
                          <a:effectLst/>
                        </a:rPr>
                      </a:br>
                      <a:r>
                        <a:rPr lang="en-US" dirty="0">
                          <a:effectLst/>
                        </a:rPr>
                        <a:t>404: "Page not found"</a:t>
                      </a:r>
                      <a:br>
                        <a:rPr lang="en-US" dirty="0">
                          <a:effectLst/>
                        </a:rPr>
                      </a:br>
                      <a:r>
                        <a:rPr lang="en-US" dirty="0">
                          <a:effectLst/>
                        </a:rPr>
                        <a:t>For a complete list go to the </a:t>
                      </a:r>
                      <a:r>
                        <a:rPr lang="en-US" dirty="0">
                          <a:effectLst/>
                          <a:hlinkClick r:id="rId2"/>
                        </a:rPr>
                        <a:t>Http Messages Reference</a:t>
                      </a:r>
                      <a:endParaRPr lang="en-US" dirty="0">
                        <a:effectLst/>
                      </a:endParaRP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extLst>
                  <a:ext uri="{0D108BD9-81ED-4DB2-BD59-A6C34878D82A}">
                    <a16:rowId xmlns="" xmlns:a16="http://schemas.microsoft.com/office/drawing/2014/main" val="3213379316"/>
                  </a:ext>
                </a:extLst>
              </a:tr>
            </a:tbl>
          </a:graphicData>
        </a:graphic>
      </p:graphicFrame>
      <p:sp>
        <p:nvSpPr>
          <p:cNvPr id="5" name="Slide Number Placeholder 4">
            <a:extLst>
              <a:ext uri="{FF2B5EF4-FFF2-40B4-BE49-F238E27FC236}">
                <a16:creationId xmlns="" xmlns:a16="http://schemas.microsoft.com/office/drawing/2014/main" id="{6C0E4AFE-5D50-3C51-D2EC-79D3B0B36B6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82</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78627488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A10488-ABEF-5A24-B86B-385E9FEB3A3F}"/>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F2A829F3-8F7D-3472-DBC8-799AA61B1D17}"/>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Response</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4824E23A-B539-1C37-98C8-EDAA655D29D7}"/>
              </a:ext>
            </a:extLst>
          </p:cNvPr>
          <p:cNvSpPr/>
          <p:nvPr/>
        </p:nvSpPr>
        <p:spPr>
          <a:xfrm>
            <a:off x="4953000" y="1484784"/>
            <a:ext cx="4392487" cy="2677656"/>
          </a:xfrm>
          <a:prstGeom prst="rect">
            <a:avLst/>
          </a:prstGeom>
        </p:spPr>
        <p:txBody>
          <a:bodyPr wrap="square">
            <a:spAutoFit/>
          </a:bodyPr>
          <a:lstStyle/>
          <a:p>
            <a:pPr marL="342900" indent="-342900">
              <a:buFont typeface="Arial" panose="020B0604020202020204" pitchFamily="34" charset="0"/>
              <a:buChar char="•"/>
            </a:pPr>
            <a:r>
              <a:rPr lang="en-US" sz="2400" dirty="0"/>
              <a:t>The </a:t>
            </a:r>
            <a:r>
              <a:rPr lang="en-US" sz="2400" dirty="0" err="1"/>
              <a:t>onreadystatechange</a:t>
            </a:r>
            <a:r>
              <a:rPr lang="en-US" sz="2400" dirty="0"/>
              <a:t> function is called every time the </a:t>
            </a:r>
            <a:r>
              <a:rPr lang="en-US" sz="2400" dirty="0" err="1"/>
              <a:t>readyState</a:t>
            </a:r>
            <a:r>
              <a:rPr lang="en-US" sz="2400" dirty="0"/>
              <a:t> changes.</a:t>
            </a:r>
          </a:p>
          <a:p>
            <a:pPr marL="342900" indent="-342900">
              <a:buFont typeface="Arial" panose="020B0604020202020204" pitchFamily="34" charset="0"/>
              <a:buChar char="•"/>
            </a:pPr>
            <a:r>
              <a:rPr lang="en-US" sz="2400" dirty="0"/>
              <a:t>When </a:t>
            </a:r>
            <a:r>
              <a:rPr lang="en-US" sz="2400" dirty="0" err="1"/>
              <a:t>readyState</a:t>
            </a:r>
            <a:r>
              <a:rPr lang="en-US" sz="2400" dirty="0"/>
              <a:t> is 4 and status is 200, the response is ready:</a:t>
            </a:r>
          </a:p>
          <a:p>
            <a:pPr marL="342900" indent="-342900" algn="just">
              <a:buFont typeface="Arial" panose="020B0604020202020204" pitchFamily="34" charset="0"/>
              <a:buChar char="•"/>
            </a:pPr>
            <a:endParaRPr lang="en-IN" sz="2400" dirty="0"/>
          </a:p>
        </p:txBody>
      </p:sp>
      <p:sp>
        <p:nvSpPr>
          <p:cNvPr id="5" name="TextBox 4">
            <a:extLst>
              <a:ext uri="{FF2B5EF4-FFF2-40B4-BE49-F238E27FC236}">
                <a16:creationId xmlns="" xmlns:a16="http://schemas.microsoft.com/office/drawing/2014/main" id="{C9225DC8-0296-A874-1CBF-2BA33B270E69}"/>
              </a:ext>
            </a:extLst>
          </p:cNvPr>
          <p:cNvSpPr txBox="1"/>
          <p:nvPr/>
        </p:nvSpPr>
        <p:spPr>
          <a:xfrm>
            <a:off x="488505" y="1166842"/>
            <a:ext cx="4464495" cy="4524315"/>
          </a:xfrm>
          <a:prstGeom prst="rect">
            <a:avLst/>
          </a:prstGeom>
          <a:noFill/>
        </p:spPr>
        <p:txBody>
          <a:bodyPr wrap="square">
            <a:spAutoFit/>
          </a:bodyPr>
          <a:lstStyle/>
          <a:p>
            <a:r>
              <a:rPr lang="en-IN" sz="1800" dirty="0"/>
              <a:t>&lt;script&gt;</a:t>
            </a:r>
          </a:p>
          <a:p>
            <a:r>
              <a:rPr lang="en-IN" sz="1800" dirty="0"/>
              <a:t>function </a:t>
            </a:r>
            <a:r>
              <a:rPr lang="en-IN" sz="1800" dirty="0" err="1"/>
              <a:t>loadDoc</a:t>
            </a:r>
            <a:r>
              <a:rPr lang="en-IN" sz="1800" dirty="0"/>
              <a:t>() {</a:t>
            </a:r>
          </a:p>
          <a:p>
            <a:r>
              <a:rPr lang="en-IN" sz="1800" dirty="0"/>
              <a:t>  var </a:t>
            </a:r>
            <a:r>
              <a:rPr lang="en-IN" sz="1800" dirty="0" err="1"/>
              <a:t>xhttp</a:t>
            </a:r>
            <a:r>
              <a:rPr lang="en-IN" sz="1800" dirty="0"/>
              <a:t> = new </a:t>
            </a:r>
            <a:r>
              <a:rPr lang="en-IN" sz="1800" dirty="0" err="1"/>
              <a:t>XMLHttpRequest</a:t>
            </a:r>
            <a:r>
              <a:rPr lang="en-IN" sz="1800" dirty="0"/>
              <a:t>();</a:t>
            </a:r>
          </a:p>
          <a:p>
            <a:r>
              <a:rPr lang="en-IN" sz="1800" dirty="0"/>
              <a:t>  </a:t>
            </a:r>
            <a:r>
              <a:rPr lang="en-IN" sz="1800" dirty="0" err="1"/>
              <a:t>xhttp.onreadystatechange</a:t>
            </a:r>
            <a:r>
              <a:rPr lang="en-IN" sz="1800" dirty="0"/>
              <a:t> = function() {</a:t>
            </a:r>
          </a:p>
          <a:p>
            <a:r>
              <a:rPr lang="en-IN" sz="1800" dirty="0"/>
              <a:t>    if (</a:t>
            </a:r>
            <a:r>
              <a:rPr lang="en-IN" sz="1800" dirty="0" err="1">
                <a:highlight>
                  <a:srgbClr val="FFFF00"/>
                </a:highlight>
              </a:rPr>
              <a:t>this.readyState</a:t>
            </a:r>
            <a:r>
              <a:rPr lang="en-IN" sz="1800" dirty="0">
                <a:highlight>
                  <a:srgbClr val="FFFF00"/>
                </a:highlight>
              </a:rPr>
              <a:t> == 4 &amp;&amp; </a:t>
            </a:r>
            <a:r>
              <a:rPr lang="en-IN" sz="1800" dirty="0" err="1">
                <a:highlight>
                  <a:srgbClr val="FFFF00"/>
                </a:highlight>
              </a:rPr>
              <a:t>this.status</a:t>
            </a:r>
            <a:r>
              <a:rPr lang="en-IN" sz="1800" dirty="0">
                <a:highlight>
                  <a:srgbClr val="FFFF00"/>
                </a:highlight>
              </a:rPr>
              <a:t> == 200</a:t>
            </a:r>
            <a:r>
              <a:rPr lang="en-IN" sz="1800" dirty="0"/>
              <a:t>) {</a:t>
            </a:r>
          </a:p>
          <a:p>
            <a:r>
              <a:rPr lang="en-IN" sz="1800" dirty="0"/>
              <a:t>      </a:t>
            </a:r>
            <a:r>
              <a:rPr lang="en-IN" sz="1800" dirty="0" err="1"/>
              <a:t>document.getElementById</a:t>
            </a:r>
            <a:r>
              <a:rPr lang="en-IN" sz="1800" dirty="0"/>
              <a:t>("demo").</a:t>
            </a:r>
            <a:r>
              <a:rPr lang="en-IN" sz="1800" dirty="0" err="1"/>
              <a:t>innerHTML</a:t>
            </a:r>
            <a:r>
              <a:rPr lang="en-IN" sz="1800" dirty="0"/>
              <a:t> =</a:t>
            </a:r>
          </a:p>
          <a:p>
            <a:r>
              <a:rPr lang="en-IN" sz="1800" dirty="0"/>
              <a:t>      </a:t>
            </a:r>
            <a:r>
              <a:rPr lang="en-IN" sz="1800" dirty="0" err="1"/>
              <a:t>this.responseText</a:t>
            </a:r>
            <a:r>
              <a:rPr lang="en-IN" sz="1800" dirty="0"/>
              <a:t>;</a:t>
            </a:r>
          </a:p>
          <a:p>
            <a:r>
              <a:rPr lang="en-IN" sz="1800" dirty="0"/>
              <a:t>    }</a:t>
            </a:r>
          </a:p>
          <a:p>
            <a:r>
              <a:rPr lang="en-IN" sz="1800" dirty="0"/>
              <a:t>  };</a:t>
            </a:r>
          </a:p>
          <a:p>
            <a:r>
              <a:rPr lang="en-IN" sz="1800" dirty="0"/>
              <a:t>  </a:t>
            </a:r>
            <a:r>
              <a:rPr lang="en-IN" sz="1800" dirty="0" err="1"/>
              <a:t>xhttp.open</a:t>
            </a:r>
            <a:r>
              <a:rPr lang="en-IN" sz="1800" dirty="0"/>
              <a:t>("GET", "ajax_info.txt", true);</a:t>
            </a:r>
          </a:p>
          <a:p>
            <a:r>
              <a:rPr lang="en-IN" sz="1800" dirty="0"/>
              <a:t>  </a:t>
            </a:r>
            <a:r>
              <a:rPr lang="en-IN" sz="1800" dirty="0" err="1"/>
              <a:t>xhttp.send</a:t>
            </a:r>
            <a:r>
              <a:rPr lang="en-IN" sz="1800" dirty="0"/>
              <a:t>();</a:t>
            </a:r>
          </a:p>
          <a:p>
            <a:r>
              <a:rPr lang="en-IN" sz="1800" dirty="0"/>
              <a:t>}</a:t>
            </a:r>
          </a:p>
          <a:p>
            <a:r>
              <a:rPr lang="en-IN" sz="1800" dirty="0"/>
              <a:t>&lt;/script&gt;</a:t>
            </a:r>
          </a:p>
        </p:txBody>
      </p:sp>
      <p:sp>
        <p:nvSpPr>
          <p:cNvPr id="6" name="Slide Number Placeholder 5">
            <a:extLst>
              <a:ext uri="{FF2B5EF4-FFF2-40B4-BE49-F238E27FC236}">
                <a16:creationId xmlns="" xmlns:a16="http://schemas.microsoft.com/office/drawing/2014/main" id="{D61AC0A0-48FB-75FB-3973-14CB8E55FE1F}"/>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83</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408621337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862D68A-C06E-300D-3C4E-C72D17F4E65E}"/>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BB4002A1-86FA-7B59-D36D-B65C8A300B8B}"/>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XML</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89DE3636-5679-87C2-1E9A-D7665AE51BAE}"/>
              </a:ext>
            </a:extLst>
          </p:cNvPr>
          <p:cNvSpPr/>
          <p:nvPr/>
        </p:nvSpPr>
        <p:spPr>
          <a:xfrm>
            <a:off x="776536" y="1124744"/>
            <a:ext cx="8424936" cy="830997"/>
          </a:xfrm>
          <a:prstGeom prst="rect">
            <a:avLst/>
          </a:prstGeom>
        </p:spPr>
        <p:txBody>
          <a:bodyPr wrap="square">
            <a:spAutoFit/>
          </a:bodyPr>
          <a:lstStyle/>
          <a:p>
            <a:r>
              <a:rPr lang="en-US" sz="2400" dirty="0"/>
              <a:t>AJAX can be used for interactive communication with an XML file.</a:t>
            </a:r>
          </a:p>
        </p:txBody>
      </p:sp>
      <p:sp>
        <p:nvSpPr>
          <p:cNvPr id="6" name="TextBox 5">
            <a:extLst>
              <a:ext uri="{FF2B5EF4-FFF2-40B4-BE49-F238E27FC236}">
                <a16:creationId xmlns="" xmlns:a16="http://schemas.microsoft.com/office/drawing/2014/main" id="{BFC222F4-9A7F-E196-9CA6-A8CCA64939F1}"/>
              </a:ext>
            </a:extLst>
          </p:cNvPr>
          <p:cNvSpPr txBox="1"/>
          <p:nvPr/>
        </p:nvSpPr>
        <p:spPr>
          <a:xfrm>
            <a:off x="6249144" y="1395368"/>
            <a:ext cx="3475710" cy="5478423"/>
          </a:xfrm>
          <a:prstGeom prst="rect">
            <a:avLst/>
          </a:prstGeom>
          <a:noFill/>
        </p:spPr>
        <p:txBody>
          <a:bodyPr wrap="square">
            <a:spAutoFit/>
          </a:bodyPr>
          <a:lstStyle/>
          <a:p>
            <a:endParaRPr lang="en-IN" sz="1400" dirty="0"/>
          </a:p>
          <a:p>
            <a:r>
              <a:rPr lang="en-IN" sz="1400" dirty="0"/>
              <a:t>function </a:t>
            </a:r>
            <a:r>
              <a:rPr lang="en-IN" sz="1400" dirty="0" err="1">
                <a:highlight>
                  <a:srgbClr val="FFFF00"/>
                </a:highlight>
              </a:rPr>
              <a:t>myFunction</a:t>
            </a:r>
            <a:r>
              <a:rPr lang="en-IN" sz="1400" dirty="0">
                <a:highlight>
                  <a:srgbClr val="FFFF00"/>
                </a:highlight>
              </a:rPr>
              <a:t>(xml) </a:t>
            </a:r>
            <a:r>
              <a:rPr lang="en-IN" sz="1400" dirty="0"/>
              <a:t>{</a:t>
            </a:r>
          </a:p>
          <a:p>
            <a:r>
              <a:rPr lang="en-IN" sz="1400" dirty="0"/>
              <a:t>  var i;</a:t>
            </a:r>
          </a:p>
          <a:p>
            <a:r>
              <a:rPr lang="en-IN" sz="1400" dirty="0"/>
              <a:t>  var </a:t>
            </a:r>
            <a:r>
              <a:rPr lang="en-IN" sz="1400" dirty="0" err="1"/>
              <a:t>xmlDoc</a:t>
            </a:r>
            <a:r>
              <a:rPr lang="en-IN" sz="1400" dirty="0"/>
              <a:t> = </a:t>
            </a:r>
            <a:r>
              <a:rPr lang="en-IN" sz="1400" dirty="0" err="1"/>
              <a:t>xml.responseXML</a:t>
            </a:r>
            <a:r>
              <a:rPr lang="en-IN" sz="1400" dirty="0"/>
              <a:t>;</a:t>
            </a:r>
          </a:p>
          <a:p>
            <a:r>
              <a:rPr lang="en-IN" sz="1400" dirty="0"/>
              <a:t>  var table="&lt;tr&gt;&lt;</a:t>
            </a:r>
            <a:r>
              <a:rPr lang="en-IN" sz="1400" dirty="0" err="1"/>
              <a:t>th</a:t>
            </a:r>
            <a:r>
              <a:rPr lang="en-IN" sz="1400" dirty="0"/>
              <a:t>&gt;Artist&lt;/</a:t>
            </a:r>
            <a:r>
              <a:rPr lang="en-IN" sz="1400" dirty="0" err="1"/>
              <a:t>th</a:t>
            </a:r>
            <a:r>
              <a:rPr lang="en-IN" sz="1400" dirty="0"/>
              <a:t>&gt;&lt;</a:t>
            </a:r>
            <a:r>
              <a:rPr lang="en-IN" sz="1400" dirty="0" err="1"/>
              <a:t>th</a:t>
            </a:r>
            <a:r>
              <a:rPr lang="en-IN" sz="1400" dirty="0"/>
              <a:t>&gt;Title&lt;/</a:t>
            </a:r>
            <a:r>
              <a:rPr lang="en-IN" sz="1400" dirty="0" err="1"/>
              <a:t>th</a:t>
            </a:r>
            <a:r>
              <a:rPr lang="en-IN" sz="1400" dirty="0"/>
              <a:t>&gt;&lt;/tr&gt;";</a:t>
            </a:r>
          </a:p>
          <a:p>
            <a:r>
              <a:rPr lang="en-IN" sz="1400" dirty="0"/>
              <a:t>  var x = </a:t>
            </a:r>
            <a:r>
              <a:rPr lang="en-IN" sz="1400" dirty="0" err="1"/>
              <a:t>xmlDoc.getElementsByTagName</a:t>
            </a:r>
            <a:r>
              <a:rPr lang="en-IN" sz="1400" dirty="0"/>
              <a:t>("CD");</a:t>
            </a:r>
          </a:p>
          <a:p>
            <a:r>
              <a:rPr lang="en-IN" sz="1400" dirty="0"/>
              <a:t>  for (i = 0; i &lt;</a:t>
            </a:r>
            <a:r>
              <a:rPr lang="en-IN" sz="1400" dirty="0" err="1"/>
              <a:t>x.length</a:t>
            </a:r>
            <a:r>
              <a:rPr lang="en-IN" sz="1400" dirty="0"/>
              <a:t>; i++) { </a:t>
            </a:r>
          </a:p>
          <a:p>
            <a:r>
              <a:rPr lang="en-IN" sz="1400" dirty="0"/>
              <a:t>    table += "&lt;tr&gt;&lt;td&gt;" +</a:t>
            </a:r>
          </a:p>
          <a:p>
            <a:r>
              <a:rPr lang="en-IN" sz="1400" dirty="0"/>
              <a:t>    x[i].</a:t>
            </a:r>
            <a:r>
              <a:rPr lang="en-IN" sz="1400" dirty="0" err="1"/>
              <a:t>getElementsByTagName</a:t>
            </a:r>
            <a:r>
              <a:rPr lang="en-IN" sz="1400" dirty="0"/>
              <a:t>("ARTIST")[0].</a:t>
            </a:r>
            <a:r>
              <a:rPr lang="en-IN" sz="1400" dirty="0" err="1"/>
              <a:t>childNodes</a:t>
            </a:r>
            <a:r>
              <a:rPr lang="en-IN" sz="1400" dirty="0"/>
              <a:t>[0].</a:t>
            </a:r>
            <a:r>
              <a:rPr lang="en-IN" sz="1400" dirty="0" err="1"/>
              <a:t>nodeValue</a:t>
            </a:r>
            <a:r>
              <a:rPr lang="en-IN" sz="1400" dirty="0"/>
              <a:t> +</a:t>
            </a:r>
          </a:p>
          <a:p>
            <a:r>
              <a:rPr lang="en-IN" sz="1400" dirty="0"/>
              <a:t>    "&lt;/td&gt;&lt;td&gt;" +</a:t>
            </a:r>
          </a:p>
          <a:p>
            <a:r>
              <a:rPr lang="en-IN" sz="1400" dirty="0"/>
              <a:t>x[i].</a:t>
            </a:r>
            <a:r>
              <a:rPr lang="en-IN" sz="1400" dirty="0" err="1"/>
              <a:t>getElementsByTagName</a:t>
            </a:r>
            <a:r>
              <a:rPr lang="en-IN" sz="1400" dirty="0"/>
              <a:t>("TITLE")[0].</a:t>
            </a:r>
            <a:r>
              <a:rPr lang="en-IN" sz="1400" dirty="0" err="1"/>
              <a:t>childNodes</a:t>
            </a:r>
            <a:r>
              <a:rPr lang="en-IN" sz="1400" dirty="0"/>
              <a:t>[0].</a:t>
            </a:r>
            <a:r>
              <a:rPr lang="en-IN" sz="1400" dirty="0" err="1"/>
              <a:t>nodeValue</a:t>
            </a:r>
            <a:r>
              <a:rPr lang="en-IN" sz="1400" dirty="0"/>
              <a:t> +</a:t>
            </a:r>
          </a:p>
          <a:p>
            <a:r>
              <a:rPr lang="en-IN" sz="1400" dirty="0"/>
              <a:t>    "&lt;/td&gt;&lt;/tr&gt;";</a:t>
            </a:r>
          </a:p>
          <a:p>
            <a:r>
              <a:rPr lang="en-IN" sz="1400" dirty="0"/>
              <a:t>  }</a:t>
            </a:r>
          </a:p>
          <a:p>
            <a:r>
              <a:rPr lang="en-IN" sz="1400" dirty="0" err="1"/>
              <a:t>document.getElementById</a:t>
            </a:r>
            <a:r>
              <a:rPr lang="en-IN" sz="1400" dirty="0"/>
              <a:t>("demo").</a:t>
            </a:r>
            <a:r>
              <a:rPr lang="en-IN" sz="1400" dirty="0" err="1"/>
              <a:t>innerHTML</a:t>
            </a:r>
            <a:r>
              <a:rPr lang="en-IN" sz="1400" dirty="0"/>
              <a:t> = table;</a:t>
            </a:r>
          </a:p>
          <a:p>
            <a:r>
              <a:rPr lang="en-IN" sz="1400" dirty="0"/>
              <a:t>}</a:t>
            </a:r>
          </a:p>
          <a:p>
            <a:r>
              <a:rPr lang="en-IN" sz="1400" dirty="0"/>
              <a:t>&lt;/script&gt;</a:t>
            </a:r>
          </a:p>
          <a:p>
            <a:r>
              <a:rPr lang="en-IN" sz="1400" dirty="0"/>
              <a:t>&lt;/body&gt;</a:t>
            </a:r>
          </a:p>
          <a:p>
            <a:r>
              <a:rPr lang="en-IN" sz="1400" dirty="0"/>
              <a:t>&lt;/html&gt;</a:t>
            </a:r>
          </a:p>
        </p:txBody>
      </p:sp>
      <p:sp>
        <p:nvSpPr>
          <p:cNvPr id="8" name="TextBox 7">
            <a:extLst>
              <a:ext uri="{FF2B5EF4-FFF2-40B4-BE49-F238E27FC236}">
                <a16:creationId xmlns="" xmlns:a16="http://schemas.microsoft.com/office/drawing/2014/main" id="{AC8783CC-9D9A-5117-FBA0-3FB461D9A4EE}"/>
              </a:ext>
            </a:extLst>
          </p:cNvPr>
          <p:cNvSpPr txBox="1"/>
          <p:nvPr/>
        </p:nvSpPr>
        <p:spPr>
          <a:xfrm>
            <a:off x="325162" y="1853658"/>
            <a:ext cx="3475710" cy="4401205"/>
          </a:xfrm>
          <a:prstGeom prst="rect">
            <a:avLst/>
          </a:prstGeom>
          <a:noFill/>
        </p:spPr>
        <p:txBody>
          <a:bodyPr wrap="square">
            <a:spAutoFit/>
          </a:bodyPr>
          <a:lstStyle/>
          <a:p>
            <a:r>
              <a:rPr lang="en-IN" sz="1400" dirty="0"/>
              <a:t>&lt;!DOCTYPE html&gt;</a:t>
            </a:r>
          </a:p>
          <a:p>
            <a:r>
              <a:rPr lang="en-IN" sz="1400" dirty="0"/>
              <a:t>&lt;html&gt;</a:t>
            </a:r>
          </a:p>
          <a:p>
            <a:r>
              <a:rPr lang="en-IN" sz="1400" dirty="0"/>
              <a:t>&lt;style&gt;</a:t>
            </a:r>
          </a:p>
          <a:p>
            <a:r>
              <a:rPr lang="en-IN" sz="1400" dirty="0" err="1"/>
              <a:t>table,th,td</a:t>
            </a:r>
            <a:r>
              <a:rPr lang="en-IN" sz="1400" dirty="0"/>
              <a:t> {</a:t>
            </a:r>
          </a:p>
          <a:p>
            <a:r>
              <a:rPr lang="en-IN" sz="1400" dirty="0"/>
              <a:t>  border : 1px solid black;</a:t>
            </a:r>
          </a:p>
          <a:p>
            <a:r>
              <a:rPr lang="en-IN" sz="1400" dirty="0"/>
              <a:t>  border-collapse: collapse;</a:t>
            </a:r>
          </a:p>
          <a:p>
            <a:r>
              <a:rPr lang="en-IN" sz="1400" dirty="0"/>
              <a:t>}</a:t>
            </a:r>
          </a:p>
          <a:p>
            <a:r>
              <a:rPr lang="en-IN" sz="1400" dirty="0" err="1"/>
              <a:t>th,td</a:t>
            </a:r>
            <a:r>
              <a:rPr lang="en-IN" sz="1400" dirty="0"/>
              <a:t> {</a:t>
            </a:r>
          </a:p>
          <a:p>
            <a:r>
              <a:rPr lang="en-IN" sz="1400" dirty="0"/>
              <a:t>  padding: 5px;</a:t>
            </a:r>
          </a:p>
          <a:p>
            <a:r>
              <a:rPr lang="en-IN" sz="1400" dirty="0"/>
              <a:t>}</a:t>
            </a:r>
          </a:p>
          <a:p>
            <a:r>
              <a:rPr lang="en-IN" sz="1400" dirty="0"/>
              <a:t>&lt;/style&gt;</a:t>
            </a:r>
          </a:p>
          <a:p>
            <a:r>
              <a:rPr lang="en-IN" sz="1400" dirty="0"/>
              <a:t>&lt;body&gt;</a:t>
            </a:r>
          </a:p>
          <a:p>
            <a:endParaRPr lang="en-IN" sz="1400" dirty="0"/>
          </a:p>
          <a:p>
            <a:r>
              <a:rPr lang="en-IN" sz="1400" dirty="0"/>
              <a:t>&lt;h1&gt;The </a:t>
            </a:r>
            <a:r>
              <a:rPr lang="en-IN" sz="1400" dirty="0" err="1"/>
              <a:t>XMLHttpRequest</a:t>
            </a:r>
            <a:r>
              <a:rPr lang="en-IN" sz="1400" dirty="0"/>
              <a:t> Object&lt;/h1&gt;</a:t>
            </a:r>
          </a:p>
          <a:p>
            <a:endParaRPr lang="en-IN" sz="1400" dirty="0"/>
          </a:p>
          <a:p>
            <a:r>
              <a:rPr lang="en-IN" sz="1400" dirty="0"/>
              <a:t>&lt;</a:t>
            </a:r>
            <a:r>
              <a:rPr lang="en-IN" sz="1400" dirty="0">
                <a:highlight>
                  <a:srgbClr val="FFFF00"/>
                </a:highlight>
              </a:rPr>
              <a:t>button type="button" onclick="</a:t>
            </a:r>
            <a:r>
              <a:rPr lang="en-IN" sz="1400" dirty="0" err="1">
                <a:highlight>
                  <a:srgbClr val="FFFF00"/>
                </a:highlight>
              </a:rPr>
              <a:t>loadDoc</a:t>
            </a:r>
            <a:r>
              <a:rPr lang="en-IN" sz="1400" dirty="0">
                <a:highlight>
                  <a:srgbClr val="FFFF00"/>
                </a:highlight>
              </a:rPr>
              <a:t>()"&gt;</a:t>
            </a:r>
            <a:r>
              <a:rPr lang="en-IN" sz="1400" dirty="0"/>
              <a:t>Get my CD collection&lt;/button&gt;</a:t>
            </a:r>
          </a:p>
          <a:p>
            <a:r>
              <a:rPr lang="en-IN" sz="1400" dirty="0"/>
              <a:t>&lt;</a:t>
            </a:r>
            <a:r>
              <a:rPr lang="en-IN" sz="1400" dirty="0" err="1"/>
              <a:t>br</a:t>
            </a:r>
            <a:r>
              <a:rPr lang="en-IN" sz="1400" dirty="0"/>
              <a:t>&gt;&lt;</a:t>
            </a:r>
            <a:r>
              <a:rPr lang="en-IN" sz="1400" dirty="0" err="1"/>
              <a:t>br</a:t>
            </a:r>
            <a:r>
              <a:rPr lang="en-IN" sz="1400" dirty="0"/>
              <a:t>&gt;</a:t>
            </a:r>
          </a:p>
          <a:p>
            <a:r>
              <a:rPr lang="en-IN" sz="1400" dirty="0"/>
              <a:t>&lt;table id="demo"&gt;&lt;/table&gt;</a:t>
            </a:r>
          </a:p>
        </p:txBody>
      </p:sp>
      <p:sp>
        <p:nvSpPr>
          <p:cNvPr id="10" name="TextBox 9">
            <a:extLst>
              <a:ext uri="{FF2B5EF4-FFF2-40B4-BE49-F238E27FC236}">
                <a16:creationId xmlns="" xmlns:a16="http://schemas.microsoft.com/office/drawing/2014/main" id="{0FBF9D26-4A91-4F29-7B6F-679ED68CF346}"/>
              </a:ext>
            </a:extLst>
          </p:cNvPr>
          <p:cNvSpPr txBox="1"/>
          <p:nvPr/>
        </p:nvSpPr>
        <p:spPr>
          <a:xfrm>
            <a:off x="3656856" y="1859339"/>
            <a:ext cx="2880320" cy="3323987"/>
          </a:xfrm>
          <a:prstGeom prst="rect">
            <a:avLst/>
          </a:prstGeom>
          <a:noFill/>
        </p:spPr>
        <p:txBody>
          <a:bodyPr wrap="square">
            <a:spAutoFit/>
          </a:bodyPr>
          <a:lstStyle/>
          <a:p>
            <a:r>
              <a:rPr lang="en-IN" sz="1400" dirty="0"/>
              <a:t>&lt;script&gt;</a:t>
            </a:r>
          </a:p>
          <a:p>
            <a:r>
              <a:rPr lang="en-IN" sz="1400" dirty="0">
                <a:highlight>
                  <a:srgbClr val="FFFF00"/>
                </a:highlight>
              </a:rPr>
              <a:t>function </a:t>
            </a:r>
            <a:r>
              <a:rPr lang="en-IN" sz="1400" dirty="0" err="1">
                <a:highlight>
                  <a:srgbClr val="FFFF00"/>
                </a:highlight>
              </a:rPr>
              <a:t>loadDoc</a:t>
            </a:r>
            <a:r>
              <a:rPr lang="en-IN" sz="1400" dirty="0"/>
              <a:t>() {</a:t>
            </a:r>
          </a:p>
          <a:p>
            <a:r>
              <a:rPr lang="en-IN" sz="1400" dirty="0"/>
              <a:t>  var </a:t>
            </a:r>
            <a:r>
              <a:rPr lang="en-IN" sz="1400" dirty="0" err="1"/>
              <a:t>xhttp</a:t>
            </a:r>
            <a:r>
              <a:rPr lang="en-IN" sz="1400" dirty="0"/>
              <a:t> = new </a:t>
            </a:r>
            <a:r>
              <a:rPr lang="en-IN" sz="1400" dirty="0" err="1"/>
              <a:t>XMLHttpRequest</a:t>
            </a:r>
            <a:r>
              <a:rPr lang="en-IN" sz="1400" dirty="0"/>
              <a:t>();</a:t>
            </a:r>
          </a:p>
          <a:p>
            <a:r>
              <a:rPr lang="en-IN" sz="1400" dirty="0"/>
              <a:t>  </a:t>
            </a:r>
            <a:r>
              <a:rPr lang="en-IN" sz="1400" dirty="0" err="1"/>
              <a:t>xhttp.onreadystatechange</a:t>
            </a:r>
            <a:r>
              <a:rPr lang="en-IN" sz="1400" dirty="0"/>
              <a:t> = function() {</a:t>
            </a:r>
          </a:p>
          <a:p>
            <a:r>
              <a:rPr lang="en-IN" sz="1400" dirty="0"/>
              <a:t>    if (</a:t>
            </a:r>
            <a:r>
              <a:rPr lang="en-IN" sz="1400" dirty="0" err="1"/>
              <a:t>this.readyState</a:t>
            </a:r>
            <a:r>
              <a:rPr lang="en-IN" sz="1400" dirty="0"/>
              <a:t> == 4 &amp;&amp; </a:t>
            </a:r>
            <a:r>
              <a:rPr lang="en-IN" sz="1400" dirty="0" err="1"/>
              <a:t>this.status</a:t>
            </a:r>
            <a:r>
              <a:rPr lang="en-IN" sz="1400" dirty="0"/>
              <a:t> == 200) {</a:t>
            </a:r>
          </a:p>
          <a:p>
            <a:r>
              <a:rPr lang="en-IN" sz="1400" dirty="0"/>
              <a:t>      </a:t>
            </a:r>
            <a:r>
              <a:rPr lang="en-IN" sz="1400" dirty="0" err="1">
                <a:highlight>
                  <a:srgbClr val="FFFF00"/>
                </a:highlight>
              </a:rPr>
              <a:t>myFunction</a:t>
            </a:r>
            <a:r>
              <a:rPr lang="en-IN" sz="1400" dirty="0">
                <a:highlight>
                  <a:srgbClr val="FFFF00"/>
                </a:highlight>
              </a:rPr>
              <a:t>(this);</a:t>
            </a:r>
          </a:p>
          <a:p>
            <a:r>
              <a:rPr lang="en-IN" sz="1400" dirty="0"/>
              <a:t>    }</a:t>
            </a:r>
          </a:p>
          <a:p>
            <a:r>
              <a:rPr lang="en-IN" sz="1400" dirty="0"/>
              <a:t>  };</a:t>
            </a:r>
          </a:p>
          <a:p>
            <a:r>
              <a:rPr lang="en-IN" sz="1400" dirty="0"/>
              <a:t>  </a:t>
            </a:r>
            <a:r>
              <a:rPr lang="en-IN" sz="1400" dirty="0" err="1">
                <a:highlight>
                  <a:srgbClr val="FFFF00"/>
                </a:highlight>
              </a:rPr>
              <a:t>xhttp.open</a:t>
            </a:r>
            <a:r>
              <a:rPr lang="en-IN" sz="1400" dirty="0">
                <a:highlight>
                  <a:srgbClr val="FFFF00"/>
                </a:highlight>
              </a:rPr>
              <a:t>("GET", "cd_catalog.xml", true);</a:t>
            </a:r>
          </a:p>
          <a:p>
            <a:r>
              <a:rPr lang="en-IN" sz="1400" dirty="0">
                <a:highlight>
                  <a:srgbClr val="FFFF00"/>
                </a:highlight>
              </a:rPr>
              <a:t>  </a:t>
            </a:r>
            <a:r>
              <a:rPr lang="en-IN" sz="1400" dirty="0" err="1">
                <a:highlight>
                  <a:srgbClr val="FFFF00"/>
                </a:highlight>
              </a:rPr>
              <a:t>xhttp.send</a:t>
            </a:r>
            <a:r>
              <a:rPr lang="en-IN" sz="1400" dirty="0">
                <a:highlight>
                  <a:srgbClr val="FFFF00"/>
                </a:highlight>
              </a:rPr>
              <a:t>();</a:t>
            </a:r>
          </a:p>
          <a:p>
            <a:r>
              <a:rPr lang="en-IN" sz="1400" dirty="0"/>
              <a:t>}</a:t>
            </a:r>
          </a:p>
        </p:txBody>
      </p:sp>
      <p:sp>
        <p:nvSpPr>
          <p:cNvPr id="11" name="Slide Number Placeholder 10">
            <a:extLst>
              <a:ext uri="{FF2B5EF4-FFF2-40B4-BE49-F238E27FC236}">
                <a16:creationId xmlns="" xmlns:a16="http://schemas.microsoft.com/office/drawing/2014/main" id="{0CF0DD5A-94CF-0C35-AA83-82C4B11F5AE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84</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94348966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72C1F5-65AD-20EE-493B-3FD64C32176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0D4CF8D9-E883-38AB-FB6F-B8A835BA2FF6}"/>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XML</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FAC1D44D-8AD6-CDD4-2FAF-5C1E949E20D5}"/>
              </a:ext>
            </a:extLst>
          </p:cNvPr>
          <p:cNvSpPr/>
          <p:nvPr/>
        </p:nvSpPr>
        <p:spPr>
          <a:xfrm>
            <a:off x="776536" y="1124744"/>
            <a:ext cx="8424936" cy="4154984"/>
          </a:xfrm>
          <a:prstGeom prst="rect">
            <a:avLst/>
          </a:prstGeom>
        </p:spPr>
        <p:txBody>
          <a:bodyPr wrap="square">
            <a:spAutoFit/>
          </a:bodyPr>
          <a:lstStyle/>
          <a:p>
            <a:pPr algn="just"/>
            <a:r>
              <a:rPr lang="en-US" sz="2400" dirty="0"/>
              <a:t>For the previous example,</a:t>
            </a:r>
          </a:p>
          <a:p>
            <a:pPr marL="342900" indent="-342900" algn="just">
              <a:buFont typeface="Arial" panose="020B0604020202020204" pitchFamily="34" charset="0"/>
              <a:buChar char="•"/>
            </a:pPr>
            <a:r>
              <a:rPr lang="en-US" sz="2400" dirty="0"/>
              <a:t>When a user clicks on the "Get CD info" button above, the </a:t>
            </a:r>
            <a:r>
              <a:rPr lang="en-US" sz="2400" dirty="0" err="1"/>
              <a:t>loadDoc</a:t>
            </a:r>
            <a:r>
              <a:rPr lang="en-US" sz="2400" dirty="0"/>
              <a:t>() function is executed.</a:t>
            </a:r>
          </a:p>
          <a:p>
            <a:pPr marL="342900" indent="-342900" algn="just">
              <a:buFont typeface="Arial" panose="020B0604020202020204" pitchFamily="34" charset="0"/>
              <a:buChar char="•"/>
            </a:pPr>
            <a:r>
              <a:rPr lang="en-US" sz="2400" dirty="0"/>
              <a:t>The </a:t>
            </a:r>
            <a:r>
              <a:rPr lang="en-US" sz="2400" dirty="0" err="1"/>
              <a:t>loadDoc</a:t>
            </a:r>
            <a:r>
              <a:rPr lang="en-US" sz="2400" dirty="0"/>
              <a:t>() function creates an </a:t>
            </a:r>
            <a:r>
              <a:rPr lang="en-US" sz="2400" dirty="0" err="1"/>
              <a:t>XMLHttpRequest</a:t>
            </a:r>
            <a:r>
              <a:rPr lang="en-US" sz="2400" dirty="0"/>
              <a:t> object, adds the function to be executed when the server response is ready, and sends the request off to the server.</a:t>
            </a:r>
          </a:p>
          <a:p>
            <a:pPr marL="342900" indent="-342900" algn="just">
              <a:buFont typeface="Arial" panose="020B0604020202020204" pitchFamily="34" charset="0"/>
              <a:buChar char="•"/>
            </a:pPr>
            <a:r>
              <a:rPr lang="en-US" sz="2400" dirty="0"/>
              <a:t>When the server response is ready, an HTML table is built, nodes (elements) are extracted from the XML file, and it finally updates the element "demo" with the HTML table filled with XML data:</a:t>
            </a:r>
          </a:p>
          <a:p>
            <a:pPr algn="just"/>
            <a:endParaRPr lang="en-US" sz="2400" dirty="0"/>
          </a:p>
        </p:txBody>
      </p:sp>
      <p:sp>
        <p:nvSpPr>
          <p:cNvPr id="3" name="Slide Number Placeholder 2">
            <a:extLst>
              <a:ext uri="{FF2B5EF4-FFF2-40B4-BE49-F238E27FC236}">
                <a16:creationId xmlns="" xmlns:a16="http://schemas.microsoft.com/office/drawing/2014/main" id="{FBFBA1F6-947F-D552-7DB6-35016E484F30}"/>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85</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1349529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236CFD-5B5E-C5C2-22D2-5F7B88C579B6}"/>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82A8AE71-6AEB-257A-4F8D-6F5C685B2570}"/>
              </a:ext>
            </a:extLst>
          </p:cNvPr>
          <p:cNvSpPr/>
          <p:nvPr/>
        </p:nvSpPr>
        <p:spPr>
          <a:xfrm>
            <a:off x="2289052" y="404664"/>
            <a:ext cx="504056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XML</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1C9A7D0F-2DED-753C-58EB-21B6EF9395F3}"/>
              </a:ext>
            </a:extLst>
          </p:cNvPr>
          <p:cNvSpPr/>
          <p:nvPr/>
        </p:nvSpPr>
        <p:spPr>
          <a:xfrm>
            <a:off x="776536" y="1124744"/>
            <a:ext cx="8424936" cy="830997"/>
          </a:xfrm>
          <a:prstGeom prst="rect">
            <a:avLst/>
          </a:prstGeom>
        </p:spPr>
        <p:txBody>
          <a:bodyPr wrap="square">
            <a:spAutoFit/>
          </a:bodyPr>
          <a:lstStyle/>
          <a:p>
            <a:pPr algn="just"/>
            <a:r>
              <a:rPr lang="en-US" sz="2400" dirty="0"/>
              <a:t>For the previous example, Result:</a:t>
            </a:r>
          </a:p>
          <a:p>
            <a:pPr algn="just"/>
            <a:endParaRPr lang="en-US" sz="2400" dirty="0"/>
          </a:p>
        </p:txBody>
      </p:sp>
      <p:pic>
        <p:nvPicPr>
          <p:cNvPr id="5" name="Picture 4">
            <a:extLst>
              <a:ext uri="{FF2B5EF4-FFF2-40B4-BE49-F238E27FC236}">
                <a16:creationId xmlns="" xmlns:a16="http://schemas.microsoft.com/office/drawing/2014/main" id="{1A5FC310-F4C5-91BB-F93D-8FB671D985CB}"/>
              </a:ext>
            </a:extLst>
          </p:cNvPr>
          <p:cNvPicPr>
            <a:picLocks noChangeAspect="1"/>
          </p:cNvPicPr>
          <p:nvPr/>
        </p:nvPicPr>
        <p:blipFill>
          <a:blip r:embed="rId2"/>
          <a:srcRect l="50000" t="28031" r="20923" b="4770"/>
          <a:stretch>
            <a:fillRect/>
          </a:stretch>
        </p:blipFill>
        <p:spPr>
          <a:xfrm>
            <a:off x="2864768" y="1628800"/>
            <a:ext cx="3456384" cy="4493299"/>
          </a:xfrm>
          <a:prstGeom prst="rect">
            <a:avLst/>
          </a:prstGeom>
        </p:spPr>
      </p:pic>
      <p:sp>
        <p:nvSpPr>
          <p:cNvPr id="6" name="Slide Number Placeholder 5">
            <a:extLst>
              <a:ext uri="{FF2B5EF4-FFF2-40B4-BE49-F238E27FC236}">
                <a16:creationId xmlns="" xmlns:a16="http://schemas.microsoft.com/office/drawing/2014/main" id="{1C8897C1-ACCE-BF8C-FBCF-A282736F956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86</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7579950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0A44A4-81DF-DD2D-E189-CD8CB2BFECC4}"/>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5DE1A2AB-359C-B382-7BE4-612392040045}"/>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6676AED6-41CE-5BBF-4B37-265443604DD8}"/>
              </a:ext>
            </a:extLst>
          </p:cNvPr>
          <p:cNvSpPr/>
          <p:nvPr/>
        </p:nvSpPr>
        <p:spPr>
          <a:xfrm>
            <a:off x="776536" y="1124744"/>
            <a:ext cx="8424936" cy="445583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t>jQuery provides several methods for AJAX functionality.</a:t>
            </a:r>
          </a:p>
          <a:p>
            <a:pPr marL="342900" indent="-342900" algn="just">
              <a:lnSpc>
                <a:spcPct val="150000"/>
              </a:lnSpc>
              <a:buFont typeface="Arial" panose="020B0604020202020204" pitchFamily="34" charset="0"/>
              <a:buChar char="•"/>
            </a:pPr>
            <a:r>
              <a:rPr lang="en-US" sz="2400" dirty="0"/>
              <a:t>With the jQuery AJAX methods, you can request text, HTML, XML, or JSON from a remote server using both HTTP Get and HTTP Post - And you can load the external data directly into the selected HTML elements of your web page!</a:t>
            </a:r>
          </a:p>
          <a:p>
            <a:pPr marL="342900" indent="-342900" algn="just">
              <a:lnSpc>
                <a:spcPct val="150000"/>
              </a:lnSpc>
              <a:buFont typeface="Arial" panose="020B0604020202020204" pitchFamily="34" charset="0"/>
              <a:buChar char="•"/>
            </a:pPr>
            <a:endParaRPr lang="en-US" sz="2400" dirty="0"/>
          </a:p>
          <a:p>
            <a:pPr marL="342900" indent="-342900" algn="just">
              <a:lnSpc>
                <a:spcPct val="150000"/>
              </a:lnSpc>
              <a:buFont typeface="Arial" panose="020B0604020202020204" pitchFamily="34" charset="0"/>
              <a:buChar char="•"/>
            </a:pPr>
            <a:endParaRPr lang="en-US" sz="2400" dirty="0"/>
          </a:p>
        </p:txBody>
      </p:sp>
      <p:sp>
        <p:nvSpPr>
          <p:cNvPr id="3" name="Slide Number Placeholder 2">
            <a:extLst>
              <a:ext uri="{FF2B5EF4-FFF2-40B4-BE49-F238E27FC236}">
                <a16:creationId xmlns="" xmlns:a16="http://schemas.microsoft.com/office/drawing/2014/main" id="{82D91985-7E4F-ED3A-C266-EE0FCF62C1B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87</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6452701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7D148B-F3E8-020D-482A-EE2F34759F8A}"/>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8535D8BE-CDDB-58DB-8FF5-EFE5930DE00F}"/>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60AADEF5-4F47-FCC6-49B1-CB7334D4A4EF}"/>
              </a:ext>
            </a:extLst>
          </p:cNvPr>
          <p:cNvSpPr/>
          <p:nvPr/>
        </p:nvSpPr>
        <p:spPr>
          <a:xfrm>
            <a:off x="488504" y="1124744"/>
            <a:ext cx="9001000" cy="5440720"/>
          </a:xfrm>
          <a:prstGeom prst="rect">
            <a:avLst/>
          </a:prstGeom>
        </p:spPr>
        <p:txBody>
          <a:bodyPr wrap="square">
            <a:spAutoFit/>
          </a:bodyPr>
          <a:lstStyle/>
          <a:p>
            <a:r>
              <a:rPr lang="en-IN" sz="2400" b="1" dirty="0">
                <a:solidFill>
                  <a:srgbClr val="C00000"/>
                </a:solidFill>
              </a:rPr>
              <a:t>jQuery - AJAX load() Method</a:t>
            </a:r>
          </a:p>
          <a:p>
            <a:pPr marL="342900" indent="-342900">
              <a:buFont typeface="Arial" panose="020B0604020202020204" pitchFamily="34" charset="0"/>
              <a:buChar char="•"/>
            </a:pPr>
            <a:r>
              <a:rPr lang="en-US" sz="2400" dirty="0"/>
              <a:t>The jQuery load() method is a simple, but powerful AJAX method.</a:t>
            </a:r>
          </a:p>
          <a:p>
            <a:pPr marL="342900" indent="-342900">
              <a:buFont typeface="Arial" panose="020B0604020202020204" pitchFamily="34" charset="0"/>
              <a:buChar char="•"/>
            </a:pPr>
            <a:r>
              <a:rPr lang="en-US" sz="2400" dirty="0"/>
              <a:t>The load() method loads data from a server and puts the returned data into the selected element.</a:t>
            </a:r>
          </a:p>
          <a:p>
            <a:r>
              <a:rPr lang="en-US" sz="2400" b="1" dirty="0"/>
              <a:t>Syntax:</a:t>
            </a:r>
            <a:endParaRPr lang="en-US" sz="2400" dirty="0"/>
          </a:p>
          <a:p>
            <a:pPr algn="just">
              <a:lnSpc>
                <a:spcPct val="150000"/>
              </a:lnSpc>
            </a:pPr>
            <a:r>
              <a:rPr lang="en-US" sz="2400" dirty="0"/>
              <a:t>	</a:t>
            </a:r>
            <a:r>
              <a:rPr lang="en-US" sz="2400" i="1" dirty="0">
                <a:highlight>
                  <a:srgbClr val="FFFF00"/>
                </a:highlight>
              </a:rPr>
              <a:t>$(selector).load(</a:t>
            </a:r>
            <a:r>
              <a:rPr lang="en-US" sz="2400" i="1" dirty="0" err="1">
                <a:highlight>
                  <a:srgbClr val="FFFF00"/>
                </a:highlight>
              </a:rPr>
              <a:t>URL,data,callback</a:t>
            </a:r>
            <a:r>
              <a:rPr lang="en-US" sz="2400" i="1" dirty="0">
                <a:highlight>
                  <a:srgbClr val="FFFF00"/>
                </a:highlight>
              </a:rPr>
              <a:t>);</a:t>
            </a:r>
          </a:p>
          <a:p>
            <a:pPr algn="just">
              <a:lnSpc>
                <a:spcPct val="150000"/>
              </a:lnSpc>
            </a:pPr>
            <a:endParaRPr lang="en-US" sz="2400" i="1" dirty="0">
              <a:highlight>
                <a:srgbClr val="FFFF00"/>
              </a:highlight>
            </a:endParaRPr>
          </a:p>
          <a:p>
            <a:pPr marL="800100" lvl="1" indent="-342900">
              <a:buFont typeface="Arial" panose="020B0604020202020204" pitchFamily="34" charset="0"/>
              <a:buChar char="•"/>
            </a:pPr>
            <a:r>
              <a:rPr lang="en-US" sz="2000" dirty="0"/>
              <a:t>The required URL parameter specifies the URL you wish to load.</a:t>
            </a:r>
          </a:p>
          <a:p>
            <a:pPr marL="800100" lvl="1" indent="-342900">
              <a:buFont typeface="Arial" panose="020B0604020202020204" pitchFamily="34" charset="0"/>
              <a:buChar char="•"/>
            </a:pPr>
            <a:r>
              <a:rPr lang="en-US" sz="2000" dirty="0"/>
              <a:t>The optional data parameter specifies a set of </a:t>
            </a:r>
            <a:r>
              <a:rPr lang="en-US" sz="2000" dirty="0" err="1"/>
              <a:t>querystring</a:t>
            </a:r>
            <a:r>
              <a:rPr lang="en-US" sz="2000" dirty="0"/>
              <a:t> key/value pairs to send along with the request.</a:t>
            </a:r>
          </a:p>
          <a:p>
            <a:pPr marL="800100" lvl="1" indent="-342900">
              <a:buFont typeface="Arial" panose="020B0604020202020204" pitchFamily="34" charset="0"/>
              <a:buChar char="•"/>
            </a:pPr>
            <a:r>
              <a:rPr lang="en-US" sz="2000" dirty="0"/>
              <a:t>The optional callback parameter is the name of a function to be executed after the load() method is completed.</a:t>
            </a:r>
          </a:p>
          <a:p>
            <a:pPr marL="342900" indent="-342900" algn="just">
              <a:lnSpc>
                <a:spcPct val="150000"/>
              </a:lnSpc>
              <a:buFont typeface="Arial" panose="020B0604020202020204" pitchFamily="34" charset="0"/>
              <a:buChar char="•"/>
            </a:pPr>
            <a:endParaRPr lang="en-US" sz="2400" dirty="0"/>
          </a:p>
        </p:txBody>
      </p:sp>
      <p:sp>
        <p:nvSpPr>
          <p:cNvPr id="3" name="Slide Number Placeholder 2">
            <a:extLst>
              <a:ext uri="{FF2B5EF4-FFF2-40B4-BE49-F238E27FC236}">
                <a16:creationId xmlns="" xmlns:a16="http://schemas.microsoft.com/office/drawing/2014/main" id="{9B3D47DE-F0CC-1291-D5DC-6980185B16B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88</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36437299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3026FCF-EC82-AF2F-6446-CC9CA84C3C1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F489AFE3-F2FA-33E6-E3D9-9E675A607EEF}"/>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20911763-3316-6A5F-E614-C4CA44B16772}"/>
              </a:ext>
            </a:extLst>
          </p:cNvPr>
          <p:cNvSpPr/>
          <p:nvPr/>
        </p:nvSpPr>
        <p:spPr>
          <a:xfrm>
            <a:off x="488504" y="1124744"/>
            <a:ext cx="9001000" cy="4524315"/>
          </a:xfrm>
          <a:prstGeom prst="rect">
            <a:avLst/>
          </a:prstGeom>
        </p:spPr>
        <p:txBody>
          <a:bodyPr wrap="square">
            <a:spAutoFit/>
          </a:bodyPr>
          <a:lstStyle/>
          <a:p>
            <a:pPr marL="342900" indent="-342900">
              <a:buFont typeface="Arial" panose="020B0604020202020204" pitchFamily="34" charset="0"/>
              <a:buChar char="•"/>
            </a:pPr>
            <a:r>
              <a:rPr lang="en-US" sz="2400" dirty="0"/>
              <a:t>example loads the content of the file "demo_test.txt" into a specific &lt;div&gt; element:</a:t>
            </a:r>
          </a:p>
          <a:p>
            <a:pPr marL="342900" indent="-342900">
              <a:buFont typeface="Arial" panose="020B0604020202020204" pitchFamily="34" charset="0"/>
              <a:buChar char="•"/>
            </a:pPr>
            <a:endParaRPr lang="en-US" sz="2400" dirty="0"/>
          </a:p>
          <a:p>
            <a:r>
              <a:rPr lang="en-IN" sz="2400" dirty="0"/>
              <a:t>		</a:t>
            </a:r>
            <a:r>
              <a:rPr lang="en-IN" sz="2400" b="1" i="1" dirty="0">
                <a:solidFill>
                  <a:srgbClr val="C00000"/>
                </a:solidFill>
              </a:rPr>
              <a:t>$("#div1").load("demo_test.txt");</a:t>
            </a:r>
          </a:p>
          <a:p>
            <a:pPr marL="342900" indent="-342900">
              <a:buFont typeface="Arial" panose="020B0604020202020204" pitchFamily="34" charset="0"/>
              <a:buChar char="•"/>
            </a:pPr>
            <a:r>
              <a:rPr lang="en-US" sz="2400" dirty="0"/>
              <a:t>The optional callback parameter specifies a callback function to run when the load() method is completed. The callback function can have different parameters:</a:t>
            </a:r>
          </a:p>
          <a:p>
            <a:pPr marL="800100" lvl="1" indent="-342900">
              <a:buFont typeface="Arial" panose="020B0604020202020204" pitchFamily="34" charset="0"/>
              <a:buChar char="•"/>
            </a:pPr>
            <a:r>
              <a:rPr lang="en-US" sz="2400" b="1" dirty="0" err="1"/>
              <a:t>responseTxt</a:t>
            </a:r>
            <a:r>
              <a:rPr lang="en-US" sz="2400" dirty="0"/>
              <a:t> - contains the resulting content if the call succeeds</a:t>
            </a:r>
          </a:p>
          <a:p>
            <a:pPr marL="800100" lvl="1" indent="-342900">
              <a:buFont typeface="Arial" panose="020B0604020202020204" pitchFamily="34" charset="0"/>
              <a:buChar char="•"/>
            </a:pPr>
            <a:r>
              <a:rPr lang="en-US" sz="2400" b="1" dirty="0" err="1"/>
              <a:t>statusTxt</a:t>
            </a:r>
            <a:r>
              <a:rPr lang="en-US" sz="2400" dirty="0"/>
              <a:t> - contains the status of the call</a:t>
            </a:r>
          </a:p>
          <a:p>
            <a:pPr marL="800100" lvl="1" indent="-342900">
              <a:buFont typeface="Arial" panose="020B0604020202020204" pitchFamily="34" charset="0"/>
              <a:buChar char="•"/>
            </a:pPr>
            <a:r>
              <a:rPr lang="en-US" sz="2400" b="1" dirty="0" err="1"/>
              <a:t>xhr</a:t>
            </a:r>
            <a:r>
              <a:rPr lang="en-US" sz="2400" dirty="0"/>
              <a:t> - contains the </a:t>
            </a:r>
            <a:r>
              <a:rPr lang="en-US" sz="2400" dirty="0" err="1"/>
              <a:t>XMLHttpRequest</a:t>
            </a:r>
            <a:r>
              <a:rPr lang="en-US" sz="2400" dirty="0"/>
              <a:t> object</a:t>
            </a:r>
          </a:p>
          <a:p>
            <a:endParaRPr lang="en-US" sz="2400" b="1" i="1" dirty="0">
              <a:solidFill>
                <a:srgbClr val="C00000"/>
              </a:solidFill>
            </a:endParaRPr>
          </a:p>
        </p:txBody>
      </p:sp>
      <p:sp>
        <p:nvSpPr>
          <p:cNvPr id="3" name="Slide Number Placeholder 2">
            <a:extLst>
              <a:ext uri="{FF2B5EF4-FFF2-40B4-BE49-F238E27FC236}">
                <a16:creationId xmlns="" xmlns:a16="http://schemas.microsoft.com/office/drawing/2014/main" id="{83FA2287-40D9-6B36-592E-A22179BDD7A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89</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8230462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FA2C084-AF42-64EB-319F-30FFBAEB0E9D}"/>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9282A0C1-9500-FFE5-BE1F-717466272D18}"/>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261DFE06-82A0-D17E-FAC6-A5E6105B8481}"/>
              </a:ext>
            </a:extLst>
          </p:cNvPr>
          <p:cNvSpPr/>
          <p:nvPr/>
        </p:nvSpPr>
        <p:spPr>
          <a:xfrm>
            <a:off x="488504" y="1124744"/>
            <a:ext cx="9001000" cy="1200329"/>
          </a:xfrm>
          <a:prstGeom prst="rect">
            <a:avLst/>
          </a:prstGeom>
        </p:spPr>
        <p:txBody>
          <a:bodyPr wrap="square">
            <a:spAutoFit/>
          </a:bodyPr>
          <a:lstStyle/>
          <a:p>
            <a:r>
              <a:rPr lang="en-US" sz="2400" dirty="0"/>
              <a:t>Example displays an alert box after the load() method completes. If the load() method has succeeded, it displays "External content loaded successfully!", and if it fails it displays an error message:</a:t>
            </a:r>
            <a:endParaRPr lang="en-US" sz="2400" b="1" i="1" dirty="0">
              <a:solidFill>
                <a:srgbClr val="C00000"/>
              </a:solidFill>
            </a:endParaRPr>
          </a:p>
        </p:txBody>
      </p:sp>
      <p:sp>
        <p:nvSpPr>
          <p:cNvPr id="5" name="TextBox 4">
            <a:extLst>
              <a:ext uri="{FF2B5EF4-FFF2-40B4-BE49-F238E27FC236}">
                <a16:creationId xmlns="" xmlns:a16="http://schemas.microsoft.com/office/drawing/2014/main" id="{F7A70EAB-6ECE-3601-4822-6D6814710D35}"/>
              </a:ext>
            </a:extLst>
          </p:cNvPr>
          <p:cNvSpPr txBox="1"/>
          <p:nvPr/>
        </p:nvSpPr>
        <p:spPr>
          <a:xfrm>
            <a:off x="272480" y="2593935"/>
            <a:ext cx="9505056" cy="2308324"/>
          </a:xfrm>
          <a:prstGeom prst="rect">
            <a:avLst/>
          </a:prstGeom>
          <a:noFill/>
        </p:spPr>
        <p:txBody>
          <a:bodyPr wrap="square">
            <a:spAutoFit/>
          </a:bodyPr>
          <a:lstStyle/>
          <a:p>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"button"</a:t>
            </a:r>
            <a:r>
              <a:rPr lang="en-IN" b="0" i="0" dirty="0">
                <a:solidFill>
                  <a:srgbClr val="000000"/>
                </a:solidFill>
                <a:effectLst/>
                <a:latin typeface="Consolas" panose="020B0609020204030204" pitchFamily="49" charset="0"/>
              </a:rPr>
              <a:t>).click(</a:t>
            </a:r>
            <a:r>
              <a:rPr lang="en-IN" b="0" i="0" dirty="0">
                <a:solidFill>
                  <a:srgbClr val="005CC5"/>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8000"/>
                </a:solidFill>
                <a:effectLst/>
                <a:latin typeface="Consolas" panose="020B0609020204030204" pitchFamily="49" charset="0"/>
              </a:rPr>
              <a:t>"#div1"</a:t>
            </a:r>
            <a:r>
              <a:rPr lang="en-IN" b="0" i="0" dirty="0">
                <a:solidFill>
                  <a:srgbClr val="000000"/>
                </a:solidFill>
                <a:effectLst/>
                <a:latin typeface="Consolas" panose="020B0609020204030204" pitchFamily="49" charset="0"/>
              </a:rPr>
              <a:t>).load(</a:t>
            </a:r>
            <a:r>
              <a:rPr lang="en-IN" b="0" i="0" dirty="0">
                <a:solidFill>
                  <a:srgbClr val="008000"/>
                </a:solidFill>
                <a:effectLst/>
                <a:latin typeface="Consolas" panose="020B0609020204030204" pitchFamily="49" charset="0"/>
              </a:rPr>
              <a:t>"demo_test.txt"</a:t>
            </a:r>
            <a:r>
              <a:rPr lang="en-IN" b="0" i="0" dirty="0">
                <a:solidFill>
                  <a:srgbClr val="000000"/>
                </a:solidFill>
                <a:effectLst/>
                <a:latin typeface="Consolas" panose="020B0609020204030204" pitchFamily="49" charset="0"/>
              </a:rPr>
              <a:t>, </a:t>
            </a:r>
            <a:r>
              <a:rPr lang="en-IN" b="1" i="0" dirty="0">
                <a:solidFill>
                  <a:srgbClr val="005CC5"/>
                </a:solidFill>
                <a:effectLst/>
                <a:latin typeface="Consolas" panose="020B0609020204030204" pitchFamily="49" charset="0"/>
              </a:rPr>
              <a:t>function</a:t>
            </a:r>
            <a:r>
              <a:rPr lang="en-IN" b="1" i="0" dirty="0">
                <a:solidFill>
                  <a:srgbClr val="000000"/>
                </a:solidFill>
                <a:effectLst/>
                <a:latin typeface="Consolas" panose="020B0609020204030204" pitchFamily="49" charset="0"/>
              </a:rPr>
              <a:t>(</a:t>
            </a:r>
            <a:r>
              <a:rPr lang="en-IN" b="1" i="0" dirty="0" err="1">
                <a:solidFill>
                  <a:srgbClr val="000000"/>
                </a:solidFill>
                <a:effectLst/>
                <a:latin typeface="Consolas" panose="020B0609020204030204" pitchFamily="49" charset="0"/>
              </a:rPr>
              <a:t>responseTxt</a:t>
            </a:r>
            <a:r>
              <a:rPr lang="en-IN" b="1"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statusTxt</a:t>
            </a:r>
            <a:r>
              <a:rPr lang="en-IN" b="1"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xhr</a:t>
            </a:r>
            <a:r>
              <a:rPr lang="en-IN" b="1" i="0" dirty="0">
                <a:solidFill>
                  <a:srgbClr val="000000"/>
                </a:solidFill>
                <a:effectLst/>
                <a:latin typeface="Consolas" panose="020B0609020204030204" pitchFamily="49" charset="0"/>
              </a:rPr>
              <a:t>)</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if</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statusTxt</a:t>
            </a:r>
            <a:r>
              <a:rPr lang="en-IN" b="0" i="0" dirty="0">
                <a:solidFill>
                  <a:srgbClr val="000000"/>
                </a:solidFill>
                <a:effectLst/>
                <a:latin typeface="Consolas" panose="020B0609020204030204" pitchFamily="49" charset="0"/>
              </a:rPr>
              <a:t> == </a:t>
            </a:r>
            <a:r>
              <a:rPr lang="en-IN" b="0" i="0" dirty="0">
                <a:solidFill>
                  <a:srgbClr val="008000"/>
                </a:solidFill>
                <a:effectLst/>
                <a:latin typeface="Consolas" panose="020B0609020204030204" pitchFamily="49" charset="0"/>
              </a:rPr>
              <a:t>"success"</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alert(</a:t>
            </a:r>
            <a:r>
              <a:rPr lang="en-IN" b="0" i="0" dirty="0">
                <a:solidFill>
                  <a:srgbClr val="008000"/>
                </a:solidFill>
                <a:effectLst/>
                <a:latin typeface="Consolas" panose="020B0609020204030204" pitchFamily="49" charset="0"/>
              </a:rPr>
              <a:t>"External content loaded successfully!"</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if</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statusTxt</a:t>
            </a:r>
            <a:r>
              <a:rPr lang="en-IN" b="0" i="0" dirty="0">
                <a:solidFill>
                  <a:srgbClr val="000000"/>
                </a:solidFill>
                <a:effectLst/>
                <a:latin typeface="Consolas" panose="020B0609020204030204" pitchFamily="49" charset="0"/>
              </a:rPr>
              <a:t> == </a:t>
            </a:r>
            <a:r>
              <a:rPr lang="en-IN" b="0" i="0" dirty="0">
                <a:solidFill>
                  <a:srgbClr val="008000"/>
                </a:solidFill>
                <a:effectLst/>
                <a:latin typeface="Consolas" panose="020B0609020204030204" pitchFamily="49" charset="0"/>
              </a:rPr>
              <a:t>"error"</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alert(</a:t>
            </a:r>
            <a:r>
              <a:rPr lang="en-IN" b="0" i="0" dirty="0">
                <a:solidFill>
                  <a:srgbClr val="008000"/>
                </a:solidFill>
                <a:effectLst/>
                <a:latin typeface="Consolas" panose="020B0609020204030204" pitchFamily="49" charset="0"/>
              </a:rPr>
              <a:t>"Error: "</a:t>
            </a:r>
            <a:r>
              <a:rPr lang="en-IN" b="0" i="0" dirty="0">
                <a:solidFill>
                  <a:srgbClr val="000000"/>
                </a:solidFill>
                <a:effectLst/>
                <a:latin typeface="Consolas" panose="020B0609020204030204" pitchFamily="49" charset="0"/>
              </a:rPr>
              <a:t> + </a:t>
            </a:r>
            <a:r>
              <a:rPr lang="en-IN" b="0" i="0" dirty="0" err="1">
                <a:solidFill>
                  <a:srgbClr val="000000"/>
                </a:solidFill>
                <a:effectLst/>
                <a:latin typeface="Consolas" panose="020B0609020204030204" pitchFamily="49" charset="0"/>
              </a:rPr>
              <a:t>xhr.status</a:t>
            </a:r>
            <a:r>
              <a:rPr lang="en-IN" b="0" i="0" dirty="0">
                <a:solidFill>
                  <a:srgbClr val="000000"/>
                </a:solidFill>
                <a:effectLst/>
                <a:latin typeface="Consolas" panose="020B0609020204030204" pitchFamily="49" charset="0"/>
              </a:rPr>
              <a:t> + </a:t>
            </a:r>
            <a:r>
              <a:rPr lang="en-IN" b="0" i="0" dirty="0">
                <a:solidFill>
                  <a:srgbClr val="008000"/>
                </a:solidFill>
                <a:effectLst/>
                <a:latin typeface="Consolas" panose="020B0609020204030204" pitchFamily="49" charset="0"/>
              </a:rPr>
              <a:t>": "</a:t>
            </a:r>
            <a:r>
              <a:rPr lang="en-IN" b="0" i="0" dirty="0">
                <a:solidFill>
                  <a:srgbClr val="000000"/>
                </a:solidFill>
                <a:effectLst/>
                <a:latin typeface="Consolas" panose="020B0609020204030204" pitchFamily="49" charset="0"/>
              </a:rPr>
              <a:t> + </a:t>
            </a:r>
            <a:r>
              <a:rPr lang="en-IN" b="0" i="0" dirty="0" err="1">
                <a:solidFill>
                  <a:srgbClr val="000000"/>
                </a:solidFill>
                <a:effectLst/>
                <a:latin typeface="Consolas" panose="020B0609020204030204" pitchFamily="49" charset="0"/>
              </a:rPr>
              <a:t>xhr.statusText</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t>
            </a:r>
            <a:r>
              <a:rPr lang="en-IN" dirty="0"/>
              <a:t/>
            </a:r>
            <a:br>
              <a:rPr lang="en-IN" dirty="0"/>
            </a:br>
            <a:r>
              <a:rPr lang="en-IN" b="0" i="0" dirty="0">
                <a:solidFill>
                  <a:srgbClr val="000000"/>
                </a:solidFill>
                <a:effectLst/>
                <a:latin typeface="Consolas" panose="020B0609020204030204" pitchFamily="49" charset="0"/>
              </a:rPr>
              <a:t>});</a:t>
            </a:r>
            <a:endParaRPr lang="en-IN" dirty="0"/>
          </a:p>
        </p:txBody>
      </p:sp>
      <p:sp>
        <p:nvSpPr>
          <p:cNvPr id="6" name="Slide Number Placeholder 5">
            <a:extLst>
              <a:ext uri="{FF2B5EF4-FFF2-40B4-BE49-F238E27FC236}">
                <a16:creationId xmlns="" xmlns:a16="http://schemas.microsoft.com/office/drawing/2014/main" id="{65349D0C-C759-4830-5107-82D26F8635E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90</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3274638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C69D9B9-4E57-551B-BCD6-ECBD36F1DC10}"/>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3B9F8F83-E0A3-1F54-97C2-A6B356A081B4}"/>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CBB7A876-372F-2C38-BC49-B47E4D779504}"/>
              </a:ext>
            </a:extLst>
          </p:cNvPr>
          <p:cNvSpPr/>
          <p:nvPr/>
        </p:nvSpPr>
        <p:spPr>
          <a:xfrm>
            <a:off x="488504" y="1124744"/>
            <a:ext cx="9001000" cy="4031873"/>
          </a:xfrm>
          <a:prstGeom prst="rect">
            <a:avLst/>
          </a:prstGeom>
        </p:spPr>
        <p:txBody>
          <a:bodyPr wrap="square">
            <a:spAutoFit/>
          </a:bodyPr>
          <a:lstStyle/>
          <a:p>
            <a:r>
              <a:rPr lang="en-US" sz="2400" b="1" dirty="0">
                <a:solidFill>
                  <a:srgbClr val="C00000"/>
                </a:solidFill>
              </a:rPr>
              <a:t>jQuery - AJAX get() and post() Methods</a:t>
            </a:r>
          </a:p>
          <a:p>
            <a:pPr marL="342900" indent="-342900">
              <a:buFont typeface="Arial" panose="020B0604020202020204" pitchFamily="34" charset="0"/>
              <a:buChar char="•"/>
            </a:pPr>
            <a:r>
              <a:rPr lang="en-US" sz="2400" dirty="0"/>
              <a:t>Two commonly used methods for a request-response between a client and server are: GET and POST.</a:t>
            </a:r>
          </a:p>
          <a:p>
            <a:pPr marL="800100" lvl="1" indent="-342900">
              <a:buFont typeface="Arial" panose="020B0604020202020204" pitchFamily="34" charset="0"/>
              <a:buChar char="•"/>
            </a:pPr>
            <a:r>
              <a:rPr lang="en-US" sz="2000" b="1" dirty="0"/>
              <a:t>GET</a:t>
            </a:r>
            <a:r>
              <a:rPr lang="en-US" sz="2000" dirty="0"/>
              <a:t> - Requests data from a specified resource</a:t>
            </a:r>
          </a:p>
          <a:p>
            <a:pPr marL="800100" lvl="1" indent="-342900">
              <a:buFont typeface="Arial" panose="020B0604020202020204" pitchFamily="34" charset="0"/>
              <a:buChar char="•"/>
            </a:pPr>
            <a:r>
              <a:rPr lang="en-US" sz="2000" b="1" dirty="0"/>
              <a:t>POST</a:t>
            </a:r>
            <a:r>
              <a:rPr lang="en-US" sz="2000" dirty="0"/>
              <a:t> - Submits data to be processed to a specified resource</a:t>
            </a:r>
          </a:p>
          <a:p>
            <a:pPr marL="342900" indent="-342900">
              <a:buFont typeface="Arial" panose="020B0604020202020204" pitchFamily="34" charset="0"/>
              <a:buChar char="•"/>
            </a:pPr>
            <a:r>
              <a:rPr lang="en-US" sz="2400" dirty="0"/>
              <a:t>GET is basically used for just getting (retrieving) some data from the server. </a:t>
            </a:r>
          </a:p>
          <a:p>
            <a:pPr marL="342900" indent="-342900">
              <a:buFont typeface="Arial" panose="020B0604020202020204" pitchFamily="34" charset="0"/>
              <a:buChar char="•"/>
            </a:pPr>
            <a:r>
              <a:rPr lang="en-US" sz="2400" dirty="0"/>
              <a:t>POST can also be used to get some data from the server. However, the POST method NEVER caches data, and is often used to send data along with the request.</a:t>
            </a:r>
          </a:p>
          <a:p>
            <a:endParaRPr lang="en-US" sz="2400" dirty="0"/>
          </a:p>
        </p:txBody>
      </p:sp>
      <p:sp>
        <p:nvSpPr>
          <p:cNvPr id="6" name="TextBox 5">
            <a:extLst>
              <a:ext uri="{FF2B5EF4-FFF2-40B4-BE49-F238E27FC236}">
                <a16:creationId xmlns="" xmlns:a16="http://schemas.microsoft.com/office/drawing/2014/main" id="{FFEDF090-ED07-736B-3570-AE3F4A52FCA2}"/>
              </a:ext>
            </a:extLst>
          </p:cNvPr>
          <p:cNvSpPr txBox="1"/>
          <p:nvPr/>
        </p:nvSpPr>
        <p:spPr>
          <a:xfrm>
            <a:off x="2360712" y="5548590"/>
            <a:ext cx="6231993" cy="369332"/>
          </a:xfrm>
          <a:prstGeom prst="rect">
            <a:avLst/>
          </a:prstGeom>
          <a:noFill/>
        </p:spPr>
        <p:txBody>
          <a:bodyPr wrap="square">
            <a:spAutoFit/>
          </a:bodyPr>
          <a:lstStyle/>
          <a:p>
            <a:r>
              <a:rPr lang="en-US" sz="1800" b="1" dirty="0"/>
              <a:t>Note:</a:t>
            </a:r>
            <a:r>
              <a:rPr lang="en-US" sz="1800" dirty="0"/>
              <a:t> The GET method may return cached data.</a:t>
            </a:r>
          </a:p>
        </p:txBody>
      </p:sp>
      <p:sp>
        <p:nvSpPr>
          <p:cNvPr id="7" name="Slide Number Placeholder 6">
            <a:extLst>
              <a:ext uri="{FF2B5EF4-FFF2-40B4-BE49-F238E27FC236}">
                <a16:creationId xmlns="" xmlns:a16="http://schemas.microsoft.com/office/drawing/2014/main" id="{7FC165A1-F8D9-C7A4-1803-52AB980EC48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91</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1213140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7FFB156-6585-AA91-E5FD-6B11D57C45ED}"/>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ED89B26B-5145-8436-7A68-761665423C33}"/>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1100E8C8-03BD-A88C-4CAD-DBA0E3FE0422}"/>
              </a:ext>
            </a:extLst>
          </p:cNvPr>
          <p:cNvSpPr/>
          <p:nvPr/>
        </p:nvSpPr>
        <p:spPr>
          <a:xfrm>
            <a:off x="488504" y="1124744"/>
            <a:ext cx="9001000" cy="5563831"/>
          </a:xfrm>
          <a:prstGeom prst="rect">
            <a:avLst/>
          </a:prstGeom>
        </p:spPr>
        <p:txBody>
          <a:bodyPr wrap="square">
            <a:spAutoFit/>
          </a:bodyPr>
          <a:lstStyle/>
          <a:p>
            <a:pPr>
              <a:lnSpc>
                <a:spcPct val="150000"/>
              </a:lnSpc>
            </a:pPr>
            <a:r>
              <a:rPr lang="en-US" sz="2400" b="1" dirty="0">
                <a:solidFill>
                  <a:srgbClr val="C00000"/>
                </a:solidFill>
              </a:rPr>
              <a:t>jQuery - AJAX get() and post() Methods</a:t>
            </a:r>
          </a:p>
          <a:p>
            <a:pPr>
              <a:lnSpc>
                <a:spcPct val="150000"/>
              </a:lnSpc>
            </a:pPr>
            <a:r>
              <a:rPr lang="en-IN" sz="2400" dirty="0">
                <a:highlight>
                  <a:srgbClr val="FF00FF"/>
                </a:highlight>
              </a:rPr>
              <a:t>1. jQuery $.get() Method</a:t>
            </a:r>
          </a:p>
          <a:p>
            <a:pPr marL="342900" indent="-342900">
              <a:lnSpc>
                <a:spcPct val="150000"/>
              </a:lnSpc>
              <a:buFont typeface="Arial" panose="020B0604020202020204" pitchFamily="34" charset="0"/>
              <a:buChar char="•"/>
            </a:pPr>
            <a:r>
              <a:rPr lang="en-US" sz="2400" dirty="0"/>
              <a:t>The $.get() method requests data from the server with an HTTP GET request.</a:t>
            </a:r>
          </a:p>
          <a:p>
            <a:pPr>
              <a:lnSpc>
                <a:spcPct val="150000"/>
              </a:lnSpc>
            </a:pPr>
            <a:r>
              <a:rPr lang="en-US" sz="2400" b="1" dirty="0"/>
              <a:t>	Syntax: </a:t>
            </a:r>
            <a:r>
              <a:rPr lang="en-US" sz="2400" i="1" dirty="0">
                <a:solidFill>
                  <a:srgbClr val="C00000"/>
                </a:solidFill>
              </a:rPr>
              <a:t>$.get(</a:t>
            </a:r>
            <a:r>
              <a:rPr lang="en-US" sz="2400" i="1" dirty="0" err="1">
                <a:solidFill>
                  <a:srgbClr val="C00000"/>
                </a:solidFill>
              </a:rPr>
              <a:t>URL,callback</a:t>
            </a:r>
            <a:r>
              <a:rPr lang="en-US" sz="2400" i="1" dirty="0">
                <a:solidFill>
                  <a:srgbClr val="C00000"/>
                </a:solidFill>
              </a:rPr>
              <a:t>);</a:t>
            </a:r>
          </a:p>
          <a:p>
            <a:pPr marL="342900" indent="-342900">
              <a:lnSpc>
                <a:spcPct val="150000"/>
              </a:lnSpc>
              <a:buFont typeface="Arial" panose="020B0604020202020204" pitchFamily="34" charset="0"/>
              <a:buChar char="•"/>
            </a:pPr>
            <a:r>
              <a:rPr lang="en-US" sz="2400" dirty="0"/>
              <a:t>The required URL parameter specifies the URL you wish to request.</a:t>
            </a:r>
          </a:p>
          <a:p>
            <a:pPr marL="342900" indent="-342900">
              <a:lnSpc>
                <a:spcPct val="150000"/>
              </a:lnSpc>
              <a:buFont typeface="Arial" panose="020B0604020202020204" pitchFamily="34" charset="0"/>
              <a:buChar char="•"/>
            </a:pPr>
            <a:r>
              <a:rPr lang="en-US" sz="2400" dirty="0"/>
              <a:t>The optional callback parameter is the name of a function to be executed if the request succeeds.</a:t>
            </a:r>
          </a:p>
          <a:p>
            <a:pPr>
              <a:lnSpc>
                <a:spcPct val="150000"/>
              </a:lnSpc>
            </a:pPr>
            <a:endParaRPr lang="en-US" sz="2400" dirty="0"/>
          </a:p>
        </p:txBody>
      </p:sp>
      <p:sp>
        <p:nvSpPr>
          <p:cNvPr id="3" name="Slide Number Placeholder 2">
            <a:extLst>
              <a:ext uri="{FF2B5EF4-FFF2-40B4-BE49-F238E27FC236}">
                <a16:creationId xmlns="" xmlns:a16="http://schemas.microsoft.com/office/drawing/2014/main" id="{4A53CE1B-82CE-A89B-B334-8DB78BB9DC0C}"/>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92</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4542767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71A58F-9682-A8A6-0441-04ACC565C1B2}"/>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59DD6601-BC6F-BD23-893B-C868C5F04A2C}"/>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D2795EAC-1B91-FB19-60B6-194E5648CCB8}"/>
              </a:ext>
            </a:extLst>
          </p:cNvPr>
          <p:cNvSpPr/>
          <p:nvPr/>
        </p:nvSpPr>
        <p:spPr>
          <a:xfrm>
            <a:off x="488504" y="1124744"/>
            <a:ext cx="9001000" cy="2793842"/>
          </a:xfrm>
          <a:prstGeom prst="rect">
            <a:avLst/>
          </a:prstGeom>
        </p:spPr>
        <p:txBody>
          <a:bodyPr wrap="square">
            <a:spAutoFit/>
          </a:bodyPr>
          <a:lstStyle/>
          <a:p>
            <a:pPr>
              <a:lnSpc>
                <a:spcPct val="150000"/>
              </a:lnSpc>
            </a:pPr>
            <a:r>
              <a:rPr lang="en-US" sz="2400" b="1" dirty="0">
                <a:solidFill>
                  <a:srgbClr val="C00000"/>
                </a:solidFill>
              </a:rPr>
              <a:t>jQuery - AJAX get() and post() Methods</a:t>
            </a:r>
          </a:p>
          <a:p>
            <a:pPr>
              <a:lnSpc>
                <a:spcPct val="150000"/>
              </a:lnSpc>
            </a:pPr>
            <a:r>
              <a:rPr lang="en-IN" sz="2400" dirty="0">
                <a:highlight>
                  <a:srgbClr val="FF00FF"/>
                </a:highlight>
              </a:rPr>
              <a:t>1. jQuery $.get() Method</a:t>
            </a:r>
          </a:p>
          <a:p>
            <a:pPr marL="342900" indent="-342900">
              <a:lnSpc>
                <a:spcPct val="150000"/>
              </a:lnSpc>
              <a:buFont typeface="Arial" panose="020B0604020202020204" pitchFamily="34" charset="0"/>
              <a:buChar char="•"/>
            </a:pPr>
            <a:r>
              <a:rPr lang="en-US" sz="2400" dirty="0"/>
              <a:t>Ex:</a:t>
            </a:r>
          </a:p>
          <a:p>
            <a:pPr>
              <a:lnSpc>
                <a:spcPct val="150000"/>
              </a:lnSpc>
            </a:pPr>
            <a:endParaRPr lang="en-US" sz="2400" dirty="0"/>
          </a:p>
          <a:p>
            <a:pPr>
              <a:lnSpc>
                <a:spcPct val="150000"/>
              </a:lnSpc>
            </a:pPr>
            <a:endParaRPr lang="en-US" sz="2400" dirty="0"/>
          </a:p>
        </p:txBody>
      </p:sp>
      <p:sp>
        <p:nvSpPr>
          <p:cNvPr id="5" name="TextBox 4">
            <a:extLst>
              <a:ext uri="{FF2B5EF4-FFF2-40B4-BE49-F238E27FC236}">
                <a16:creationId xmlns="" xmlns:a16="http://schemas.microsoft.com/office/drawing/2014/main" id="{92E028B7-A227-84D3-0F87-B75E6538FA25}"/>
              </a:ext>
            </a:extLst>
          </p:cNvPr>
          <p:cNvSpPr txBox="1"/>
          <p:nvPr/>
        </p:nvSpPr>
        <p:spPr>
          <a:xfrm>
            <a:off x="2144688" y="2614768"/>
            <a:ext cx="6336704" cy="1754326"/>
          </a:xfrm>
          <a:prstGeom prst="rect">
            <a:avLst/>
          </a:prstGeom>
          <a:noFill/>
        </p:spPr>
        <p:txBody>
          <a:bodyPr wrap="square">
            <a:spAutoFit/>
          </a:bodyPr>
          <a:lstStyle/>
          <a:p>
            <a:r>
              <a:rPr lang="en-IN" b="0" i="0" dirty="0">
                <a:solidFill>
                  <a:srgbClr val="000000"/>
                </a:solidFill>
                <a:effectLst/>
                <a:latin typeface="Consolas" panose="020B0609020204030204" pitchFamily="49" charset="0"/>
              </a:rPr>
              <a:t>$(</a:t>
            </a:r>
            <a:r>
              <a:rPr lang="en-IN" b="0" i="0" dirty="0">
                <a:solidFill>
                  <a:srgbClr val="008000"/>
                </a:solidFill>
                <a:effectLst/>
                <a:latin typeface="Consolas" panose="020B0609020204030204" pitchFamily="49" charset="0"/>
              </a:rPr>
              <a:t>"button"</a:t>
            </a:r>
            <a:r>
              <a:rPr lang="en-IN" b="0" i="0" dirty="0">
                <a:solidFill>
                  <a:srgbClr val="000000"/>
                </a:solidFill>
                <a:effectLst/>
                <a:latin typeface="Consolas" panose="020B0609020204030204" pitchFamily="49" charset="0"/>
              </a:rPr>
              <a:t>).click(</a:t>
            </a:r>
            <a:r>
              <a:rPr lang="en-IN" b="0" i="0" dirty="0">
                <a:solidFill>
                  <a:srgbClr val="005CC5"/>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t>
            </a:r>
            <a:r>
              <a:rPr lang="en-IN" b="1" i="0" dirty="0">
                <a:solidFill>
                  <a:srgbClr val="000000"/>
                </a:solidFill>
                <a:effectLst/>
                <a:highlight>
                  <a:srgbClr val="FFFF00"/>
                </a:highlight>
                <a:latin typeface="Consolas" panose="020B0609020204030204" pitchFamily="49" charset="0"/>
              </a:rPr>
              <a:t>$.get(</a:t>
            </a:r>
            <a:r>
              <a:rPr lang="en-IN" b="1" i="0" dirty="0">
                <a:solidFill>
                  <a:srgbClr val="008000"/>
                </a:solidFill>
                <a:effectLst/>
                <a:highlight>
                  <a:srgbClr val="FFFF00"/>
                </a:highlight>
                <a:latin typeface="Consolas" panose="020B0609020204030204" pitchFamily="49" charset="0"/>
              </a:rPr>
              <a:t>"demo_test.asp"</a:t>
            </a:r>
            <a:r>
              <a:rPr lang="en-IN" b="1" i="0" dirty="0">
                <a:solidFill>
                  <a:srgbClr val="000000"/>
                </a:solidFill>
                <a:effectLst/>
                <a:highlight>
                  <a:srgbClr val="FFFF00"/>
                </a:highlight>
                <a:latin typeface="Consolas" panose="020B0609020204030204" pitchFamily="49" charset="0"/>
              </a:rPr>
              <a:t>, </a:t>
            </a:r>
            <a:r>
              <a:rPr lang="en-IN" b="1" i="0" dirty="0">
                <a:solidFill>
                  <a:srgbClr val="005CC5"/>
                </a:solidFill>
                <a:effectLst/>
                <a:highlight>
                  <a:srgbClr val="FFFF00"/>
                </a:highlight>
                <a:latin typeface="Consolas" panose="020B0609020204030204" pitchFamily="49" charset="0"/>
              </a:rPr>
              <a:t>function</a:t>
            </a:r>
            <a:r>
              <a:rPr lang="en-IN" b="1" i="0" dirty="0">
                <a:solidFill>
                  <a:srgbClr val="000000"/>
                </a:solidFill>
                <a:effectLst/>
                <a:highlight>
                  <a:srgbClr val="FFFF00"/>
                </a:highlight>
                <a:latin typeface="Consolas" panose="020B0609020204030204" pitchFamily="49" charset="0"/>
              </a:rPr>
              <a:t>(data, status)</a:t>
            </a:r>
            <a:r>
              <a:rPr lang="en-IN" b="0" i="0" dirty="0">
                <a:solidFill>
                  <a:srgbClr val="000000"/>
                </a:solidFill>
                <a:effectLst/>
                <a:latin typeface="Consolas" panose="020B0609020204030204" pitchFamily="49" charset="0"/>
              </a:rPr>
              <a:t>{</a:t>
            </a:r>
            <a:r>
              <a:rPr lang="en-IN" dirty="0"/>
              <a:t/>
            </a:r>
            <a:br>
              <a:rPr lang="en-IN" dirty="0"/>
            </a:br>
            <a:r>
              <a:rPr lang="en-IN" b="0" i="0" dirty="0">
                <a:solidFill>
                  <a:srgbClr val="000000"/>
                </a:solidFill>
                <a:effectLst/>
                <a:latin typeface="Consolas" panose="020B0609020204030204" pitchFamily="49" charset="0"/>
              </a:rPr>
              <a:t>    alert(</a:t>
            </a:r>
            <a:r>
              <a:rPr lang="en-IN" b="0" i="0" dirty="0">
                <a:solidFill>
                  <a:srgbClr val="008000"/>
                </a:solidFill>
                <a:effectLst/>
                <a:latin typeface="Consolas" panose="020B0609020204030204" pitchFamily="49" charset="0"/>
              </a:rPr>
              <a:t>"Data: "</a:t>
            </a:r>
            <a:r>
              <a:rPr lang="en-IN" b="0" i="0" dirty="0">
                <a:solidFill>
                  <a:srgbClr val="000000"/>
                </a:solidFill>
                <a:effectLst/>
                <a:latin typeface="Consolas" panose="020B0609020204030204" pitchFamily="49" charset="0"/>
              </a:rPr>
              <a:t> + data + </a:t>
            </a:r>
            <a:r>
              <a:rPr lang="en-IN" b="0" i="0" dirty="0">
                <a:solidFill>
                  <a:srgbClr val="008000"/>
                </a:solidFill>
                <a:effectLst/>
                <a:latin typeface="Consolas" panose="020B0609020204030204" pitchFamily="49" charset="0"/>
              </a:rPr>
              <a:t>"\</a:t>
            </a:r>
            <a:r>
              <a:rPr lang="en-IN" b="0" i="0" dirty="0" err="1">
                <a:solidFill>
                  <a:srgbClr val="008000"/>
                </a:solidFill>
                <a:effectLst/>
                <a:latin typeface="Consolas" panose="020B0609020204030204" pitchFamily="49" charset="0"/>
              </a:rPr>
              <a:t>nStatus</a:t>
            </a:r>
            <a:r>
              <a:rPr lang="en-IN" b="0" i="0" dirty="0">
                <a:solidFill>
                  <a:srgbClr val="008000"/>
                </a:solidFill>
                <a:effectLst/>
                <a:latin typeface="Consolas" panose="020B0609020204030204" pitchFamily="49" charset="0"/>
              </a:rPr>
              <a:t>: "</a:t>
            </a:r>
            <a:r>
              <a:rPr lang="en-IN" b="0" i="0" dirty="0">
                <a:solidFill>
                  <a:srgbClr val="000000"/>
                </a:solidFill>
                <a:effectLst/>
                <a:latin typeface="Consolas" panose="020B0609020204030204" pitchFamily="49" charset="0"/>
              </a:rPr>
              <a:t> + status);</a:t>
            </a:r>
            <a:r>
              <a:rPr lang="en-IN" dirty="0"/>
              <a:t/>
            </a:r>
            <a:br>
              <a:rPr lang="en-IN" dirty="0"/>
            </a:br>
            <a:r>
              <a:rPr lang="en-IN" b="0" i="0" dirty="0">
                <a:solidFill>
                  <a:srgbClr val="000000"/>
                </a:solidFill>
                <a:effectLst/>
                <a:latin typeface="Consolas" panose="020B0609020204030204" pitchFamily="49" charset="0"/>
              </a:rPr>
              <a:t>  });</a:t>
            </a:r>
            <a:r>
              <a:rPr lang="en-IN" dirty="0"/>
              <a:t/>
            </a:r>
            <a:br>
              <a:rPr lang="en-IN" dirty="0"/>
            </a:br>
            <a:r>
              <a:rPr lang="en-IN" b="0" i="0" dirty="0">
                <a:solidFill>
                  <a:srgbClr val="000000"/>
                </a:solidFill>
                <a:effectLst/>
                <a:latin typeface="Consolas" panose="020B0609020204030204" pitchFamily="49" charset="0"/>
              </a:rPr>
              <a:t>});</a:t>
            </a:r>
            <a:endParaRPr lang="en-IN" dirty="0"/>
          </a:p>
        </p:txBody>
      </p:sp>
      <p:sp>
        <p:nvSpPr>
          <p:cNvPr id="7" name="TextBox 6">
            <a:extLst>
              <a:ext uri="{FF2B5EF4-FFF2-40B4-BE49-F238E27FC236}">
                <a16:creationId xmlns="" xmlns:a16="http://schemas.microsoft.com/office/drawing/2014/main" id="{FD24334C-3447-871D-30DB-B34B9BA997D9}"/>
              </a:ext>
            </a:extLst>
          </p:cNvPr>
          <p:cNvSpPr txBox="1"/>
          <p:nvPr/>
        </p:nvSpPr>
        <p:spPr>
          <a:xfrm>
            <a:off x="521207" y="4819602"/>
            <a:ext cx="8863586" cy="1200329"/>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 first parameter of </a:t>
            </a:r>
            <a:r>
              <a:rPr lang="en-US" b="0" i="0" dirty="0">
                <a:solidFill>
                  <a:srgbClr val="DC143C"/>
                </a:solidFill>
                <a:effectLst/>
                <a:latin typeface="Consolas" panose="020B0609020204030204" pitchFamily="49" charset="0"/>
              </a:rPr>
              <a:t>$.get()</a:t>
            </a:r>
            <a:r>
              <a:rPr lang="en-US" b="0" i="0" dirty="0">
                <a:solidFill>
                  <a:srgbClr val="000000"/>
                </a:solidFill>
                <a:effectLst/>
                <a:latin typeface="Segoe UI" panose="020B0502040204020203" pitchFamily="34" charset="0"/>
              </a:rPr>
              <a:t> is the URL wish to request ("demo_test.asp").</a:t>
            </a:r>
          </a:p>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 second parameter is a callback function. The first callback parameter holds the content of the page requested, and the second callback parameter holds the status of the request.</a:t>
            </a:r>
          </a:p>
        </p:txBody>
      </p:sp>
      <p:sp>
        <p:nvSpPr>
          <p:cNvPr id="8" name="Slide Number Placeholder 7">
            <a:extLst>
              <a:ext uri="{FF2B5EF4-FFF2-40B4-BE49-F238E27FC236}">
                <a16:creationId xmlns="" xmlns:a16="http://schemas.microsoft.com/office/drawing/2014/main" id="{9540B658-5FFE-B6DE-49FA-F7B6A155FCBE}"/>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93</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41382833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3D7AB5-6BE3-BC89-44BD-241618B419AC}"/>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AD207435-4F7F-AB84-0151-D73A7D0B9FE4}"/>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573AB05F-3A2C-2013-82C2-76537FC0983E}"/>
              </a:ext>
            </a:extLst>
          </p:cNvPr>
          <p:cNvSpPr/>
          <p:nvPr/>
        </p:nvSpPr>
        <p:spPr>
          <a:xfrm>
            <a:off x="488504" y="1124744"/>
            <a:ext cx="9001000" cy="5009833"/>
          </a:xfrm>
          <a:prstGeom prst="rect">
            <a:avLst/>
          </a:prstGeom>
        </p:spPr>
        <p:txBody>
          <a:bodyPr wrap="square">
            <a:spAutoFit/>
          </a:bodyPr>
          <a:lstStyle/>
          <a:p>
            <a:pPr>
              <a:lnSpc>
                <a:spcPct val="150000"/>
              </a:lnSpc>
            </a:pPr>
            <a:r>
              <a:rPr lang="en-US" sz="2400" b="1" dirty="0">
                <a:solidFill>
                  <a:srgbClr val="C00000"/>
                </a:solidFill>
              </a:rPr>
              <a:t>jQuery - AJAX get() and post() Methods</a:t>
            </a:r>
          </a:p>
          <a:p>
            <a:pPr>
              <a:lnSpc>
                <a:spcPct val="150000"/>
              </a:lnSpc>
            </a:pPr>
            <a:r>
              <a:rPr lang="en-IN" sz="2400" dirty="0">
                <a:highlight>
                  <a:srgbClr val="FF00FF"/>
                </a:highlight>
              </a:rPr>
              <a:t>2. jQuery $.post() Method</a:t>
            </a:r>
          </a:p>
          <a:p>
            <a:pPr marL="342900" indent="-342900">
              <a:buFont typeface="Arial" panose="020B0604020202020204" pitchFamily="34" charset="0"/>
              <a:buChar char="•"/>
            </a:pPr>
            <a:r>
              <a:rPr lang="en-US" sz="2400" dirty="0"/>
              <a:t>The $.post() method requests data from the server using an HTTP POST request.</a:t>
            </a:r>
          </a:p>
          <a:p>
            <a:r>
              <a:rPr lang="en-US" sz="2400" b="1" dirty="0"/>
              <a:t>	Syntax: </a:t>
            </a:r>
            <a:r>
              <a:rPr lang="en-US" sz="2400" i="1" dirty="0">
                <a:solidFill>
                  <a:srgbClr val="C00000"/>
                </a:solidFill>
              </a:rPr>
              <a:t>$.post(</a:t>
            </a:r>
            <a:r>
              <a:rPr lang="en-US" sz="2400" i="1" dirty="0" err="1">
                <a:solidFill>
                  <a:srgbClr val="C00000"/>
                </a:solidFill>
              </a:rPr>
              <a:t>URL,data,callback</a:t>
            </a:r>
            <a:r>
              <a:rPr lang="en-US" sz="2400" i="1" dirty="0">
                <a:solidFill>
                  <a:srgbClr val="C00000"/>
                </a:solidFill>
              </a:rPr>
              <a:t>);</a:t>
            </a:r>
          </a:p>
          <a:p>
            <a:pPr marL="342900" indent="-342900">
              <a:buFont typeface="Arial" panose="020B0604020202020204" pitchFamily="34" charset="0"/>
              <a:buChar char="•"/>
            </a:pPr>
            <a:r>
              <a:rPr lang="en-US" sz="2400" dirty="0"/>
              <a:t>The required URL parameter specifies the URL you wish to request.</a:t>
            </a:r>
          </a:p>
          <a:p>
            <a:pPr marL="342900" indent="-342900">
              <a:buFont typeface="Arial" panose="020B0604020202020204" pitchFamily="34" charset="0"/>
              <a:buChar char="•"/>
            </a:pPr>
            <a:r>
              <a:rPr lang="en-US" sz="2400" dirty="0"/>
              <a:t>The optional data parameter specifies some data to send along with the request.</a:t>
            </a:r>
          </a:p>
          <a:p>
            <a:pPr marL="342900" indent="-342900">
              <a:buFont typeface="Arial" panose="020B0604020202020204" pitchFamily="34" charset="0"/>
              <a:buChar char="•"/>
            </a:pPr>
            <a:r>
              <a:rPr lang="en-US" sz="2400" dirty="0"/>
              <a:t>The optional callback parameter is the name of a function to be executed if the request succeeds.</a:t>
            </a:r>
          </a:p>
          <a:p>
            <a:pPr>
              <a:lnSpc>
                <a:spcPct val="150000"/>
              </a:lnSpc>
            </a:pPr>
            <a:endParaRPr lang="en-US" sz="2400" dirty="0"/>
          </a:p>
        </p:txBody>
      </p:sp>
      <p:sp>
        <p:nvSpPr>
          <p:cNvPr id="3" name="Slide Number Placeholder 2">
            <a:extLst>
              <a:ext uri="{FF2B5EF4-FFF2-40B4-BE49-F238E27FC236}">
                <a16:creationId xmlns="" xmlns:a16="http://schemas.microsoft.com/office/drawing/2014/main" id="{593A16E7-2BBB-0B72-4C5B-E78B644DF4C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94</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22458353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2CFE0E1-84E1-AA48-0B80-D25E921D43D1}"/>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D75BFE11-2D1F-DBC1-1CBE-019D0EDF167D}"/>
              </a:ext>
            </a:extLst>
          </p:cNvPr>
          <p:cNvSpPr/>
          <p:nvPr/>
        </p:nvSpPr>
        <p:spPr>
          <a:xfrm>
            <a:off x="1712814" y="446206"/>
            <a:ext cx="6552380" cy="579389"/>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en-US" sz="3165" b="1" dirty="0">
                <a:latin typeface="Times New Roman" panose="02020603050405020304" pitchFamily="18" charset="0"/>
                <a:cs typeface="Times New Roman" panose="02020603050405020304" pitchFamily="18" charset="0"/>
              </a:rPr>
              <a:t>AJAX using </a:t>
            </a:r>
            <a:r>
              <a:rPr lang="en-US" sz="3165" b="1" dirty="0" err="1">
                <a:latin typeface="Times New Roman" panose="02020603050405020304" pitchFamily="18" charset="0"/>
                <a:cs typeface="Times New Roman" panose="02020603050405020304" pitchFamily="18" charset="0"/>
              </a:rPr>
              <a:t>Javascript</a:t>
            </a:r>
            <a:r>
              <a:rPr lang="en-US" sz="3165" b="1" dirty="0">
                <a:latin typeface="Times New Roman" panose="02020603050405020304" pitchFamily="18" charset="0"/>
                <a:cs typeface="Times New Roman" panose="02020603050405020304" pitchFamily="18" charset="0"/>
              </a:rPr>
              <a:t> and </a:t>
            </a:r>
            <a:r>
              <a:rPr lang="en-US" sz="3165" b="1" dirty="0" err="1">
                <a:latin typeface="Times New Roman" panose="02020603050405020304" pitchFamily="18" charset="0"/>
                <a:cs typeface="Times New Roman" panose="02020603050405020304" pitchFamily="18" charset="0"/>
              </a:rPr>
              <a:t>JQuery</a:t>
            </a:r>
            <a:endParaRPr kumimoji="0" lang="en-US" sz="3165"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a:extLst>
              <a:ext uri="{FF2B5EF4-FFF2-40B4-BE49-F238E27FC236}">
                <a16:creationId xmlns="" xmlns:a16="http://schemas.microsoft.com/office/drawing/2014/main" id="{A0E2490B-553E-9668-E789-49F70497C249}"/>
              </a:ext>
            </a:extLst>
          </p:cNvPr>
          <p:cNvSpPr/>
          <p:nvPr/>
        </p:nvSpPr>
        <p:spPr>
          <a:xfrm>
            <a:off x="488504" y="1124744"/>
            <a:ext cx="9001000" cy="1569660"/>
          </a:xfrm>
          <a:prstGeom prst="rect">
            <a:avLst/>
          </a:prstGeom>
        </p:spPr>
        <p:txBody>
          <a:bodyPr wrap="square">
            <a:spAutoFit/>
          </a:bodyPr>
          <a:lstStyle/>
          <a:p>
            <a:pPr>
              <a:lnSpc>
                <a:spcPct val="150000"/>
              </a:lnSpc>
            </a:pPr>
            <a:r>
              <a:rPr lang="en-US" sz="2400" b="1" dirty="0">
                <a:solidFill>
                  <a:srgbClr val="C00000"/>
                </a:solidFill>
              </a:rPr>
              <a:t>jQuery - AJAX get() and post() Methods</a:t>
            </a:r>
          </a:p>
          <a:p>
            <a:pPr>
              <a:lnSpc>
                <a:spcPct val="150000"/>
              </a:lnSpc>
            </a:pPr>
            <a:r>
              <a:rPr lang="en-IN" sz="2400" dirty="0">
                <a:highlight>
                  <a:srgbClr val="FF00FF"/>
                </a:highlight>
              </a:rPr>
              <a:t>2. jQuery $.post() Method</a:t>
            </a:r>
          </a:p>
          <a:p>
            <a:pPr marL="342900" indent="-342900">
              <a:buFont typeface="Arial" panose="020B0604020202020204" pitchFamily="34" charset="0"/>
              <a:buChar char="•"/>
            </a:pPr>
            <a:r>
              <a:rPr lang="en-US" sz="2400" dirty="0"/>
              <a:t>Ex:</a:t>
            </a:r>
          </a:p>
        </p:txBody>
      </p:sp>
      <p:sp>
        <p:nvSpPr>
          <p:cNvPr id="5" name="TextBox 4">
            <a:extLst>
              <a:ext uri="{FF2B5EF4-FFF2-40B4-BE49-F238E27FC236}">
                <a16:creationId xmlns="" xmlns:a16="http://schemas.microsoft.com/office/drawing/2014/main" id="{1BE53087-ABC7-DF2A-535C-CC93A446751A}"/>
              </a:ext>
            </a:extLst>
          </p:cNvPr>
          <p:cNvSpPr txBox="1"/>
          <p:nvPr/>
        </p:nvSpPr>
        <p:spPr>
          <a:xfrm>
            <a:off x="1712814" y="2348880"/>
            <a:ext cx="7200800" cy="2554545"/>
          </a:xfrm>
          <a:prstGeom prst="rect">
            <a:avLst/>
          </a:prstGeom>
          <a:noFill/>
        </p:spPr>
        <p:txBody>
          <a:bodyPr wrap="square">
            <a:spAutoFit/>
          </a:bodyPr>
          <a:lstStyle/>
          <a:p>
            <a:r>
              <a:rPr lang="en-IN" sz="1600" b="0" i="0" dirty="0">
                <a:solidFill>
                  <a:srgbClr val="000000"/>
                </a:solidFill>
                <a:effectLst/>
                <a:latin typeface="Consolas" panose="020B0609020204030204" pitchFamily="49" charset="0"/>
              </a:rPr>
              <a:t>$(</a:t>
            </a:r>
            <a:r>
              <a:rPr lang="en-IN" sz="1600" b="0" i="0" dirty="0">
                <a:solidFill>
                  <a:srgbClr val="008000"/>
                </a:solidFill>
                <a:effectLst/>
                <a:latin typeface="Consolas" panose="020B0609020204030204" pitchFamily="49" charset="0"/>
              </a:rPr>
              <a:t>"button"</a:t>
            </a:r>
            <a:r>
              <a:rPr lang="en-IN" sz="1600" b="0" i="0" dirty="0">
                <a:solidFill>
                  <a:srgbClr val="000000"/>
                </a:solidFill>
                <a:effectLst/>
                <a:latin typeface="Consolas" panose="020B0609020204030204" pitchFamily="49" charset="0"/>
              </a:rPr>
              <a:t>).click(</a:t>
            </a:r>
            <a:r>
              <a:rPr lang="en-IN" sz="1600" b="0" i="0" dirty="0">
                <a:solidFill>
                  <a:srgbClr val="005CC5"/>
                </a:solidFill>
                <a:effectLst/>
                <a:latin typeface="Consolas" panose="020B0609020204030204" pitchFamily="49" charset="0"/>
              </a:rPr>
              <a:t>function</a:t>
            </a:r>
            <a:r>
              <a:rPr lang="en-IN" sz="1600" b="0" i="0" dirty="0">
                <a:solidFill>
                  <a:srgbClr val="000000"/>
                </a:solidFill>
                <a:effectLst/>
                <a:latin typeface="Consolas" panose="020B0609020204030204" pitchFamily="49" charset="0"/>
              </a:rPr>
              <a:t>(){</a:t>
            </a:r>
            <a:r>
              <a:rPr lang="en-IN" sz="1600" dirty="0"/>
              <a:t/>
            </a:r>
            <a:br>
              <a:rPr lang="en-IN" sz="1600" dirty="0"/>
            </a:br>
            <a:r>
              <a:rPr lang="en-IN" sz="1600" b="0" i="0" dirty="0">
                <a:solidFill>
                  <a:srgbClr val="000000"/>
                </a:solidFill>
                <a:effectLst/>
                <a:latin typeface="Consolas" panose="020B0609020204030204" pitchFamily="49" charset="0"/>
              </a:rPr>
              <a:t>  </a:t>
            </a:r>
            <a:r>
              <a:rPr lang="en-IN" sz="1600" b="1" i="0" dirty="0">
                <a:solidFill>
                  <a:srgbClr val="000000"/>
                </a:solidFill>
                <a:effectLst/>
                <a:highlight>
                  <a:srgbClr val="FFFF00"/>
                </a:highlight>
                <a:latin typeface="Consolas" panose="020B0609020204030204" pitchFamily="49" charset="0"/>
              </a:rPr>
              <a:t>$.post(</a:t>
            </a:r>
            <a:r>
              <a:rPr lang="en-IN" sz="1600" b="1" i="0" dirty="0">
                <a:solidFill>
                  <a:srgbClr val="008000"/>
                </a:solidFill>
                <a:effectLst/>
                <a:highlight>
                  <a:srgbClr val="FFFF00"/>
                </a:highlight>
                <a:latin typeface="Consolas" panose="020B0609020204030204" pitchFamily="49" charset="0"/>
              </a:rPr>
              <a:t>"demo_test_post.asp"</a:t>
            </a:r>
            <a:r>
              <a:rPr lang="en-IN" sz="1600" b="1" i="0" dirty="0">
                <a:solidFill>
                  <a:srgbClr val="000000"/>
                </a:solidFill>
                <a:effectLst/>
                <a:highlight>
                  <a:srgbClr val="FFFF00"/>
                </a:highlight>
                <a:latin typeface="Consolas" panose="020B0609020204030204" pitchFamily="49" charset="0"/>
              </a:rPr>
              <a:t>,</a:t>
            </a:r>
            <a:r>
              <a:rPr lang="en-IN" sz="1600" b="1" dirty="0">
                <a:highlight>
                  <a:srgbClr val="FFFF00"/>
                </a:highlight>
              </a:rPr>
              <a:t/>
            </a:r>
            <a:br>
              <a:rPr lang="en-IN" sz="1600" b="1" dirty="0">
                <a:highlight>
                  <a:srgbClr val="FFFF00"/>
                </a:highlight>
              </a:rPr>
            </a:br>
            <a:r>
              <a:rPr lang="en-IN" sz="1600" b="1" i="0" dirty="0">
                <a:solidFill>
                  <a:srgbClr val="000000"/>
                </a:solidFill>
                <a:effectLst/>
                <a:highlight>
                  <a:srgbClr val="FFFF00"/>
                </a:highlight>
                <a:latin typeface="Consolas" panose="020B0609020204030204" pitchFamily="49" charset="0"/>
              </a:rPr>
              <a:t>  {</a:t>
            </a:r>
            <a:r>
              <a:rPr lang="en-IN" sz="1600" b="1" dirty="0">
                <a:highlight>
                  <a:srgbClr val="FFFF00"/>
                </a:highlight>
              </a:rPr>
              <a:t/>
            </a:r>
            <a:br>
              <a:rPr lang="en-IN" sz="1600" b="1" dirty="0">
                <a:highlight>
                  <a:srgbClr val="FFFF00"/>
                </a:highlight>
              </a:rPr>
            </a:br>
            <a:r>
              <a:rPr lang="en-IN" sz="1600" b="1" i="0" dirty="0">
                <a:solidFill>
                  <a:srgbClr val="000000"/>
                </a:solidFill>
                <a:effectLst/>
                <a:highlight>
                  <a:srgbClr val="FFFF00"/>
                </a:highlight>
                <a:latin typeface="Consolas" panose="020B0609020204030204" pitchFamily="49" charset="0"/>
              </a:rPr>
              <a:t>    name: </a:t>
            </a:r>
            <a:r>
              <a:rPr lang="en-IN" sz="1600" b="1" i="0" dirty="0">
                <a:solidFill>
                  <a:srgbClr val="008000"/>
                </a:solidFill>
                <a:effectLst/>
                <a:highlight>
                  <a:srgbClr val="FFFF00"/>
                </a:highlight>
                <a:latin typeface="Consolas" panose="020B0609020204030204" pitchFamily="49" charset="0"/>
              </a:rPr>
              <a:t>"Donald Duck"</a:t>
            </a:r>
            <a:r>
              <a:rPr lang="en-IN" sz="1600" b="1" i="0" dirty="0">
                <a:solidFill>
                  <a:srgbClr val="000000"/>
                </a:solidFill>
                <a:effectLst/>
                <a:highlight>
                  <a:srgbClr val="FFFF00"/>
                </a:highlight>
                <a:latin typeface="Consolas" panose="020B0609020204030204" pitchFamily="49" charset="0"/>
              </a:rPr>
              <a:t>,</a:t>
            </a:r>
            <a:r>
              <a:rPr lang="en-IN" sz="1600" b="1" dirty="0">
                <a:highlight>
                  <a:srgbClr val="FFFF00"/>
                </a:highlight>
              </a:rPr>
              <a:t/>
            </a:r>
            <a:br>
              <a:rPr lang="en-IN" sz="1600" b="1" dirty="0">
                <a:highlight>
                  <a:srgbClr val="FFFF00"/>
                </a:highlight>
              </a:rPr>
            </a:br>
            <a:r>
              <a:rPr lang="en-IN" sz="1600" b="1" i="0" dirty="0">
                <a:solidFill>
                  <a:srgbClr val="000000"/>
                </a:solidFill>
                <a:effectLst/>
                <a:highlight>
                  <a:srgbClr val="FFFF00"/>
                </a:highlight>
                <a:latin typeface="Consolas" panose="020B0609020204030204" pitchFamily="49" charset="0"/>
              </a:rPr>
              <a:t>    city: </a:t>
            </a:r>
            <a:r>
              <a:rPr lang="en-IN" sz="1600" b="1" i="0" dirty="0">
                <a:solidFill>
                  <a:srgbClr val="008000"/>
                </a:solidFill>
                <a:effectLst/>
                <a:highlight>
                  <a:srgbClr val="FFFF00"/>
                </a:highlight>
                <a:latin typeface="Consolas" panose="020B0609020204030204" pitchFamily="49" charset="0"/>
              </a:rPr>
              <a:t>"Duckburg"</a:t>
            </a:r>
            <a:r>
              <a:rPr lang="en-IN" sz="1600" b="1" dirty="0">
                <a:highlight>
                  <a:srgbClr val="FFFF00"/>
                </a:highlight>
              </a:rPr>
              <a:t/>
            </a:r>
            <a:br>
              <a:rPr lang="en-IN" sz="1600" b="1" dirty="0">
                <a:highlight>
                  <a:srgbClr val="FFFF00"/>
                </a:highlight>
              </a:rPr>
            </a:br>
            <a:r>
              <a:rPr lang="en-IN" sz="1600" b="1" i="0" dirty="0">
                <a:solidFill>
                  <a:srgbClr val="000000"/>
                </a:solidFill>
                <a:effectLst/>
                <a:highlight>
                  <a:srgbClr val="FFFF00"/>
                </a:highlight>
                <a:latin typeface="Consolas" panose="020B0609020204030204" pitchFamily="49" charset="0"/>
              </a:rPr>
              <a:t>  }</a:t>
            </a:r>
            <a:r>
              <a:rPr lang="en-IN" sz="1600" b="0" i="0" dirty="0">
                <a:solidFill>
                  <a:srgbClr val="000000"/>
                </a:solidFill>
                <a:effectLst/>
                <a:latin typeface="Consolas" panose="020B0609020204030204" pitchFamily="49" charset="0"/>
              </a:rPr>
              <a:t>,</a:t>
            </a:r>
            <a:r>
              <a:rPr lang="en-IN" sz="1600" dirty="0"/>
              <a:t/>
            </a:r>
            <a:br>
              <a:rPr lang="en-IN" sz="1600" dirty="0"/>
            </a:br>
            <a:r>
              <a:rPr lang="en-IN" sz="1600" b="0" i="0" dirty="0">
                <a:solidFill>
                  <a:srgbClr val="000000"/>
                </a:solidFill>
                <a:effectLst/>
                <a:latin typeface="Consolas" panose="020B0609020204030204" pitchFamily="49" charset="0"/>
              </a:rPr>
              <a:t>  </a:t>
            </a:r>
            <a:r>
              <a:rPr lang="en-IN" sz="1600" b="0" i="0" dirty="0">
                <a:solidFill>
                  <a:srgbClr val="005CC5"/>
                </a:solidFill>
                <a:effectLst/>
                <a:latin typeface="Consolas" panose="020B0609020204030204" pitchFamily="49" charset="0"/>
              </a:rPr>
              <a:t>function</a:t>
            </a:r>
            <a:r>
              <a:rPr lang="en-IN" sz="1600" b="0" i="0" dirty="0">
                <a:solidFill>
                  <a:srgbClr val="000000"/>
                </a:solidFill>
                <a:effectLst/>
                <a:latin typeface="Consolas" panose="020B0609020204030204" pitchFamily="49" charset="0"/>
              </a:rPr>
              <a:t>(data, status){</a:t>
            </a:r>
            <a:r>
              <a:rPr lang="en-IN" sz="1600" dirty="0"/>
              <a:t/>
            </a:r>
            <a:br>
              <a:rPr lang="en-IN" sz="1600" dirty="0"/>
            </a:br>
            <a:r>
              <a:rPr lang="en-IN" sz="1600" b="0" i="0" dirty="0">
                <a:solidFill>
                  <a:srgbClr val="000000"/>
                </a:solidFill>
                <a:effectLst/>
                <a:latin typeface="Consolas" panose="020B0609020204030204" pitchFamily="49" charset="0"/>
              </a:rPr>
              <a:t>    alert(</a:t>
            </a:r>
            <a:r>
              <a:rPr lang="en-IN" sz="1600" b="0" i="0" dirty="0">
                <a:solidFill>
                  <a:srgbClr val="008000"/>
                </a:solidFill>
                <a:effectLst/>
                <a:latin typeface="Consolas" panose="020B0609020204030204" pitchFamily="49" charset="0"/>
              </a:rPr>
              <a:t>"Data: "</a:t>
            </a:r>
            <a:r>
              <a:rPr lang="en-IN" sz="1600" b="0" i="0" dirty="0">
                <a:solidFill>
                  <a:srgbClr val="000000"/>
                </a:solidFill>
                <a:effectLst/>
                <a:latin typeface="Consolas" panose="020B0609020204030204" pitchFamily="49" charset="0"/>
              </a:rPr>
              <a:t> + data + </a:t>
            </a:r>
            <a:r>
              <a:rPr lang="en-IN" sz="1600" b="0" i="0" dirty="0">
                <a:solidFill>
                  <a:srgbClr val="008000"/>
                </a:solidFill>
                <a:effectLst/>
                <a:latin typeface="Consolas" panose="020B0609020204030204" pitchFamily="49" charset="0"/>
              </a:rPr>
              <a:t>"\</a:t>
            </a:r>
            <a:r>
              <a:rPr lang="en-IN" sz="1600" b="0" i="0" dirty="0" err="1">
                <a:solidFill>
                  <a:srgbClr val="008000"/>
                </a:solidFill>
                <a:effectLst/>
                <a:latin typeface="Consolas" panose="020B0609020204030204" pitchFamily="49" charset="0"/>
              </a:rPr>
              <a:t>nStatus</a:t>
            </a:r>
            <a:r>
              <a:rPr lang="en-IN" sz="1600" b="0" i="0" dirty="0">
                <a:solidFill>
                  <a:srgbClr val="008000"/>
                </a:solidFill>
                <a:effectLst/>
                <a:latin typeface="Consolas" panose="020B0609020204030204" pitchFamily="49" charset="0"/>
              </a:rPr>
              <a:t>: "</a:t>
            </a:r>
            <a:r>
              <a:rPr lang="en-IN" sz="1600" b="0" i="0" dirty="0">
                <a:solidFill>
                  <a:srgbClr val="000000"/>
                </a:solidFill>
                <a:effectLst/>
                <a:latin typeface="Consolas" panose="020B0609020204030204" pitchFamily="49" charset="0"/>
              </a:rPr>
              <a:t> + status);</a:t>
            </a:r>
            <a:r>
              <a:rPr lang="en-IN" sz="1600" dirty="0"/>
              <a:t/>
            </a:r>
            <a:br>
              <a:rPr lang="en-IN" sz="1600" dirty="0"/>
            </a:br>
            <a:r>
              <a:rPr lang="en-IN" sz="1600" b="0" i="0" dirty="0">
                <a:solidFill>
                  <a:srgbClr val="000000"/>
                </a:solidFill>
                <a:effectLst/>
                <a:latin typeface="Consolas" panose="020B0609020204030204" pitchFamily="49" charset="0"/>
              </a:rPr>
              <a:t>  });</a:t>
            </a:r>
            <a:r>
              <a:rPr lang="en-IN" sz="1600" dirty="0"/>
              <a:t/>
            </a:r>
            <a:br>
              <a:rPr lang="en-IN" sz="1600" dirty="0"/>
            </a:br>
            <a:r>
              <a:rPr lang="en-IN" sz="1600" b="0" i="0" dirty="0">
                <a:solidFill>
                  <a:srgbClr val="000000"/>
                </a:solidFill>
                <a:effectLst/>
                <a:latin typeface="Consolas" panose="020B0609020204030204" pitchFamily="49" charset="0"/>
              </a:rPr>
              <a:t>});</a:t>
            </a:r>
            <a:endParaRPr lang="en-IN" sz="1600" dirty="0"/>
          </a:p>
        </p:txBody>
      </p:sp>
      <p:sp>
        <p:nvSpPr>
          <p:cNvPr id="7" name="TextBox 6">
            <a:extLst>
              <a:ext uri="{FF2B5EF4-FFF2-40B4-BE49-F238E27FC236}">
                <a16:creationId xmlns="" xmlns:a16="http://schemas.microsoft.com/office/drawing/2014/main" id="{D45DB2B4-863E-2760-5911-31803F7F33B3}"/>
              </a:ext>
            </a:extLst>
          </p:cNvPr>
          <p:cNvSpPr txBox="1"/>
          <p:nvPr/>
        </p:nvSpPr>
        <p:spPr>
          <a:xfrm>
            <a:off x="128464" y="4725144"/>
            <a:ext cx="9541060" cy="1754326"/>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 first parameter of </a:t>
            </a:r>
            <a:r>
              <a:rPr lang="en-US" b="0" i="0" dirty="0">
                <a:solidFill>
                  <a:srgbClr val="DC143C"/>
                </a:solidFill>
                <a:effectLst/>
                <a:latin typeface="Consolas" panose="020B0609020204030204" pitchFamily="49" charset="0"/>
              </a:rPr>
              <a:t>$.post()</a:t>
            </a:r>
            <a:r>
              <a:rPr lang="en-US" b="0" i="0" dirty="0">
                <a:solidFill>
                  <a:srgbClr val="000000"/>
                </a:solidFill>
                <a:effectLst/>
                <a:latin typeface="Segoe UI" panose="020B0502040204020203" pitchFamily="34" charset="0"/>
              </a:rPr>
              <a:t> is the URL we wish to request ("demo_test_post.asp").</a:t>
            </a:r>
          </a:p>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Then we pass in some data to send along with the request (name and city).</a:t>
            </a:r>
          </a:p>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 ASP script in "demo_test_post.asp" reads the parameters, processes them, and returns a result.</a:t>
            </a:r>
          </a:p>
          <a:p>
            <a:pPr marL="285750" indent="-285750" algn="l">
              <a:buFont typeface="Arial" panose="020B0604020202020204" pitchFamily="34" charset="0"/>
              <a:buChar char="•"/>
            </a:pPr>
            <a:r>
              <a:rPr lang="en-US" b="0" i="0" dirty="0">
                <a:solidFill>
                  <a:srgbClr val="000000"/>
                </a:solidFill>
                <a:effectLst/>
                <a:latin typeface="Segoe UI" panose="020B0502040204020203" pitchFamily="34" charset="0"/>
              </a:rPr>
              <a:t>The third parameter is a callback function. The first callback parameter holds the content of the page requested, and the second callback parameter holds the status of the request.</a:t>
            </a:r>
          </a:p>
        </p:txBody>
      </p:sp>
      <p:sp>
        <p:nvSpPr>
          <p:cNvPr id="8" name="Slide Number Placeholder 7">
            <a:extLst>
              <a:ext uri="{FF2B5EF4-FFF2-40B4-BE49-F238E27FC236}">
                <a16:creationId xmlns="" xmlns:a16="http://schemas.microsoft.com/office/drawing/2014/main" id="{AF34EF78-BD9B-C9DD-4B3B-CBC7DD54C68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95</a:t>
            </a:fld>
            <a:endParaRPr lang="en-GB" altLang="en-US" dirty="0">
              <a:latin typeface="Arial" panose="020B0604020202020204" pitchFamily="34" charset="0"/>
            </a:endParaRPr>
          </a:p>
        </p:txBody>
      </p:sp>
    </p:spTree>
    <p:extLst>
      <p:ext uri="{BB962C8B-B14F-4D97-AF65-F5344CB8AC3E}">
        <p14:creationId xmlns="" xmlns:p14="http://schemas.microsoft.com/office/powerpoint/2010/main" val="11685455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object 2"/>
          <p:cNvPicPr>
            <a:picLocks noChangeAspect="1"/>
          </p:cNvPicPr>
          <p:nvPr/>
        </p:nvPicPr>
        <p:blipFill>
          <a:blip r:embed="rId2"/>
          <a:srcRect r="955" b="7167"/>
          <a:stretch>
            <a:fillRect/>
          </a:stretch>
        </p:blipFill>
        <p:spPr>
          <a:xfrm>
            <a:off x="376238" y="344488"/>
            <a:ext cx="9066212" cy="6046787"/>
          </a:xfrm>
          <a:prstGeom prst="rect">
            <a:avLst/>
          </a:prstGeom>
          <a:noFill/>
          <a:ln w="9525">
            <a:noFill/>
          </a:ln>
        </p:spPr>
      </p:pic>
      <p:sp>
        <p:nvSpPr>
          <p:cNvPr id="2" name="Slide Number Placeholder 1">
            <a:extLst>
              <a:ext uri="{FF2B5EF4-FFF2-40B4-BE49-F238E27FC236}">
                <a16:creationId xmlns="" xmlns:a16="http://schemas.microsoft.com/office/drawing/2014/main" id="{05C77BC6-4035-A012-51D8-2D806A78A84D}"/>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96</a:t>
            </a:fld>
            <a:endParaRPr lang="en-GB" altLang="en-US" dirty="0">
              <a:latin typeface="Arial" panose="020B060402020202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object 2"/>
          <p:cNvPicPr>
            <a:picLocks noChangeAspect="1"/>
          </p:cNvPicPr>
          <p:nvPr/>
        </p:nvPicPr>
        <p:blipFill>
          <a:blip r:embed="rId2"/>
          <a:srcRect r="1060" b="7091"/>
          <a:stretch>
            <a:fillRect/>
          </a:stretch>
        </p:blipFill>
        <p:spPr>
          <a:xfrm>
            <a:off x="376238" y="358775"/>
            <a:ext cx="9056687" cy="6051550"/>
          </a:xfrm>
          <a:prstGeom prst="rect">
            <a:avLst/>
          </a:prstGeom>
          <a:noFill/>
          <a:ln w="9525">
            <a:noFill/>
          </a:ln>
        </p:spPr>
      </p:pic>
      <p:sp>
        <p:nvSpPr>
          <p:cNvPr id="2" name="Slide Number Placeholder 1">
            <a:extLst>
              <a:ext uri="{FF2B5EF4-FFF2-40B4-BE49-F238E27FC236}">
                <a16:creationId xmlns="" xmlns:a16="http://schemas.microsoft.com/office/drawing/2014/main" id="{4EFCD615-57DF-D164-3975-224A35FEFDD1}"/>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97</a:t>
            </a:fld>
            <a:endParaRPr lang="en-GB" altLang="en-US" dirty="0">
              <a:latin typeface="Arial" panose="020B060402020202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object 2"/>
          <p:cNvPicPr>
            <a:picLocks noChangeAspect="1"/>
          </p:cNvPicPr>
          <p:nvPr/>
        </p:nvPicPr>
        <p:blipFill>
          <a:blip r:embed="rId2"/>
          <a:srcRect l="-648" t="-648" r="1172" b="9422"/>
          <a:stretch>
            <a:fillRect/>
          </a:stretch>
        </p:blipFill>
        <p:spPr>
          <a:xfrm>
            <a:off x="376238" y="1535113"/>
            <a:ext cx="9047162" cy="4759325"/>
          </a:xfrm>
          <a:prstGeom prst="rect">
            <a:avLst/>
          </a:prstGeom>
          <a:noFill/>
          <a:ln w="9525">
            <a:noFill/>
          </a:ln>
        </p:spPr>
      </p:pic>
      <p:sp>
        <p:nvSpPr>
          <p:cNvPr id="2" name="Slide Number Placeholder 1">
            <a:extLst>
              <a:ext uri="{FF2B5EF4-FFF2-40B4-BE49-F238E27FC236}">
                <a16:creationId xmlns="" xmlns:a16="http://schemas.microsoft.com/office/drawing/2014/main" id="{C0A1C887-1D79-9CAC-73FD-F0DCECB0DE59}"/>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98</a:t>
            </a:fld>
            <a:endParaRPr lang="en-GB" altLang="en-US"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netskills_ppt">
  <a:themeElements>
    <a:clrScheme name="">
      <a:dk1>
        <a:srgbClr val="000000"/>
      </a:dk1>
      <a:lt1>
        <a:srgbClr val="FFFFFF"/>
      </a:lt1>
      <a:dk2>
        <a:srgbClr val="000000"/>
      </a:dk2>
      <a:lt2>
        <a:srgbClr val="333333"/>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netskills_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netskills_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tskills_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tskills_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tskills_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tskills_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tskills_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tskills_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etskills_ppt">
  <a:themeElements>
    <a:clrScheme name="">
      <a:dk1>
        <a:srgbClr val="000000"/>
      </a:dk1>
      <a:lt1>
        <a:srgbClr val="FFFFFF"/>
      </a:lt1>
      <a:dk2>
        <a:srgbClr val="000000"/>
      </a:dk2>
      <a:lt2>
        <a:srgbClr val="333333"/>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netskills_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netskills_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tskills_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tskills_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tskills_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tskills_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tskills_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tskills_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16501</TotalTime>
  <Pages>25</Pages>
  <Words>8112</Words>
  <Application>Microsoft Office PowerPoint</Application>
  <PresentationFormat>A4 Paper (210x297 mm)</PresentationFormat>
  <Paragraphs>702</Paragraphs>
  <Slides>98</Slides>
  <Notes>32</Notes>
  <HiddenSlides>0</HiddenSlides>
  <MMClips>0</MMClips>
  <ScaleCrop>false</ScaleCrop>
  <HeadingPairs>
    <vt:vector size="4" baseType="variant">
      <vt:variant>
        <vt:lpstr>Theme</vt:lpstr>
      </vt:variant>
      <vt:variant>
        <vt:i4>2</vt:i4>
      </vt:variant>
      <vt:variant>
        <vt:lpstr>Slide Titles</vt:lpstr>
      </vt:variant>
      <vt:variant>
        <vt:i4>98</vt:i4>
      </vt:variant>
    </vt:vector>
  </HeadingPairs>
  <TitlesOfParts>
    <vt:vector size="100" baseType="lpstr">
      <vt:lpstr>netskills_ppt</vt:lpstr>
      <vt:lpstr>1_netskills_ppt</vt:lpstr>
      <vt:lpstr>Slide 1</vt:lpstr>
      <vt:lpstr>Introduction</vt:lpstr>
      <vt:lpstr>Slide 3</vt:lpstr>
      <vt:lpstr>Slide 4</vt:lpstr>
      <vt:lpstr>Slide 5</vt:lpstr>
      <vt:lpstr>Slide 6</vt:lpstr>
      <vt:lpstr>PL/SQL Advantages </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PL/SQL  EXIT(LOOP)</vt:lpstr>
      <vt:lpstr>XML</vt:lpstr>
      <vt:lpstr>XML Syntax </vt:lpstr>
      <vt:lpstr>XML Syntax </vt:lpstr>
      <vt:lpstr>Example</vt:lpstr>
      <vt:lpstr>XML Parser</vt:lpstr>
      <vt:lpstr>XML Parser</vt:lpstr>
      <vt:lpstr>Tree based Parser</vt:lpstr>
      <vt:lpstr>Document  Object Module Parser</vt:lpstr>
      <vt:lpstr>XML DOM</vt:lpstr>
      <vt:lpstr>HTML DOM             XML DOM</vt:lpstr>
      <vt:lpstr>XML XPath</vt:lpstr>
      <vt:lpstr>XML XPath</vt:lpstr>
      <vt:lpstr>Example</vt:lpstr>
      <vt:lpstr>XSL/XSLT</vt:lpstr>
      <vt:lpstr>XSL/XSLT</vt:lpstr>
      <vt:lpstr>Xquery</vt:lpstr>
      <vt:lpstr>Xquery-Expressions</vt:lpstr>
      <vt:lpstr>Xquery-Characteristics</vt:lpstr>
      <vt:lpstr>DTD(Document Type Definition)</vt:lpstr>
      <vt:lpstr>DTD(Document Type Definition)</vt:lpstr>
      <vt:lpstr>DTD(Document Type Definition)</vt:lpstr>
      <vt:lpstr>XML Schema</vt:lpstr>
      <vt:lpstr>XML Schema</vt:lpstr>
      <vt:lpstr>XML Schema</vt:lpstr>
      <vt:lpstr>XML Schema</vt:lpstr>
      <vt:lpstr>XML Schema</vt:lpstr>
      <vt:lpstr>XML Namespaces</vt:lpstr>
      <vt:lpstr>XML Namespaces</vt:lpstr>
      <vt:lpstr>XML Namespaces</vt:lpstr>
      <vt:lpstr>XML Namespaces</vt:lpstr>
      <vt:lpstr>XML Namespaces</vt:lpstr>
      <vt:lpstr>XML Namespaces</vt:lpstr>
      <vt:lpstr>XML Namespaces</vt:lpstr>
      <vt:lpstr>AJAX</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vector>
  </TitlesOfParts>
  <Company>University of Newcastle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JavaScript</dc:title>
  <dc:creator>Netskills</dc:creator>
  <cp:lastModifiedBy>Dell</cp:lastModifiedBy>
  <cp:revision>339</cp:revision>
  <cp:lastPrinted>2000-08-11T15:43:00Z</cp:lastPrinted>
  <dcterms:created xsi:type="dcterms:W3CDTF">2001-08-24T10:59:00Z</dcterms:created>
  <dcterms:modified xsi:type="dcterms:W3CDTF">2025-11-18T05:33:35Z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7FBAD5B6016A4DC2B93C75933B365A38_12</vt:lpwstr>
  </property>
  <property fmtid="{D5CDD505-2E9C-101B-9397-08002B2CF9AE}" pid="3" name="KSOProductBuildVer">
    <vt:lpwstr>1033-12.2.0.13472</vt:lpwstr>
  </property>
</Properties>
</file>